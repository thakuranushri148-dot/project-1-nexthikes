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9.xml" ContentType="application/vnd.openxmlformats-officedocument.presentationml.notesSlide+xml"/>
  <Override PartName="/ppt/charts/chart5.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6.xml" ContentType="application/vnd.openxmlformats-officedocument.drawingml.chart+xml"/>
  <Override PartName="/ppt/notesSlides/notesSlide12.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notesSlides/notesSlide13.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notesSlides/notesSlide14.xml" ContentType="application/vnd.openxmlformats-officedocument.presentationml.notesSlide+xml"/>
  <Override PartName="/ppt/charts/chart11.xml" ContentType="application/vnd.openxmlformats-officedocument.drawingml.chart+xml"/>
  <Override PartName="/ppt/notesSlides/notesSlide15.xml" ContentType="application/vnd.openxmlformats-officedocument.presentationml.notesSlide+xml"/>
  <Override PartName="/ppt/charts/chart12.xml" ContentType="application/vnd.openxmlformats-officedocument.drawingml.chart+xml"/>
  <Override PartName="/ppt/charts/chart13.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82" autoAdjust="0"/>
    <p:restoredTop sz="94610"/>
  </p:normalViewPr>
  <p:slideViewPr>
    <p:cSldViewPr snapToGrid="0" snapToObjects="1">
      <p:cViewPr varScale="1">
        <p:scale>
          <a:sx n="84" d="100"/>
          <a:sy n="84" d="100"/>
        </p:scale>
        <p:origin x="6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3" Type="http://schemas.openxmlformats.org/officeDocument/2006/relationships/oleObject" Target="file:///C:\Users\Anushri%20Thakur\Documents\Project-1.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300" b="0" i="0" u="none" strike="noStrike">
                <a:solidFill>
                  <a:srgbClr val="0A4A47"/>
                </a:solidFill>
                <a:latin typeface="+mn-lt"/>
              </a:defRPr>
            </a:pPr>
            <a:r>
              <a:rPr lang="en-US" sz="1300" b="0" i="0" u="none" strike="noStrike">
                <a:solidFill>
                  <a:srgbClr val="0A4A47"/>
                </a:solidFill>
                <a:latin typeface="+mn-lt"/>
              </a:rPr>
              <a:t>Share of rentals by rider type</a:t>
            </a:r>
          </a:p>
        </c:rich>
      </c:tx>
      <c:overlay val="0"/>
    </c:title>
    <c:autoTitleDeleted val="0"/>
    <c:plotArea>
      <c:layout/>
      <c:doughnutChart>
        <c:varyColors val="1"/>
        <c:ser>
          <c:idx val="0"/>
          <c:order val="0"/>
          <c:tx>
            <c:strRef>
              <c:f>Sheet1!$B$1</c:f>
              <c:strCache>
                <c:ptCount val="1"/>
                <c:pt idx="0">
                  <c:v>Riders</c:v>
                </c:pt>
              </c:strCache>
            </c:strRef>
          </c:tx>
          <c:spPr>
            <a:solidFill>
              <a:schemeClr val="accent1"/>
            </a:solidFill>
            <a:ln w="9525" cap="flat">
              <a:solidFill>
                <a:srgbClr val="F9F9F9"/>
              </a:solidFill>
              <a:prstDash val="solid"/>
              <a:round/>
            </a:ln>
            <a:effectLst/>
          </c:spPr>
          <c:dPt>
            <c:idx val="0"/>
            <c:bubble3D val="0"/>
            <c:spPr>
              <a:solidFill>
                <a:srgbClr val="0E7C7B"/>
              </a:solidFill>
              <a:effectLst/>
            </c:spPr>
            <c:extLst>
              <c:ext xmlns:c16="http://schemas.microsoft.com/office/drawing/2014/chart" uri="{C3380CC4-5D6E-409C-BE32-E72D297353CC}">
                <c16:uniqueId val="{00000001-F722-469A-BB1D-1F9DB56163D3}"/>
              </c:ext>
            </c:extLst>
          </c:dPt>
          <c:dPt>
            <c:idx val="1"/>
            <c:bubble3D val="0"/>
            <c:spPr>
              <a:solidFill>
                <a:srgbClr val="F26B4F"/>
              </a:solidFill>
              <a:effectLst/>
            </c:spPr>
            <c:extLst>
              <c:ext xmlns:c16="http://schemas.microsoft.com/office/drawing/2014/chart" uri="{C3380CC4-5D6E-409C-BE32-E72D297353CC}">
                <c16:uniqueId val="{00000003-F722-469A-BB1D-1F9DB56163D3}"/>
              </c:ext>
            </c:extLst>
          </c:dPt>
          <c:dLbls>
            <c:dLbl>
              <c:idx val="0"/>
              <c:numFmt formatCode="0%" sourceLinked="0"/>
              <c:spPr/>
              <c:txPr>
                <a:bodyPr/>
                <a:lstStyle/>
                <a:p>
                  <a:pPr>
                    <a:defRPr sz="1100" b="1"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F722-469A-BB1D-1F9DB56163D3}"/>
                </c:ext>
              </c:extLst>
            </c:dLbl>
            <c:dLbl>
              <c:idx val="1"/>
              <c:numFmt formatCode="0%" sourceLinked="0"/>
              <c:spPr/>
              <c:txPr>
                <a:bodyPr/>
                <a:lstStyle/>
                <a:p>
                  <a:pPr>
                    <a:defRPr sz="1100" b="1"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F722-469A-BB1D-1F9DB56163D3}"/>
                </c:ext>
              </c:extLst>
            </c:dLbl>
            <c:numFmt formatCode="0%"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Registered (53,383)</c:v>
                </c:pt>
                <c:pt idx="1">
                  <c:v>Casual (4,921)</c:v>
                </c:pt>
              </c:strCache>
            </c:strRef>
          </c:cat>
          <c:val>
            <c:numRef>
              <c:f>Sheet1!$B$2:$B$3</c:f>
              <c:numCache>
                <c:formatCode>General</c:formatCode>
                <c:ptCount val="2"/>
                <c:pt idx="0">
                  <c:v>53383</c:v>
                </c:pt>
                <c:pt idx="1">
                  <c:v>4921</c:v>
                </c:pt>
              </c:numCache>
            </c:numRef>
          </c:val>
          <c:extLst>
            <c:ext xmlns:c16="http://schemas.microsoft.com/office/drawing/2014/chart" uri="{C3380CC4-5D6E-409C-BE32-E72D297353CC}">
              <c16:uniqueId val="{00000004-F722-469A-BB1D-1F9DB56163D3}"/>
            </c:ext>
          </c:extLst>
        </c:ser>
        <c:dLbls>
          <c:showLegendKey val="0"/>
          <c:showVal val="0"/>
          <c:showCatName val="0"/>
          <c:showSerName val="0"/>
          <c:showPercent val="0"/>
          <c:showBubbleSize val="0"/>
          <c:showLeaderLines val="0"/>
        </c:dLbls>
        <c:firstSliceAng val="0"/>
        <c:holeSize val="58"/>
      </c:doughnutChart>
      <c:spPr>
        <a:noFill/>
        <a:ln>
          <a:noFill/>
        </a:ln>
        <a:effectLst/>
      </c:spPr>
    </c:plotArea>
    <c:legend>
      <c:legendPos val="b"/>
      <c:overlay val="0"/>
      <c:txPr>
        <a:bodyPr/>
        <a:lstStyle/>
        <a:p>
          <a:pPr>
            <a:defRPr sz="1100">
              <a:solidFill>
                <a:srgbClr val="4451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300" b="0" i="0" u="none" strike="noStrike">
                <a:solidFill>
                  <a:srgbClr val="0A4A47"/>
                </a:solidFill>
                <a:latin typeface="+mn-lt"/>
              </a:defRPr>
            </a:pPr>
            <a:r>
              <a:rPr lang="en-US" sz="1300" b="0" i="0" u="none" strike="noStrike">
                <a:solidFill>
                  <a:srgbClr val="0A4A47"/>
                </a:solidFill>
                <a:latin typeface="+mn-lt"/>
              </a:rPr>
              <a:t>Total rentals by hour (0 to 23)</a:t>
            </a:r>
          </a:p>
        </c:rich>
      </c:tx>
      <c:overlay val="0"/>
    </c:title>
    <c:autoTitleDeleted val="0"/>
    <c:plotArea>
      <c:layout/>
      <c:barChart>
        <c:barDir val="col"/>
        <c:grouping val="clustered"/>
        <c:varyColors val="0"/>
        <c:ser>
          <c:idx val="0"/>
          <c:order val="0"/>
          <c:tx>
            <c:strRef>
              <c:f>Sheet1!$B$1</c:f>
              <c:strCache>
                <c:ptCount val="1"/>
                <c:pt idx="0">
                  <c:v>Total rentals</c:v>
                </c:pt>
              </c:strCache>
            </c:strRef>
          </c:tx>
          <c:spPr>
            <a:solidFill>
              <a:srgbClr val="0E7C7B"/>
            </a:solidFill>
            <a:effectLst/>
          </c:spPr>
          <c:invertIfNegative val="0"/>
          <c:dPt>
            <c:idx val="0"/>
            <c:invertIfNegative val="0"/>
            <c:bubble3D val="0"/>
            <c:extLst>
              <c:ext xmlns:c16="http://schemas.microsoft.com/office/drawing/2014/chart" uri="{C3380CC4-5D6E-409C-BE32-E72D297353CC}">
                <c16:uniqueId val="{00000001-9FAB-4550-A282-8441389F4B36}"/>
              </c:ext>
            </c:extLst>
          </c:dPt>
          <c:dPt>
            <c:idx val="1"/>
            <c:invertIfNegative val="0"/>
            <c:bubble3D val="0"/>
            <c:extLst>
              <c:ext xmlns:c16="http://schemas.microsoft.com/office/drawing/2014/chart" uri="{C3380CC4-5D6E-409C-BE32-E72D297353CC}">
                <c16:uniqueId val="{00000003-9FAB-4550-A282-8441389F4B36}"/>
              </c:ext>
            </c:extLst>
          </c:dPt>
          <c:dPt>
            <c:idx val="2"/>
            <c:invertIfNegative val="0"/>
            <c:bubble3D val="0"/>
            <c:extLst>
              <c:ext xmlns:c16="http://schemas.microsoft.com/office/drawing/2014/chart" uri="{C3380CC4-5D6E-409C-BE32-E72D297353CC}">
                <c16:uniqueId val="{00000005-9FAB-4550-A282-8441389F4B36}"/>
              </c:ext>
            </c:extLst>
          </c:dPt>
          <c:dPt>
            <c:idx val="3"/>
            <c:invertIfNegative val="0"/>
            <c:bubble3D val="0"/>
            <c:extLst>
              <c:ext xmlns:c16="http://schemas.microsoft.com/office/drawing/2014/chart" uri="{C3380CC4-5D6E-409C-BE32-E72D297353CC}">
                <c16:uniqueId val="{00000007-9FAB-4550-A282-8441389F4B36}"/>
              </c:ext>
            </c:extLst>
          </c:dPt>
          <c:dPt>
            <c:idx val="4"/>
            <c:invertIfNegative val="0"/>
            <c:bubble3D val="0"/>
            <c:extLst>
              <c:ext xmlns:c16="http://schemas.microsoft.com/office/drawing/2014/chart" uri="{C3380CC4-5D6E-409C-BE32-E72D297353CC}">
                <c16:uniqueId val="{00000009-9FAB-4550-A282-8441389F4B36}"/>
              </c:ext>
            </c:extLst>
          </c:dPt>
          <c:dPt>
            <c:idx val="5"/>
            <c:invertIfNegative val="0"/>
            <c:bubble3D val="0"/>
            <c:extLst>
              <c:ext xmlns:c16="http://schemas.microsoft.com/office/drawing/2014/chart" uri="{C3380CC4-5D6E-409C-BE32-E72D297353CC}">
                <c16:uniqueId val="{0000000B-9FAB-4550-A282-8441389F4B36}"/>
              </c:ext>
            </c:extLst>
          </c:dPt>
          <c:dPt>
            <c:idx val="6"/>
            <c:invertIfNegative val="0"/>
            <c:bubble3D val="0"/>
            <c:extLst>
              <c:ext xmlns:c16="http://schemas.microsoft.com/office/drawing/2014/chart" uri="{C3380CC4-5D6E-409C-BE32-E72D297353CC}">
                <c16:uniqueId val="{0000000D-9FAB-4550-A282-8441389F4B36}"/>
              </c:ext>
            </c:extLst>
          </c:dPt>
          <c:dPt>
            <c:idx val="7"/>
            <c:invertIfNegative val="0"/>
            <c:bubble3D val="0"/>
            <c:extLst>
              <c:ext xmlns:c16="http://schemas.microsoft.com/office/drawing/2014/chart" uri="{C3380CC4-5D6E-409C-BE32-E72D297353CC}">
                <c16:uniqueId val="{0000000F-9FAB-4550-A282-8441389F4B36}"/>
              </c:ext>
            </c:extLst>
          </c:dPt>
          <c:dPt>
            <c:idx val="8"/>
            <c:invertIfNegative val="0"/>
            <c:bubble3D val="0"/>
            <c:spPr>
              <a:solidFill>
                <a:srgbClr val="F26B4F"/>
              </a:solidFill>
              <a:effectLst/>
            </c:spPr>
            <c:extLst>
              <c:ext xmlns:c16="http://schemas.microsoft.com/office/drawing/2014/chart" uri="{C3380CC4-5D6E-409C-BE32-E72D297353CC}">
                <c16:uniqueId val="{00000011-9FAB-4550-A282-8441389F4B36}"/>
              </c:ext>
            </c:extLst>
          </c:dPt>
          <c:dPt>
            <c:idx val="9"/>
            <c:invertIfNegative val="0"/>
            <c:bubble3D val="0"/>
            <c:extLst>
              <c:ext xmlns:c16="http://schemas.microsoft.com/office/drawing/2014/chart" uri="{C3380CC4-5D6E-409C-BE32-E72D297353CC}">
                <c16:uniqueId val="{00000013-9FAB-4550-A282-8441389F4B36}"/>
              </c:ext>
            </c:extLst>
          </c:dPt>
          <c:dPt>
            <c:idx val="10"/>
            <c:invertIfNegative val="0"/>
            <c:bubble3D val="0"/>
            <c:extLst>
              <c:ext xmlns:c16="http://schemas.microsoft.com/office/drawing/2014/chart" uri="{C3380CC4-5D6E-409C-BE32-E72D297353CC}">
                <c16:uniqueId val="{00000015-9FAB-4550-A282-8441389F4B36}"/>
              </c:ext>
            </c:extLst>
          </c:dPt>
          <c:dPt>
            <c:idx val="11"/>
            <c:invertIfNegative val="0"/>
            <c:bubble3D val="0"/>
            <c:extLst>
              <c:ext xmlns:c16="http://schemas.microsoft.com/office/drawing/2014/chart" uri="{C3380CC4-5D6E-409C-BE32-E72D297353CC}">
                <c16:uniqueId val="{00000017-9FAB-4550-A282-8441389F4B36}"/>
              </c:ext>
            </c:extLst>
          </c:dPt>
          <c:dPt>
            <c:idx val="12"/>
            <c:invertIfNegative val="0"/>
            <c:bubble3D val="0"/>
            <c:extLst>
              <c:ext xmlns:c16="http://schemas.microsoft.com/office/drawing/2014/chart" uri="{C3380CC4-5D6E-409C-BE32-E72D297353CC}">
                <c16:uniqueId val="{00000019-9FAB-4550-A282-8441389F4B36}"/>
              </c:ext>
            </c:extLst>
          </c:dPt>
          <c:dPt>
            <c:idx val="13"/>
            <c:invertIfNegative val="0"/>
            <c:bubble3D val="0"/>
            <c:extLst>
              <c:ext xmlns:c16="http://schemas.microsoft.com/office/drawing/2014/chart" uri="{C3380CC4-5D6E-409C-BE32-E72D297353CC}">
                <c16:uniqueId val="{0000001B-9FAB-4550-A282-8441389F4B36}"/>
              </c:ext>
            </c:extLst>
          </c:dPt>
          <c:dPt>
            <c:idx val="14"/>
            <c:invertIfNegative val="0"/>
            <c:bubble3D val="0"/>
            <c:extLst>
              <c:ext xmlns:c16="http://schemas.microsoft.com/office/drawing/2014/chart" uri="{C3380CC4-5D6E-409C-BE32-E72D297353CC}">
                <c16:uniqueId val="{0000001D-9FAB-4550-A282-8441389F4B36}"/>
              </c:ext>
            </c:extLst>
          </c:dPt>
          <c:dPt>
            <c:idx val="15"/>
            <c:invertIfNegative val="0"/>
            <c:bubble3D val="0"/>
            <c:extLst>
              <c:ext xmlns:c16="http://schemas.microsoft.com/office/drawing/2014/chart" uri="{C3380CC4-5D6E-409C-BE32-E72D297353CC}">
                <c16:uniqueId val="{0000001F-9FAB-4550-A282-8441389F4B36}"/>
              </c:ext>
            </c:extLst>
          </c:dPt>
          <c:dPt>
            <c:idx val="16"/>
            <c:invertIfNegative val="0"/>
            <c:bubble3D val="0"/>
            <c:extLst>
              <c:ext xmlns:c16="http://schemas.microsoft.com/office/drawing/2014/chart" uri="{C3380CC4-5D6E-409C-BE32-E72D297353CC}">
                <c16:uniqueId val="{00000021-9FAB-4550-A282-8441389F4B36}"/>
              </c:ext>
            </c:extLst>
          </c:dPt>
          <c:dPt>
            <c:idx val="17"/>
            <c:invertIfNegative val="0"/>
            <c:bubble3D val="0"/>
            <c:spPr>
              <a:solidFill>
                <a:srgbClr val="F26B4F"/>
              </a:solidFill>
              <a:effectLst/>
            </c:spPr>
            <c:extLst>
              <c:ext xmlns:c16="http://schemas.microsoft.com/office/drawing/2014/chart" uri="{C3380CC4-5D6E-409C-BE32-E72D297353CC}">
                <c16:uniqueId val="{00000023-9FAB-4550-A282-8441389F4B36}"/>
              </c:ext>
            </c:extLst>
          </c:dPt>
          <c:dPt>
            <c:idx val="18"/>
            <c:invertIfNegative val="0"/>
            <c:bubble3D val="0"/>
            <c:extLst>
              <c:ext xmlns:c16="http://schemas.microsoft.com/office/drawing/2014/chart" uri="{C3380CC4-5D6E-409C-BE32-E72D297353CC}">
                <c16:uniqueId val="{00000025-9FAB-4550-A282-8441389F4B36}"/>
              </c:ext>
            </c:extLst>
          </c:dPt>
          <c:dPt>
            <c:idx val="19"/>
            <c:invertIfNegative val="0"/>
            <c:bubble3D val="0"/>
            <c:extLst>
              <c:ext xmlns:c16="http://schemas.microsoft.com/office/drawing/2014/chart" uri="{C3380CC4-5D6E-409C-BE32-E72D297353CC}">
                <c16:uniqueId val="{00000027-9FAB-4550-A282-8441389F4B36}"/>
              </c:ext>
            </c:extLst>
          </c:dPt>
          <c:dPt>
            <c:idx val="20"/>
            <c:invertIfNegative val="0"/>
            <c:bubble3D val="0"/>
            <c:extLst>
              <c:ext xmlns:c16="http://schemas.microsoft.com/office/drawing/2014/chart" uri="{C3380CC4-5D6E-409C-BE32-E72D297353CC}">
                <c16:uniqueId val="{00000029-9FAB-4550-A282-8441389F4B36}"/>
              </c:ext>
            </c:extLst>
          </c:dPt>
          <c:dPt>
            <c:idx val="21"/>
            <c:invertIfNegative val="0"/>
            <c:bubble3D val="0"/>
            <c:extLst>
              <c:ext xmlns:c16="http://schemas.microsoft.com/office/drawing/2014/chart" uri="{C3380CC4-5D6E-409C-BE32-E72D297353CC}">
                <c16:uniqueId val="{0000002B-9FAB-4550-A282-8441389F4B36}"/>
              </c:ext>
            </c:extLst>
          </c:dPt>
          <c:dPt>
            <c:idx val="22"/>
            <c:invertIfNegative val="0"/>
            <c:bubble3D val="0"/>
            <c:extLst>
              <c:ext xmlns:c16="http://schemas.microsoft.com/office/drawing/2014/chart" uri="{C3380CC4-5D6E-409C-BE32-E72D297353CC}">
                <c16:uniqueId val="{0000002D-9FAB-4550-A282-8441389F4B36}"/>
              </c:ext>
            </c:extLst>
          </c:dPt>
          <c:dPt>
            <c:idx val="23"/>
            <c:invertIfNegative val="0"/>
            <c:bubble3D val="0"/>
            <c:extLst>
              <c:ext xmlns:c16="http://schemas.microsoft.com/office/drawing/2014/chart" uri="{C3380CC4-5D6E-409C-BE32-E72D297353CC}">
                <c16:uniqueId val="{0000002F-9FAB-4550-A282-8441389F4B36}"/>
              </c:ext>
            </c:extLst>
          </c:dPt>
          <c:cat>
            <c:strRef>
              <c:f>Sheet1!$A$2:$A$25</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Sheet1!$B$2:$B$25</c:f>
              <c:numCache>
                <c:formatCode>General</c:formatCode>
                <c:ptCount val="24"/>
                <c:pt idx="0">
                  <c:v>703</c:v>
                </c:pt>
                <c:pt idx="1">
                  <c:v>460</c:v>
                </c:pt>
                <c:pt idx="2">
                  <c:v>294</c:v>
                </c:pt>
                <c:pt idx="3">
                  <c:v>151</c:v>
                </c:pt>
                <c:pt idx="4">
                  <c:v>69</c:v>
                </c:pt>
                <c:pt idx="5">
                  <c:v>164</c:v>
                </c:pt>
                <c:pt idx="6">
                  <c:v>822</c:v>
                </c:pt>
                <c:pt idx="7">
                  <c:v>2339</c:v>
                </c:pt>
                <c:pt idx="8">
                  <c:v>5388</c:v>
                </c:pt>
                <c:pt idx="9">
                  <c:v>3672</c:v>
                </c:pt>
                <c:pt idx="10">
                  <c:v>2253</c:v>
                </c:pt>
                <c:pt idx="11">
                  <c:v>2494</c:v>
                </c:pt>
                <c:pt idx="12">
                  <c:v>3283</c:v>
                </c:pt>
                <c:pt idx="13">
                  <c:v>3376</c:v>
                </c:pt>
                <c:pt idx="14">
                  <c:v>3200</c:v>
                </c:pt>
                <c:pt idx="15">
                  <c:v>3352</c:v>
                </c:pt>
                <c:pt idx="16">
                  <c:v>3928</c:v>
                </c:pt>
                <c:pt idx="17">
                  <c:v>6169</c:v>
                </c:pt>
                <c:pt idx="18">
                  <c:v>5283</c:v>
                </c:pt>
                <c:pt idx="19">
                  <c:v>3661</c:v>
                </c:pt>
                <c:pt idx="20">
                  <c:v>2656</c:v>
                </c:pt>
                <c:pt idx="21">
                  <c:v>1996</c:v>
                </c:pt>
                <c:pt idx="22">
                  <c:v>1508</c:v>
                </c:pt>
                <c:pt idx="23">
                  <c:v>1083</c:v>
                </c:pt>
              </c:numCache>
            </c:numRef>
          </c:val>
          <c:extLst>
            <c:ext xmlns:c16="http://schemas.microsoft.com/office/drawing/2014/chart" uri="{C3380CC4-5D6E-409C-BE32-E72D297353CC}">
              <c16:uniqueId val="{00000030-9FAB-4550-A282-8441389F4B36}"/>
            </c:ext>
          </c:extLst>
        </c:ser>
        <c:dLbls>
          <c:showLegendKey val="0"/>
          <c:showVal val="0"/>
          <c:showCatName val="0"/>
          <c:showSerName val="0"/>
          <c:showPercent val="0"/>
          <c:showBubbleSize val="0"/>
        </c:dLbls>
        <c:gapWidth val="40"/>
        <c:axId val="2094734554"/>
        <c:axId val="2094734552"/>
      </c:barChart>
      <c:catAx>
        <c:axId val="2094734554"/>
        <c:scaling>
          <c:orientation val="minMax"/>
        </c:scaling>
        <c:delete val="0"/>
        <c:axPos val="b"/>
        <c:title>
          <c:tx>
            <c:rich>
              <a:bodyPr/>
              <a:lstStyle/>
              <a:p>
                <a:pPr>
                  <a:defRPr sz="1100" b="0" i="0" u="none" strike="noStrike">
                    <a:solidFill>
                      <a:srgbClr val="44514F"/>
                    </a:solidFill>
                    <a:latin typeface="Arial"/>
                  </a:defRPr>
                </a:pPr>
                <a:r>
                  <a:rPr lang="en-IN" sz="1100" b="0" i="0" u="none" strike="noStrike">
                    <a:solidFill>
                      <a:srgbClr val="44514F"/>
                    </a:solidFill>
                    <a:latin typeface="Arial"/>
                  </a:rPr>
                  <a:t>Hour of day</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4514F"/>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0EAE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514F"/>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300" b="0" i="0" u="none" strike="noStrike">
                <a:solidFill>
                  <a:srgbClr val="0A4A47"/>
                </a:solidFill>
                <a:latin typeface="+mn-lt"/>
              </a:defRPr>
            </a:pPr>
            <a:r>
              <a:rPr lang="en-US" sz="1300" b="0" i="0" u="none" strike="noStrike">
                <a:solidFill>
                  <a:srgbClr val="0A4A47"/>
                </a:solidFill>
                <a:latin typeface="+mn-lt"/>
              </a:rPr>
              <a:t>Total rentals by time of day</a:t>
            </a:r>
          </a:p>
        </c:rich>
      </c:tx>
      <c:overlay val="0"/>
    </c:title>
    <c:autoTitleDeleted val="0"/>
    <c:plotArea>
      <c:layout/>
      <c:barChart>
        <c:barDir val="col"/>
        <c:grouping val="clustered"/>
        <c:varyColors val="0"/>
        <c:ser>
          <c:idx val="0"/>
          <c:order val="0"/>
          <c:tx>
            <c:strRef>
              <c:f>Sheet1!$B$1</c:f>
              <c:strCache>
                <c:ptCount val="1"/>
                <c:pt idx="0">
                  <c:v>Total rentals</c:v>
                </c:pt>
              </c:strCache>
            </c:strRef>
          </c:tx>
          <c:spPr>
            <a:solidFill>
              <a:srgbClr val="0E7C7B"/>
            </a:solidFill>
            <a:effectLst/>
          </c:spPr>
          <c:invertIfNegative val="0"/>
          <c:dLbls>
            <c:numFmt formatCode="#,##0" sourceLinked="0"/>
            <c:spPr>
              <a:noFill/>
              <a:ln>
                <a:noFill/>
              </a:ln>
              <a:effectLst/>
            </c:spPr>
            <c:txPr>
              <a:bodyPr/>
              <a:lstStyle/>
              <a:p>
                <a:pPr>
                  <a:defRPr sz="1100" b="0" i="0" u="none" strike="noStrike">
                    <a:solidFill>
                      <a:srgbClr val="1F2A37"/>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Morning</c:v>
                </c:pt>
                <c:pt idx="1">
                  <c:v>Afternoon</c:v>
                </c:pt>
                <c:pt idx="2">
                  <c:v>Evening</c:v>
                </c:pt>
                <c:pt idx="3">
                  <c:v>Night</c:v>
                </c:pt>
              </c:strCache>
            </c:strRef>
          </c:cat>
          <c:val>
            <c:numRef>
              <c:f>Sheet1!$B$2:$B$5</c:f>
              <c:numCache>
                <c:formatCode>General</c:formatCode>
                <c:ptCount val="4"/>
                <c:pt idx="0">
                  <c:v>16968</c:v>
                </c:pt>
                <c:pt idx="1">
                  <c:v>23308</c:v>
                </c:pt>
                <c:pt idx="2">
                  <c:v>16187</c:v>
                </c:pt>
                <c:pt idx="3">
                  <c:v>1841</c:v>
                </c:pt>
              </c:numCache>
            </c:numRef>
          </c:val>
          <c:extLst>
            <c:ext xmlns:c16="http://schemas.microsoft.com/office/drawing/2014/chart" uri="{C3380CC4-5D6E-409C-BE32-E72D297353CC}">
              <c16:uniqueId val="{00000000-22F2-4202-B6A1-271B36B425CD}"/>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514F"/>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0EAE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514F"/>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300" b="0" i="0" u="none" strike="noStrike">
                <a:solidFill>
                  <a:srgbClr val="0A4A47"/>
                </a:solidFill>
                <a:latin typeface="+mn-lt"/>
              </a:defRPr>
            </a:pPr>
            <a:r>
              <a:rPr lang="en-IN" sz="1300" b="0" i="0" u="none" strike="noStrike">
                <a:solidFill>
                  <a:srgbClr val="0A4A47"/>
                </a:solidFill>
                <a:latin typeface="+mn-lt"/>
              </a:rPr>
              <a:t>Casual rentals by hour</a:t>
            </a:r>
          </a:p>
        </c:rich>
      </c:tx>
      <c:overlay val="0"/>
    </c:title>
    <c:autoTitleDeleted val="0"/>
    <c:plotArea>
      <c:layout/>
      <c:barChart>
        <c:barDir val="col"/>
        <c:grouping val="clustered"/>
        <c:varyColors val="0"/>
        <c:ser>
          <c:idx val="0"/>
          <c:order val="0"/>
          <c:tx>
            <c:strRef>
              <c:f>Sheet1!$B$1</c:f>
              <c:strCache>
                <c:ptCount val="1"/>
                <c:pt idx="0">
                  <c:v>Casual rentals</c:v>
                </c:pt>
              </c:strCache>
            </c:strRef>
          </c:tx>
          <c:spPr>
            <a:solidFill>
              <a:srgbClr val="F26B4F"/>
            </a:solidFill>
            <a:effectLst/>
          </c:spPr>
          <c:invertIfNegative val="0"/>
          <c:cat>
            <c:strRef>
              <c:f>Sheet1!$A$2:$A$25</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Sheet1!$B$2:$B$25</c:f>
              <c:numCache>
                <c:formatCode>General</c:formatCode>
                <c:ptCount val="24"/>
                <c:pt idx="0">
                  <c:v>74</c:v>
                </c:pt>
                <c:pt idx="1">
                  <c:v>48</c:v>
                </c:pt>
                <c:pt idx="2">
                  <c:v>33</c:v>
                </c:pt>
                <c:pt idx="3">
                  <c:v>34</c:v>
                </c:pt>
                <c:pt idx="4">
                  <c:v>7</c:v>
                </c:pt>
                <c:pt idx="5">
                  <c:v>3</c:v>
                </c:pt>
                <c:pt idx="6">
                  <c:v>21</c:v>
                </c:pt>
                <c:pt idx="7">
                  <c:v>64</c:v>
                </c:pt>
                <c:pt idx="8">
                  <c:v>127</c:v>
                </c:pt>
                <c:pt idx="9">
                  <c:v>172</c:v>
                </c:pt>
                <c:pt idx="10">
                  <c:v>216</c:v>
                </c:pt>
                <c:pt idx="11">
                  <c:v>367</c:v>
                </c:pt>
                <c:pt idx="12">
                  <c:v>482</c:v>
                </c:pt>
                <c:pt idx="13">
                  <c:v>513</c:v>
                </c:pt>
                <c:pt idx="14">
                  <c:v>466</c:v>
                </c:pt>
                <c:pt idx="15">
                  <c:v>536</c:v>
                </c:pt>
                <c:pt idx="16">
                  <c:v>493</c:v>
                </c:pt>
                <c:pt idx="17">
                  <c:v>395</c:v>
                </c:pt>
                <c:pt idx="18">
                  <c:v>222</c:v>
                </c:pt>
                <c:pt idx="19">
                  <c:v>187</c:v>
                </c:pt>
                <c:pt idx="20">
                  <c:v>140</c:v>
                </c:pt>
                <c:pt idx="21">
                  <c:v>117</c:v>
                </c:pt>
                <c:pt idx="22">
                  <c:v>103</c:v>
                </c:pt>
                <c:pt idx="23">
                  <c:v>101</c:v>
                </c:pt>
              </c:numCache>
            </c:numRef>
          </c:val>
          <c:extLst>
            <c:ext xmlns:c16="http://schemas.microsoft.com/office/drawing/2014/chart" uri="{C3380CC4-5D6E-409C-BE32-E72D297353CC}">
              <c16:uniqueId val="{00000000-AFB0-4EEF-AC6D-3EA22DD19340}"/>
            </c:ext>
          </c:extLst>
        </c:ser>
        <c:dLbls>
          <c:showLegendKey val="0"/>
          <c:showVal val="0"/>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4514F"/>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0EA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514F"/>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300" b="0" i="0" u="none" strike="noStrike">
                <a:solidFill>
                  <a:srgbClr val="0A4A47"/>
                </a:solidFill>
                <a:latin typeface="+mn-lt"/>
              </a:defRPr>
            </a:pPr>
            <a:r>
              <a:rPr lang="en-US" sz="1300" b="0" i="0" u="none" strike="noStrike">
                <a:solidFill>
                  <a:srgbClr val="0A4A47"/>
                </a:solidFill>
                <a:latin typeface="+mn-lt"/>
              </a:rPr>
              <a:t>Average rentals per hour, by weekday</a:t>
            </a:r>
          </a:p>
        </c:rich>
      </c:tx>
      <c:overlay val="0"/>
    </c:title>
    <c:autoTitleDeleted val="0"/>
    <c:plotArea>
      <c:layout/>
      <c:barChart>
        <c:barDir val="col"/>
        <c:grouping val="clustered"/>
        <c:varyColors val="0"/>
        <c:ser>
          <c:idx val="0"/>
          <c:order val="0"/>
          <c:tx>
            <c:strRef>
              <c:f>Sheet1!$B$1</c:f>
              <c:strCache>
                <c:ptCount val="1"/>
                <c:pt idx="0">
                  <c:v>Average rentals per hour</c:v>
                </c:pt>
              </c:strCache>
            </c:strRef>
          </c:tx>
          <c:spPr>
            <a:solidFill>
              <a:srgbClr val="0E7C7B"/>
            </a:solidFill>
            <a:effectLst/>
          </c:spPr>
          <c:invertIfNegative val="0"/>
          <c:dPt>
            <c:idx val="0"/>
            <c:invertIfNegative val="0"/>
            <c:bubble3D val="0"/>
            <c:extLst>
              <c:ext xmlns:c16="http://schemas.microsoft.com/office/drawing/2014/chart" uri="{C3380CC4-5D6E-409C-BE32-E72D297353CC}">
                <c16:uniqueId val="{00000001-48EE-4529-A4C8-780D250B2CC0}"/>
              </c:ext>
            </c:extLst>
          </c:dPt>
          <c:dPt>
            <c:idx val="1"/>
            <c:invertIfNegative val="0"/>
            <c:bubble3D val="0"/>
            <c:extLst>
              <c:ext xmlns:c16="http://schemas.microsoft.com/office/drawing/2014/chart" uri="{C3380CC4-5D6E-409C-BE32-E72D297353CC}">
                <c16:uniqueId val="{00000003-48EE-4529-A4C8-780D250B2CC0}"/>
              </c:ext>
            </c:extLst>
          </c:dPt>
          <c:dPt>
            <c:idx val="2"/>
            <c:invertIfNegative val="0"/>
            <c:bubble3D val="0"/>
            <c:extLst>
              <c:ext xmlns:c16="http://schemas.microsoft.com/office/drawing/2014/chart" uri="{C3380CC4-5D6E-409C-BE32-E72D297353CC}">
                <c16:uniqueId val="{00000005-48EE-4529-A4C8-780D250B2CC0}"/>
              </c:ext>
            </c:extLst>
          </c:dPt>
          <c:dPt>
            <c:idx val="3"/>
            <c:invertIfNegative val="0"/>
            <c:bubble3D val="0"/>
            <c:extLst>
              <c:ext xmlns:c16="http://schemas.microsoft.com/office/drawing/2014/chart" uri="{C3380CC4-5D6E-409C-BE32-E72D297353CC}">
                <c16:uniqueId val="{00000007-48EE-4529-A4C8-780D250B2CC0}"/>
              </c:ext>
            </c:extLst>
          </c:dPt>
          <c:dPt>
            <c:idx val="4"/>
            <c:invertIfNegative val="0"/>
            <c:bubble3D val="0"/>
            <c:extLst>
              <c:ext xmlns:c16="http://schemas.microsoft.com/office/drawing/2014/chart" uri="{C3380CC4-5D6E-409C-BE32-E72D297353CC}">
                <c16:uniqueId val="{00000009-48EE-4529-A4C8-780D250B2CC0}"/>
              </c:ext>
            </c:extLst>
          </c:dPt>
          <c:dPt>
            <c:idx val="5"/>
            <c:invertIfNegative val="0"/>
            <c:bubble3D val="0"/>
            <c:spPr>
              <a:solidFill>
                <a:srgbClr val="F4B942"/>
              </a:solidFill>
              <a:effectLst/>
            </c:spPr>
            <c:extLst>
              <c:ext xmlns:c16="http://schemas.microsoft.com/office/drawing/2014/chart" uri="{C3380CC4-5D6E-409C-BE32-E72D297353CC}">
                <c16:uniqueId val="{0000000B-48EE-4529-A4C8-780D250B2CC0}"/>
              </c:ext>
            </c:extLst>
          </c:dPt>
          <c:dPt>
            <c:idx val="6"/>
            <c:invertIfNegative val="0"/>
            <c:bubble3D val="0"/>
            <c:spPr>
              <a:solidFill>
                <a:srgbClr val="F4B942"/>
              </a:solidFill>
              <a:effectLst/>
            </c:spPr>
            <c:extLst>
              <c:ext xmlns:c16="http://schemas.microsoft.com/office/drawing/2014/chart" uri="{C3380CC4-5D6E-409C-BE32-E72D297353CC}">
                <c16:uniqueId val="{0000000D-48EE-4529-A4C8-780D250B2CC0}"/>
              </c:ext>
            </c:extLst>
          </c:dPt>
          <c:dLbls>
            <c:numFmt formatCode="0.0" sourceLinked="0"/>
            <c:spPr>
              <a:noFill/>
              <a:ln>
                <a:noFill/>
              </a:ln>
              <a:effectLst/>
            </c:spPr>
            <c:txPr>
              <a:bodyPr/>
              <a:lstStyle/>
              <a:p>
                <a:pPr>
                  <a:defRPr sz="1100" b="0" i="0" u="none" strike="noStrike">
                    <a:solidFill>
                      <a:srgbClr val="1F2A37"/>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Mon</c:v>
                </c:pt>
                <c:pt idx="1">
                  <c:v>Tue</c:v>
                </c:pt>
                <c:pt idx="2">
                  <c:v>Wed</c:v>
                </c:pt>
                <c:pt idx="3">
                  <c:v>Thu</c:v>
                </c:pt>
                <c:pt idx="4">
                  <c:v>Fri</c:v>
                </c:pt>
                <c:pt idx="5">
                  <c:v>Sat</c:v>
                </c:pt>
                <c:pt idx="6">
                  <c:v>Sun</c:v>
                </c:pt>
              </c:strCache>
            </c:strRef>
          </c:cat>
          <c:val>
            <c:numRef>
              <c:f>Sheet1!$B$2:$B$8</c:f>
              <c:numCache>
                <c:formatCode>General</c:formatCode>
                <c:ptCount val="7"/>
                <c:pt idx="0">
                  <c:v>56.7</c:v>
                </c:pt>
                <c:pt idx="1">
                  <c:v>66</c:v>
                </c:pt>
                <c:pt idx="2">
                  <c:v>61.4</c:v>
                </c:pt>
                <c:pt idx="3">
                  <c:v>67.7</c:v>
                </c:pt>
                <c:pt idx="4">
                  <c:v>65.900000000000006</c:v>
                </c:pt>
                <c:pt idx="5">
                  <c:v>46.7</c:v>
                </c:pt>
                <c:pt idx="6">
                  <c:v>49.5</c:v>
                </c:pt>
              </c:numCache>
            </c:numRef>
          </c:val>
          <c:extLst>
            <c:ext xmlns:c16="http://schemas.microsoft.com/office/drawing/2014/chart" uri="{C3380CC4-5D6E-409C-BE32-E72D297353CC}">
              <c16:uniqueId val="{0000000E-48EE-4529-A4C8-780D250B2CC0}"/>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514F"/>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0EA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514F"/>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300" b="0" i="0" u="none" strike="noStrike">
                <a:solidFill>
                  <a:srgbClr val="0A4A47"/>
                </a:solidFill>
                <a:latin typeface="+mn-lt"/>
              </a:defRPr>
            </a:pPr>
            <a:r>
              <a:rPr lang="en-IN" sz="1300" b="0" i="0" u="none" strike="noStrike">
                <a:solidFill>
                  <a:srgbClr val="0A4A47"/>
                </a:solidFill>
                <a:latin typeface="+mn-lt"/>
              </a:rPr>
              <a:t>Average rentals per hour</a:t>
            </a:r>
          </a:p>
        </c:rich>
      </c:tx>
      <c:overlay val="0"/>
    </c:title>
    <c:autoTitleDeleted val="0"/>
    <c:plotArea>
      <c:layout/>
      <c:barChart>
        <c:barDir val="col"/>
        <c:grouping val="clustered"/>
        <c:varyColors val="0"/>
        <c:ser>
          <c:idx val="0"/>
          <c:order val="0"/>
          <c:tx>
            <c:strRef>
              <c:f>Sheet1!$B$1</c:f>
              <c:strCache>
                <c:ptCount val="1"/>
                <c:pt idx="0">
                  <c:v>Average rentals per hour</c:v>
                </c:pt>
              </c:strCache>
            </c:strRef>
          </c:tx>
          <c:spPr>
            <a:solidFill>
              <a:srgbClr val="0E7C7B"/>
            </a:solidFill>
            <a:effectLst/>
          </c:spPr>
          <c:invertIfNegative val="0"/>
          <c:dPt>
            <c:idx val="0"/>
            <c:invertIfNegative val="0"/>
            <c:bubble3D val="0"/>
            <c:extLst>
              <c:ext xmlns:c16="http://schemas.microsoft.com/office/drawing/2014/chart" uri="{C3380CC4-5D6E-409C-BE32-E72D297353CC}">
                <c16:uniqueId val="{00000001-8505-477B-86B1-BF6527D62769}"/>
              </c:ext>
            </c:extLst>
          </c:dPt>
          <c:dPt>
            <c:idx val="1"/>
            <c:invertIfNegative val="0"/>
            <c:bubble3D val="0"/>
            <c:spPr>
              <a:solidFill>
                <a:srgbClr val="6FB7B0"/>
              </a:solidFill>
              <a:effectLst/>
            </c:spPr>
            <c:extLst>
              <c:ext xmlns:c16="http://schemas.microsoft.com/office/drawing/2014/chart" uri="{C3380CC4-5D6E-409C-BE32-E72D297353CC}">
                <c16:uniqueId val="{00000003-8505-477B-86B1-BF6527D62769}"/>
              </c:ext>
            </c:extLst>
          </c:dPt>
          <c:dPt>
            <c:idx val="2"/>
            <c:invertIfNegative val="0"/>
            <c:bubble3D val="0"/>
            <c:spPr>
              <a:solidFill>
                <a:srgbClr val="F26B4F"/>
              </a:solidFill>
              <a:effectLst/>
            </c:spPr>
            <c:extLst>
              <c:ext xmlns:c16="http://schemas.microsoft.com/office/drawing/2014/chart" uri="{C3380CC4-5D6E-409C-BE32-E72D297353CC}">
                <c16:uniqueId val="{00000005-8505-477B-86B1-BF6527D62769}"/>
              </c:ext>
            </c:extLst>
          </c:dPt>
          <c:dPt>
            <c:idx val="3"/>
            <c:invertIfNegative val="0"/>
            <c:bubble3D val="0"/>
            <c:spPr>
              <a:solidFill>
                <a:srgbClr val="C5CFCD"/>
              </a:solidFill>
              <a:effectLst/>
            </c:spPr>
            <c:extLst>
              <c:ext xmlns:c16="http://schemas.microsoft.com/office/drawing/2014/chart" uri="{C3380CC4-5D6E-409C-BE32-E72D297353CC}">
                <c16:uniqueId val="{00000007-8505-477B-86B1-BF6527D62769}"/>
              </c:ext>
            </c:extLst>
          </c:dPt>
          <c:dLbls>
            <c:numFmt formatCode="0.0" sourceLinked="0"/>
            <c:spPr>
              <a:noFill/>
              <a:ln>
                <a:noFill/>
              </a:ln>
              <a:effectLst/>
            </c:spPr>
            <c:txPr>
              <a:bodyPr/>
              <a:lstStyle/>
              <a:p>
                <a:pPr>
                  <a:defRPr sz="1100" b="0" i="0" u="none" strike="noStrike">
                    <a:solidFill>
                      <a:srgbClr val="1F2A37"/>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Clear</c:v>
                </c:pt>
                <c:pt idx="1">
                  <c:v>Light Rain</c:v>
                </c:pt>
                <c:pt idx="2">
                  <c:v>Heavy Rain</c:v>
                </c:pt>
                <c:pt idx="3">
                  <c:v>Thunderstorm</c:v>
                </c:pt>
              </c:strCache>
            </c:strRef>
          </c:cat>
          <c:val>
            <c:numRef>
              <c:f>Sheet1!$B$2:$B$5</c:f>
              <c:numCache>
                <c:formatCode>General</c:formatCode>
                <c:ptCount val="4"/>
                <c:pt idx="0">
                  <c:v>61.7</c:v>
                </c:pt>
                <c:pt idx="1">
                  <c:v>58.6</c:v>
                </c:pt>
                <c:pt idx="2">
                  <c:v>33.200000000000003</c:v>
                </c:pt>
                <c:pt idx="3">
                  <c:v>36</c:v>
                </c:pt>
              </c:numCache>
            </c:numRef>
          </c:val>
          <c:extLst>
            <c:ext xmlns:c16="http://schemas.microsoft.com/office/drawing/2014/chart" uri="{C3380CC4-5D6E-409C-BE32-E72D297353CC}">
              <c16:uniqueId val="{00000008-8505-477B-86B1-BF6527D62769}"/>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514F"/>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0EA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514F"/>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300" b="0" i="0" u="none" strike="noStrike">
                <a:solidFill>
                  <a:srgbClr val="0A4A47"/>
                </a:solidFill>
                <a:latin typeface="+mn-lt"/>
              </a:defRPr>
            </a:pPr>
            <a:r>
              <a:rPr lang="en-US" sz="1300" b="0" i="0" u="none" strike="noStrike">
                <a:solidFill>
                  <a:srgbClr val="0A4A47"/>
                </a:solidFill>
                <a:latin typeface="+mn-lt"/>
              </a:rPr>
              <a:t>By temperature band (scaled 0 to 1)</a:t>
            </a:r>
          </a:p>
        </c:rich>
      </c:tx>
      <c:overlay val="0"/>
    </c:title>
    <c:autoTitleDeleted val="0"/>
    <c:plotArea>
      <c:layout/>
      <c:barChart>
        <c:barDir val="col"/>
        <c:grouping val="clustered"/>
        <c:varyColors val="0"/>
        <c:ser>
          <c:idx val="0"/>
          <c:order val="0"/>
          <c:tx>
            <c:strRef>
              <c:f>Sheet1!$B$1</c:f>
              <c:strCache>
                <c:ptCount val="1"/>
                <c:pt idx="0">
                  <c:v>Avg rentals per hour</c:v>
                </c:pt>
              </c:strCache>
            </c:strRef>
          </c:tx>
          <c:spPr>
            <a:solidFill>
              <a:srgbClr val="0E7C7B"/>
            </a:solidFill>
            <a:effectLst/>
          </c:spPr>
          <c:invertIfNegative val="0"/>
          <c:dLbls>
            <c:numFmt formatCode="0.0" sourceLinked="0"/>
            <c:spPr>
              <a:noFill/>
              <a:ln>
                <a:noFill/>
              </a:ln>
              <a:effectLst/>
            </c:spPr>
            <c:txPr>
              <a:bodyPr/>
              <a:lstStyle/>
              <a:p>
                <a:pPr>
                  <a:defRPr sz="1100" b="0" i="0" u="none" strike="noStrike">
                    <a:solidFill>
                      <a:srgbClr val="1F2A37"/>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0.15 or less</c:v>
                </c:pt>
                <c:pt idx="1">
                  <c:v>0.15 to 0.20</c:v>
                </c:pt>
                <c:pt idx="2">
                  <c:v>0.20 to 0.25</c:v>
                </c:pt>
                <c:pt idx="3">
                  <c:v>Above 0.25</c:v>
                </c:pt>
              </c:strCache>
            </c:strRef>
          </c:cat>
          <c:val>
            <c:numRef>
              <c:f>Sheet1!$B$2:$B$5</c:f>
              <c:numCache>
                <c:formatCode>General</c:formatCode>
                <c:ptCount val="4"/>
                <c:pt idx="0">
                  <c:v>49.8</c:v>
                </c:pt>
                <c:pt idx="1">
                  <c:v>55</c:v>
                </c:pt>
                <c:pt idx="2">
                  <c:v>54.7</c:v>
                </c:pt>
                <c:pt idx="3">
                  <c:v>72.8</c:v>
                </c:pt>
              </c:numCache>
            </c:numRef>
          </c:val>
          <c:extLst>
            <c:ext xmlns:c16="http://schemas.microsoft.com/office/drawing/2014/chart" uri="{C3380CC4-5D6E-409C-BE32-E72D297353CC}">
              <c16:uniqueId val="{00000000-4093-4A5C-AE0C-897F9D862E05}"/>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514F"/>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0EA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514F"/>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300" b="0" i="0" u="none" strike="noStrike">
                <a:solidFill>
                  <a:srgbClr val="0A4A47"/>
                </a:solidFill>
                <a:latin typeface="+mn-lt"/>
              </a:defRPr>
            </a:pPr>
            <a:r>
              <a:rPr lang="en-US" sz="1300" b="0" i="0" u="none" strike="noStrike">
                <a:solidFill>
                  <a:srgbClr val="0A4A47"/>
                </a:solidFill>
                <a:latin typeface="+mn-lt"/>
              </a:rPr>
              <a:t>By humidity band (scaled 0 to 1)</a:t>
            </a:r>
          </a:p>
        </c:rich>
      </c:tx>
      <c:overlay val="0"/>
    </c:title>
    <c:autoTitleDeleted val="0"/>
    <c:plotArea>
      <c:layout/>
      <c:barChart>
        <c:barDir val="col"/>
        <c:grouping val="clustered"/>
        <c:varyColors val="0"/>
        <c:ser>
          <c:idx val="0"/>
          <c:order val="0"/>
          <c:tx>
            <c:strRef>
              <c:f>Sheet1!$B$1</c:f>
              <c:strCache>
                <c:ptCount val="1"/>
                <c:pt idx="0">
                  <c:v>Avg rentals per hour</c:v>
                </c:pt>
              </c:strCache>
            </c:strRef>
          </c:tx>
          <c:spPr>
            <a:solidFill>
              <a:srgbClr val="F26B4F"/>
            </a:solidFill>
            <a:effectLst/>
          </c:spPr>
          <c:invertIfNegative val="0"/>
          <c:dLbls>
            <c:numFmt formatCode="0.0" sourceLinked="0"/>
            <c:spPr>
              <a:noFill/>
              <a:ln>
                <a:noFill/>
              </a:ln>
              <a:effectLst/>
            </c:spPr>
            <c:txPr>
              <a:bodyPr/>
              <a:lstStyle/>
              <a:p>
                <a:pPr>
                  <a:defRPr sz="1100" b="0" i="0" u="none" strike="noStrike">
                    <a:solidFill>
                      <a:srgbClr val="1F2A37"/>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0.4 or less</c:v>
                </c:pt>
                <c:pt idx="1">
                  <c:v>0.4 to 0.6</c:v>
                </c:pt>
                <c:pt idx="2">
                  <c:v>0.6 to 0.8</c:v>
                </c:pt>
                <c:pt idx="3">
                  <c:v>Above 0.8</c:v>
                </c:pt>
              </c:strCache>
            </c:strRef>
          </c:cat>
          <c:val>
            <c:numRef>
              <c:f>Sheet1!$B$2:$B$5</c:f>
              <c:numCache>
                <c:formatCode>General</c:formatCode>
                <c:ptCount val="4"/>
                <c:pt idx="0">
                  <c:v>82.9</c:v>
                </c:pt>
                <c:pt idx="1">
                  <c:v>60.2</c:v>
                </c:pt>
                <c:pt idx="2">
                  <c:v>44.9</c:v>
                </c:pt>
                <c:pt idx="3">
                  <c:v>42.7</c:v>
                </c:pt>
              </c:numCache>
            </c:numRef>
          </c:val>
          <c:extLst>
            <c:ext xmlns:c16="http://schemas.microsoft.com/office/drawing/2014/chart" uri="{C3380CC4-5D6E-409C-BE32-E72D297353CC}">
              <c16:uniqueId val="{00000000-07D8-4AE7-A182-E100958E1247}"/>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514F"/>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0EA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514F"/>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300" b="0" i="0" u="none" strike="noStrike">
                <a:solidFill>
                  <a:srgbClr val="0A4A47"/>
                </a:solidFill>
                <a:latin typeface="+mn-lt"/>
              </a:defRPr>
            </a:pPr>
            <a:r>
              <a:rPr lang="en-US" sz="1300" b="0" i="0" u="none" strike="noStrike">
                <a:solidFill>
                  <a:srgbClr val="0A4A47"/>
                </a:solidFill>
                <a:latin typeface="+mn-lt"/>
              </a:rPr>
              <a:t>Average rentals per hour, by month</a:t>
            </a:r>
          </a:p>
        </c:rich>
      </c:tx>
      <c:overlay val="0"/>
    </c:title>
    <c:autoTitleDeleted val="0"/>
    <c:plotArea>
      <c:layout/>
      <c:barChart>
        <c:barDir val="col"/>
        <c:grouping val="clustered"/>
        <c:varyColors val="0"/>
        <c:ser>
          <c:idx val="0"/>
          <c:order val="0"/>
          <c:tx>
            <c:strRef>
              <c:f>Sheet1!$B$1</c:f>
              <c:strCache>
                <c:ptCount val="1"/>
                <c:pt idx="0">
                  <c:v>Avg rentals per hour</c:v>
                </c:pt>
              </c:strCache>
            </c:strRef>
          </c:tx>
          <c:spPr>
            <a:solidFill>
              <a:srgbClr val="0E7C7B"/>
            </a:solidFill>
            <a:effectLst/>
          </c:spPr>
          <c:invertIfNegative val="0"/>
          <c:dPt>
            <c:idx val="0"/>
            <c:invertIfNegative val="0"/>
            <c:bubble3D val="0"/>
            <c:extLst>
              <c:ext xmlns:c16="http://schemas.microsoft.com/office/drawing/2014/chart" uri="{C3380CC4-5D6E-409C-BE32-E72D297353CC}">
                <c16:uniqueId val="{00000001-D313-4E19-8E34-7A78AC92A221}"/>
              </c:ext>
            </c:extLst>
          </c:dPt>
          <c:dPt>
            <c:idx val="1"/>
            <c:invertIfNegative val="0"/>
            <c:bubble3D val="0"/>
            <c:spPr>
              <a:solidFill>
                <a:srgbClr val="6FB7B0"/>
              </a:solidFill>
              <a:effectLst/>
            </c:spPr>
            <c:extLst>
              <c:ext xmlns:c16="http://schemas.microsoft.com/office/drawing/2014/chart" uri="{C3380CC4-5D6E-409C-BE32-E72D297353CC}">
                <c16:uniqueId val="{00000003-D313-4E19-8E34-7A78AC92A221}"/>
              </c:ext>
            </c:extLst>
          </c:dPt>
          <c:dLbls>
            <c:numFmt formatCode="0.0" sourceLinked="0"/>
            <c:spPr>
              <a:noFill/>
              <a:ln>
                <a:noFill/>
              </a:ln>
              <a:effectLst/>
            </c:spPr>
            <c:txPr>
              <a:bodyPr/>
              <a:lstStyle/>
              <a:p>
                <a:pPr>
                  <a:defRPr sz="1100" b="0" i="0" u="none" strike="noStrike">
                    <a:solidFill>
                      <a:srgbClr val="1F2A37"/>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January</c:v>
                </c:pt>
                <c:pt idx="1">
                  <c:v>February</c:v>
                </c:pt>
              </c:strCache>
            </c:strRef>
          </c:cat>
          <c:val>
            <c:numRef>
              <c:f>Sheet1!$B$2:$B$3</c:f>
              <c:numCache>
                <c:formatCode>General</c:formatCode>
                <c:ptCount val="2"/>
                <c:pt idx="0">
                  <c:v>55.5</c:v>
                </c:pt>
                <c:pt idx="1">
                  <c:v>64.5</c:v>
                </c:pt>
              </c:numCache>
            </c:numRef>
          </c:val>
          <c:extLst>
            <c:ext xmlns:c16="http://schemas.microsoft.com/office/drawing/2014/chart" uri="{C3380CC4-5D6E-409C-BE32-E72D297353CC}">
              <c16:uniqueId val="{00000004-D313-4E19-8E34-7A78AC92A221}"/>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514F"/>
                </a:solidFill>
                <a:latin typeface="+mn-lt"/>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9525" cap="flat">
              <a:solidFill>
                <a:srgbClr val="E0EA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514F"/>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300" b="0" i="0" u="none" strike="noStrike">
                <a:solidFill>
                  <a:srgbClr val="0A4A47"/>
                </a:solidFill>
                <a:latin typeface="+mn-lt"/>
              </a:defRPr>
            </a:pPr>
            <a:r>
              <a:rPr lang="en-US" sz="1300" b="0" i="0" u="none" strike="noStrike">
                <a:solidFill>
                  <a:srgbClr val="0A4A47"/>
                </a:solidFill>
                <a:latin typeface="+mn-lt"/>
              </a:rPr>
              <a:t>Average rentals per hour, by day type</a:t>
            </a:r>
          </a:p>
        </c:rich>
      </c:tx>
      <c:overlay val="0"/>
    </c:title>
    <c:autoTitleDeleted val="0"/>
    <c:plotArea>
      <c:layout/>
      <c:barChart>
        <c:barDir val="col"/>
        <c:grouping val="clustered"/>
        <c:varyColors val="0"/>
        <c:ser>
          <c:idx val="0"/>
          <c:order val="0"/>
          <c:tx>
            <c:strRef>
              <c:f>Sheet1!$B$1</c:f>
              <c:strCache>
                <c:ptCount val="1"/>
                <c:pt idx="0">
                  <c:v>Avg rentals per hour</c:v>
                </c:pt>
              </c:strCache>
            </c:strRef>
          </c:tx>
          <c:spPr>
            <a:solidFill>
              <a:srgbClr val="F4B942"/>
            </a:solidFill>
            <a:effectLst/>
          </c:spPr>
          <c:invertIfNegative val="0"/>
          <c:dPt>
            <c:idx val="0"/>
            <c:invertIfNegative val="0"/>
            <c:bubble3D val="0"/>
            <c:extLst>
              <c:ext xmlns:c16="http://schemas.microsoft.com/office/drawing/2014/chart" uri="{C3380CC4-5D6E-409C-BE32-E72D297353CC}">
                <c16:uniqueId val="{00000001-475A-4912-ADED-1556601A80EE}"/>
              </c:ext>
            </c:extLst>
          </c:dPt>
          <c:dPt>
            <c:idx val="1"/>
            <c:invertIfNegative val="0"/>
            <c:bubble3D val="0"/>
            <c:spPr>
              <a:solidFill>
                <a:srgbClr val="0E7C7B"/>
              </a:solidFill>
              <a:effectLst/>
            </c:spPr>
            <c:extLst>
              <c:ext xmlns:c16="http://schemas.microsoft.com/office/drawing/2014/chart" uri="{C3380CC4-5D6E-409C-BE32-E72D297353CC}">
                <c16:uniqueId val="{00000003-475A-4912-ADED-1556601A80EE}"/>
              </c:ext>
            </c:extLst>
          </c:dPt>
          <c:dLbls>
            <c:numFmt formatCode="0.0" sourceLinked="0"/>
            <c:spPr>
              <a:noFill/>
              <a:ln>
                <a:noFill/>
              </a:ln>
              <a:effectLst/>
            </c:spPr>
            <c:txPr>
              <a:bodyPr/>
              <a:lstStyle/>
              <a:p>
                <a:pPr>
                  <a:defRPr sz="1100" b="0" i="0" u="none" strike="noStrike">
                    <a:solidFill>
                      <a:srgbClr val="1F2A37"/>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Holiday</c:v>
                </c:pt>
                <c:pt idx="1">
                  <c:v>Non-holiday</c:v>
                </c:pt>
              </c:strCache>
            </c:strRef>
          </c:cat>
          <c:val>
            <c:numRef>
              <c:f>Sheet1!$B$2:$B$3</c:f>
              <c:numCache>
                <c:formatCode>General</c:formatCode>
                <c:ptCount val="2"/>
                <c:pt idx="0">
                  <c:v>41.7</c:v>
                </c:pt>
                <c:pt idx="1">
                  <c:v>58.7</c:v>
                </c:pt>
              </c:numCache>
            </c:numRef>
          </c:val>
          <c:extLst>
            <c:ext xmlns:c16="http://schemas.microsoft.com/office/drawing/2014/chart" uri="{C3380CC4-5D6E-409C-BE32-E72D297353CC}">
              <c16:uniqueId val="{00000004-475A-4912-ADED-1556601A80EE}"/>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514F"/>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0EA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514F"/>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300" b="0" i="0" u="none" strike="noStrike">
                <a:solidFill>
                  <a:srgbClr val="0A4A47"/>
                </a:solidFill>
                <a:latin typeface="+mn-lt"/>
              </a:defRPr>
            </a:pPr>
            <a:r>
              <a:rPr lang="en-US" sz="1300" b="0" i="0" u="none" strike="noStrike">
                <a:solidFill>
                  <a:srgbClr val="0A4A47"/>
                </a:solidFill>
                <a:latin typeface="+mn-lt"/>
              </a:rPr>
              <a:t>Average rentals per hour, by day</a:t>
            </a:r>
          </a:p>
        </c:rich>
      </c:tx>
      <c:overlay val="0"/>
    </c:title>
    <c:autoTitleDeleted val="0"/>
    <c:plotArea>
      <c:layout/>
      <c:lineChart>
        <c:grouping val="standard"/>
        <c:varyColors val="0"/>
        <c:ser>
          <c:idx val="0"/>
          <c:order val="0"/>
          <c:tx>
            <c:strRef>
              <c:f>Sheet1!$B$1</c:f>
              <c:strCache>
                <c:ptCount val="1"/>
                <c:pt idx="0">
                  <c:v>Actual (daily average)</c:v>
                </c:pt>
              </c:strCache>
            </c:strRef>
          </c:tx>
          <c:spPr>
            <a:ln w="25400" cap="flat">
              <a:solidFill>
                <a:srgbClr val="0E7C7B"/>
              </a:solidFill>
              <a:prstDash val="solid"/>
              <a:round/>
            </a:ln>
            <a:effectLst/>
          </c:spPr>
          <c:marker>
            <c:symbol val="none"/>
          </c:marker>
          <c:cat>
            <c:strRef>
              <c:f>Sheet1!$A$2:$A$57</c:f>
              <c:strCache>
                <c:ptCount val="56"/>
                <c:pt idx="0">
                  <c:v>01 Jan</c:v>
                </c:pt>
                <c:pt idx="1">
                  <c:v>02 Jan</c:v>
                </c:pt>
                <c:pt idx="2">
                  <c:v>03 Jan</c:v>
                </c:pt>
                <c:pt idx="3">
                  <c:v>04 Jan</c:v>
                </c:pt>
                <c:pt idx="4">
                  <c:v>05 Jan</c:v>
                </c:pt>
                <c:pt idx="5">
                  <c:v>06 Jan</c:v>
                </c:pt>
                <c:pt idx="6">
                  <c:v>07 Jan</c:v>
                </c:pt>
                <c:pt idx="7">
                  <c:v>08 Jan</c:v>
                </c:pt>
                <c:pt idx="8">
                  <c:v>09 Jan</c:v>
                </c:pt>
                <c:pt idx="9">
                  <c:v>10 Jan</c:v>
                </c:pt>
                <c:pt idx="10">
                  <c:v>11 Jan</c:v>
                </c:pt>
                <c:pt idx="11">
                  <c:v>12 Jan</c:v>
                </c:pt>
                <c:pt idx="12">
                  <c:v>13 Jan</c:v>
                </c:pt>
                <c:pt idx="13">
                  <c:v>14 Jan</c:v>
                </c:pt>
                <c:pt idx="14">
                  <c:v>15 Jan</c:v>
                </c:pt>
                <c:pt idx="15">
                  <c:v>16 Jan</c:v>
                </c:pt>
                <c:pt idx="16">
                  <c:v>17 Jan</c:v>
                </c:pt>
                <c:pt idx="17">
                  <c:v>18 Jan</c:v>
                </c:pt>
                <c:pt idx="18">
                  <c:v>19 Jan</c:v>
                </c:pt>
                <c:pt idx="19">
                  <c:v>20 Jan</c:v>
                </c:pt>
                <c:pt idx="20">
                  <c:v>21 Jan</c:v>
                </c:pt>
                <c:pt idx="21">
                  <c:v>22 Jan</c:v>
                </c:pt>
                <c:pt idx="22">
                  <c:v>23 Jan</c:v>
                </c:pt>
                <c:pt idx="23">
                  <c:v>24 Jan</c:v>
                </c:pt>
                <c:pt idx="24">
                  <c:v>25 Jan</c:v>
                </c:pt>
                <c:pt idx="25">
                  <c:v>26 Jan</c:v>
                </c:pt>
                <c:pt idx="26">
                  <c:v>27 Jan</c:v>
                </c:pt>
                <c:pt idx="27">
                  <c:v>28 Jan</c:v>
                </c:pt>
                <c:pt idx="28">
                  <c:v>29 Jan</c:v>
                </c:pt>
                <c:pt idx="29">
                  <c:v>30 Jan</c:v>
                </c:pt>
                <c:pt idx="30">
                  <c:v>31 Jan</c:v>
                </c:pt>
                <c:pt idx="31">
                  <c:v>01 Feb</c:v>
                </c:pt>
                <c:pt idx="32">
                  <c:v>02 Feb</c:v>
                </c:pt>
                <c:pt idx="33">
                  <c:v>03 Feb</c:v>
                </c:pt>
                <c:pt idx="34">
                  <c:v>04 Feb</c:v>
                </c:pt>
                <c:pt idx="35">
                  <c:v>05 Feb</c:v>
                </c:pt>
                <c:pt idx="36">
                  <c:v>06 Feb</c:v>
                </c:pt>
                <c:pt idx="37">
                  <c:v>07 Feb</c:v>
                </c:pt>
                <c:pt idx="38">
                  <c:v>08 Feb</c:v>
                </c:pt>
                <c:pt idx="39">
                  <c:v>09 Feb</c:v>
                </c:pt>
                <c:pt idx="40">
                  <c:v>10 Feb</c:v>
                </c:pt>
                <c:pt idx="41">
                  <c:v>11 Feb</c:v>
                </c:pt>
                <c:pt idx="42">
                  <c:v>12 Feb</c:v>
                </c:pt>
                <c:pt idx="43">
                  <c:v>13 Feb</c:v>
                </c:pt>
                <c:pt idx="44">
                  <c:v>15 Feb</c:v>
                </c:pt>
                <c:pt idx="45">
                  <c:v>16 Feb</c:v>
                </c:pt>
                <c:pt idx="46">
                  <c:v>17 Feb</c:v>
                </c:pt>
                <c:pt idx="47">
                  <c:v>18 Feb</c:v>
                </c:pt>
                <c:pt idx="48">
                  <c:v>19 Feb</c:v>
                </c:pt>
                <c:pt idx="49">
                  <c:v>20 Feb</c:v>
                </c:pt>
                <c:pt idx="50">
                  <c:v>21 Feb</c:v>
                </c:pt>
                <c:pt idx="51">
                  <c:v>22 Feb</c:v>
                </c:pt>
                <c:pt idx="52">
                  <c:v>23 Feb</c:v>
                </c:pt>
                <c:pt idx="53">
                  <c:v>24 Feb</c:v>
                </c:pt>
                <c:pt idx="54">
                  <c:v>25 Feb</c:v>
                </c:pt>
                <c:pt idx="55">
                  <c:v>26 Feb</c:v>
                </c:pt>
              </c:strCache>
            </c:strRef>
          </c:cat>
          <c:val>
            <c:numRef>
              <c:f>Sheet1!$B$2:$B$57</c:f>
              <c:numCache>
                <c:formatCode>General</c:formatCode>
                <c:ptCount val="56"/>
                <c:pt idx="0">
                  <c:v>41</c:v>
                </c:pt>
                <c:pt idx="1">
                  <c:v>34.799999999999997</c:v>
                </c:pt>
                <c:pt idx="2">
                  <c:v>61.3</c:v>
                </c:pt>
                <c:pt idx="3">
                  <c:v>67.900000000000006</c:v>
                </c:pt>
                <c:pt idx="4">
                  <c:v>69.599999999999994</c:v>
                </c:pt>
                <c:pt idx="5">
                  <c:v>69.8</c:v>
                </c:pt>
                <c:pt idx="6">
                  <c:v>65.7</c:v>
                </c:pt>
                <c:pt idx="7">
                  <c:v>40</c:v>
                </c:pt>
                <c:pt idx="8">
                  <c:v>34.200000000000003</c:v>
                </c:pt>
                <c:pt idx="9">
                  <c:v>55</c:v>
                </c:pt>
                <c:pt idx="10">
                  <c:v>57.4</c:v>
                </c:pt>
                <c:pt idx="11">
                  <c:v>52.8</c:v>
                </c:pt>
                <c:pt idx="12">
                  <c:v>58.6</c:v>
                </c:pt>
                <c:pt idx="13">
                  <c:v>61.8</c:v>
                </c:pt>
                <c:pt idx="14">
                  <c:v>52</c:v>
                </c:pt>
                <c:pt idx="15">
                  <c:v>50.2</c:v>
                </c:pt>
                <c:pt idx="16">
                  <c:v>41.7</c:v>
                </c:pt>
                <c:pt idx="17">
                  <c:v>56.9</c:v>
                </c:pt>
                <c:pt idx="18">
                  <c:v>71.7</c:v>
                </c:pt>
                <c:pt idx="19">
                  <c:v>80.3</c:v>
                </c:pt>
                <c:pt idx="20">
                  <c:v>64.3</c:v>
                </c:pt>
                <c:pt idx="21">
                  <c:v>42.7</c:v>
                </c:pt>
                <c:pt idx="22">
                  <c:v>42.9</c:v>
                </c:pt>
                <c:pt idx="23">
                  <c:v>61.6</c:v>
                </c:pt>
                <c:pt idx="24">
                  <c:v>86.3</c:v>
                </c:pt>
                <c:pt idx="25">
                  <c:v>31.6</c:v>
                </c:pt>
                <c:pt idx="26">
                  <c:v>53.9</c:v>
                </c:pt>
                <c:pt idx="27">
                  <c:v>50.7</c:v>
                </c:pt>
                <c:pt idx="28">
                  <c:v>47.7</c:v>
                </c:pt>
                <c:pt idx="29">
                  <c:v>47.7</c:v>
                </c:pt>
                <c:pt idx="30">
                  <c:v>62.5</c:v>
                </c:pt>
                <c:pt idx="31">
                  <c:v>59.1</c:v>
                </c:pt>
                <c:pt idx="32">
                  <c:v>63.6</c:v>
                </c:pt>
                <c:pt idx="33">
                  <c:v>67.400000000000006</c:v>
                </c:pt>
                <c:pt idx="34">
                  <c:v>74.3</c:v>
                </c:pt>
                <c:pt idx="35">
                  <c:v>41.9</c:v>
                </c:pt>
                <c:pt idx="36">
                  <c:v>67.599999999999994</c:v>
                </c:pt>
                <c:pt idx="37">
                  <c:v>71.3</c:v>
                </c:pt>
                <c:pt idx="38">
                  <c:v>63.8</c:v>
                </c:pt>
                <c:pt idx="39">
                  <c:v>69.8</c:v>
                </c:pt>
                <c:pt idx="40">
                  <c:v>66.900000000000006</c:v>
                </c:pt>
                <c:pt idx="41">
                  <c:v>79.400000000000006</c:v>
                </c:pt>
                <c:pt idx="42">
                  <c:v>61.3</c:v>
                </c:pt>
                <c:pt idx="43">
                  <c:v>69.099999999999994</c:v>
                </c:pt>
              </c:numCache>
            </c:numRef>
          </c:val>
          <c:smooth val="0"/>
          <c:extLst>
            <c:ext xmlns:c16="http://schemas.microsoft.com/office/drawing/2014/chart" uri="{C3380CC4-5D6E-409C-BE32-E72D297353CC}">
              <c16:uniqueId val="{00000000-8A94-46CE-87F1-CAC3B78F0ECF}"/>
            </c:ext>
          </c:extLst>
        </c:ser>
        <c:ser>
          <c:idx val="1"/>
          <c:order val="1"/>
          <c:tx>
            <c:strRef>
              <c:f>Sheet1!$C$1</c:f>
              <c:strCache>
                <c:ptCount val="1"/>
                <c:pt idx="0">
                  <c:v>Forecast</c:v>
                </c:pt>
              </c:strCache>
            </c:strRef>
          </c:tx>
          <c:spPr>
            <a:ln w="25400" cap="flat">
              <a:solidFill>
                <a:srgbClr val="F26B4F"/>
              </a:solidFill>
              <a:prstDash val="solid"/>
              <a:round/>
            </a:ln>
            <a:effectLst/>
          </c:spPr>
          <c:marker>
            <c:symbol val="none"/>
          </c:marker>
          <c:cat>
            <c:strRef>
              <c:f>Sheet1!$A$2:$A$57</c:f>
              <c:strCache>
                <c:ptCount val="56"/>
                <c:pt idx="0">
                  <c:v>01 Jan</c:v>
                </c:pt>
                <c:pt idx="1">
                  <c:v>02 Jan</c:v>
                </c:pt>
                <c:pt idx="2">
                  <c:v>03 Jan</c:v>
                </c:pt>
                <c:pt idx="3">
                  <c:v>04 Jan</c:v>
                </c:pt>
                <c:pt idx="4">
                  <c:v>05 Jan</c:v>
                </c:pt>
                <c:pt idx="5">
                  <c:v>06 Jan</c:v>
                </c:pt>
                <c:pt idx="6">
                  <c:v>07 Jan</c:v>
                </c:pt>
                <c:pt idx="7">
                  <c:v>08 Jan</c:v>
                </c:pt>
                <c:pt idx="8">
                  <c:v>09 Jan</c:v>
                </c:pt>
                <c:pt idx="9">
                  <c:v>10 Jan</c:v>
                </c:pt>
                <c:pt idx="10">
                  <c:v>11 Jan</c:v>
                </c:pt>
                <c:pt idx="11">
                  <c:v>12 Jan</c:v>
                </c:pt>
                <c:pt idx="12">
                  <c:v>13 Jan</c:v>
                </c:pt>
                <c:pt idx="13">
                  <c:v>14 Jan</c:v>
                </c:pt>
                <c:pt idx="14">
                  <c:v>15 Jan</c:v>
                </c:pt>
                <c:pt idx="15">
                  <c:v>16 Jan</c:v>
                </c:pt>
                <c:pt idx="16">
                  <c:v>17 Jan</c:v>
                </c:pt>
                <c:pt idx="17">
                  <c:v>18 Jan</c:v>
                </c:pt>
                <c:pt idx="18">
                  <c:v>19 Jan</c:v>
                </c:pt>
                <c:pt idx="19">
                  <c:v>20 Jan</c:v>
                </c:pt>
                <c:pt idx="20">
                  <c:v>21 Jan</c:v>
                </c:pt>
                <c:pt idx="21">
                  <c:v>22 Jan</c:v>
                </c:pt>
                <c:pt idx="22">
                  <c:v>23 Jan</c:v>
                </c:pt>
                <c:pt idx="23">
                  <c:v>24 Jan</c:v>
                </c:pt>
                <c:pt idx="24">
                  <c:v>25 Jan</c:v>
                </c:pt>
                <c:pt idx="25">
                  <c:v>26 Jan</c:v>
                </c:pt>
                <c:pt idx="26">
                  <c:v>27 Jan</c:v>
                </c:pt>
                <c:pt idx="27">
                  <c:v>28 Jan</c:v>
                </c:pt>
                <c:pt idx="28">
                  <c:v>29 Jan</c:v>
                </c:pt>
                <c:pt idx="29">
                  <c:v>30 Jan</c:v>
                </c:pt>
                <c:pt idx="30">
                  <c:v>31 Jan</c:v>
                </c:pt>
                <c:pt idx="31">
                  <c:v>01 Feb</c:v>
                </c:pt>
                <c:pt idx="32">
                  <c:v>02 Feb</c:v>
                </c:pt>
                <c:pt idx="33">
                  <c:v>03 Feb</c:v>
                </c:pt>
                <c:pt idx="34">
                  <c:v>04 Feb</c:v>
                </c:pt>
                <c:pt idx="35">
                  <c:v>05 Feb</c:v>
                </c:pt>
                <c:pt idx="36">
                  <c:v>06 Feb</c:v>
                </c:pt>
                <c:pt idx="37">
                  <c:v>07 Feb</c:v>
                </c:pt>
                <c:pt idx="38">
                  <c:v>08 Feb</c:v>
                </c:pt>
                <c:pt idx="39">
                  <c:v>09 Feb</c:v>
                </c:pt>
                <c:pt idx="40">
                  <c:v>10 Feb</c:v>
                </c:pt>
                <c:pt idx="41">
                  <c:v>11 Feb</c:v>
                </c:pt>
                <c:pt idx="42">
                  <c:v>12 Feb</c:v>
                </c:pt>
                <c:pt idx="43">
                  <c:v>13 Feb</c:v>
                </c:pt>
                <c:pt idx="44">
                  <c:v>15 Feb</c:v>
                </c:pt>
                <c:pt idx="45">
                  <c:v>16 Feb</c:v>
                </c:pt>
                <c:pt idx="46">
                  <c:v>17 Feb</c:v>
                </c:pt>
                <c:pt idx="47">
                  <c:v>18 Feb</c:v>
                </c:pt>
                <c:pt idx="48">
                  <c:v>19 Feb</c:v>
                </c:pt>
                <c:pt idx="49">
                  <c:v>20 Feb</c:v>
                </c:pt>
                <c:pt idx="50">
                  <c:v>21 Feb</c:v>
                </c:pt>
                <c:pt idx="51">
                  <c:v>22 Feb</c:v>
                </c:pt>
                <c:pt idx="52">
                  <c:v>23 Feb</c:v>
                </c:pt>
                <c:pt idx="53">
                  <c:v>24 Feb</c:v>
                </c:pt>
                <c:pt idx="54">
                  <c:v>25 Feb</c:v>
                </c:pt>
                <c:pt idx="55">
                  <c:v>26 Feb</c:v>
                </c:pt>
              </c:strCache>
            </c:strRef>
          </c:cat>
          <c:val>
            <c:numRef>
              <c:f>Sheet1!$C$2:$C$57</c:f>
              <c:numCache>
                <c:formatCode>General</c:formatCode>
                <c:ptCount val="56"/>
                <c:pt idx="44">
                  <c:v>61.3</c:v>
                </c:pt>
                <c:pt idx="45">
                  <c:v>61.5</c:v>
                </c:pt>
                <c:pt idx="46">
                  <c:v>61.8</c:v>
                </c:pt>
                <c:pt idx="47">
                  <c:v>62</c:v>
                </c:pt>
                <c:pt idx="48">
                  <c:v>62.3</c:v>
                </c:pt>
                <c:pt idx="49">
                  <c:v>62.5</c:v>
                </c:pt>
                <c:pt idx="50">
                  <c:v>62.8</c:v>
                </c:pt>
                <c:pt idx="51">
                  <c:v>63.1</c:v>
                </c:pt>
                <c:pt idx="52">
                  <c:v>63.3</c:v>
                </c:pt>
                <c:pt idx="53">
                  <c:v>63.6</c:v>
                </c:pt>
                <c:pt idx="54">
                  <c:v>63.8</c:v>
                </c:pt>
                <c:pt idx="55">
                  <c:v>64.099999999999994</c:v>
                </c:pt>
              </c:numCache>
            </c:numRef>
          </c:val>
          <c:smooth val="0"/>
          <c:extLst>
            <c:ext xmlns:c16="http://schemas.microsoft.com/office/drawing/2014/chart" uri="{C3380CC4-5D6E-409C-BE32-E72D297353CC}">
              <c16:uniqueId val="{00000001-8A94-46CE-87F1-CAC3B78F0ECF}"/>
            </c:ext>
          </c:extLst>
        </c:ser>
        <c:ser>
          <c:idx val="2"/>
          <c:order val="2"/>
          <c:tx>
            <c:strRef>
              <c:f>Sheet1!$D$1</c:f>
              <c:strCache>
                <c:ptCount val="1"/>
                <c:pt idx="0">
                  <c:v>Lower bound</c:v>
                </c:pt>
              </c:strCache>
            </c:strRef>
          </c:tx>
          <c:spPr>
            <a:ln w="25400" cap="flat">
              <a:solidFill>
                <a:srgbClr val="B8C4C2"/>
              </a:solidFill>
              <a:prstDash val="solid"/>
              <a:round/>
            </a:ln>
            <a:effectLst/>
          </c:spPr>
          <c:marker>
            <c:symbol val="none"/>
          </c:marker>
          <c:cat>
            <c:strRef>
              <c:f>Sheet1!$A$2:$A$57</c:f>
              <c:strCache>
                <c:ptCount val="56"/>
                <c:pt idx="0">
                  <c:v>01 Jan</c:v>
                </c:pt>
                <c:pt idx="1">
                  <c:v>02 Jan</c:v>
                </c:pt>
                <c:pt idx="2">
                  <c:v>03 Jan</c:v>
                </c:pt>
                <c:pt idx="3">
                  <c:v>04 Jan</c:v>
                </c:pt>
                <c:pt idx="4">
                  <c:v>05 Jan</c:v>
                </c:pt>
                <c:pt idx="5">
                  <c:v>06 Jan</c:v>
                </c:pt>
                <c:pt idx="6">
                  <c:v>07 Jan</c:v>
                </c:pt>
                <c:pt idx="7">
                  <c:v>08 Jan</c:v>
                </c:pt>
                <c:pt idx="8">
                  <c:v>09 Jan</c:v>
                </c:pt>
                <c:pt idx="9">
                  <c:v>10 Jan</c:v>
                </c:pt>
                <c:pt idx="10">
                  <c:v>11 Jan</c:v>
                </c:pt>
                <c:pt idx="11">
                  <c:v>12 Jan</c:v>
                </c:pt>
                <c:pt idx="12">
                  <c:v>13 Jan</c:v>
                </c:pt>
                <c:pt idx="13">
                  <c:v>14 Jan</c:v>
                </c:pt>
                <c:pt idx="14">
                  <c:v>15 Jan</c:v>
                </c:pt>
                <c:pt idx="15">
                  <c:v>16 Jan</c:v>
                </c:pt>
                <c:pt idx="16">
                  <c:v>17 Jan</c:v>
                </c:pt>
                <c:pt idx="17">
                  <c:v>18 Jan</c:v>
                </c:pt>
                <c:pt idx="18">
                  <c:v>19 Jan</c:v>
                </c:pt>
                <c:pt idx="19">
                  <c:v>20 Jan</c:v>
                </c:pt>
                <c:pt idx="20">
                  <c:v>21 Jan</c:v>
                </c:pt>
                <c:pt idx="21">
                  <c:v>22 Jan</c:v>
                </c:pt>
                <c:pt idx="22">
                  <c:v>23 Jan</c:v>
                </c:pt>
                <c:pt idx="23">
                  <c:v>24 Jan</c:v>
                </c:pt>
                <c:pt idx="24">
                  <c:v>25 Jan</c:v>
                </c:pt>
                <c:pt idx="25">
                  <c:v>26 Jan</c:v>
                </c:pt>
                <c:pt idx="26">
                  <c:v>27 Jan</c:v>
                </c:pt>
                <c:pt idx="27">
                  <c:v>28 Jan</c:v>
                </c:pt>
                <c:pt idx="28">
                  <c:v>29 Jan</c:v>
                </c:pt>
                <c:pt idx="29">
                  <c:v>30 Jan</c:v>
                </c:pt>
                <c:pt idx="30">
                  <c:v>31 Jan</c:v>
                </c:pt>
                <c:pt idx="31">
                  <c:v>01 Feb</c:v>
                </c:pt>
                <c:pt idx="32">
                  <c:v>02 Feb</c:v>
                </c:pt>
                <c:pt idx="33">
                  <c:v>03 Feb</c:v>
                </c:pt>
                <c:pt idx="34">
                  <c:v>04 Feb</c:v>
                </c:pt>
                <c:pt idx="35">
                  <c:v>05 Feb</c:v>
                </c:pt>
                <c:pt idx="36">
                  <c:v>06 Feb</c:v>
                </c:pt>
                <c:pt idx="37">
                  <c:v>07 Feb</c:v>
                </c:pt>
                <c:pt idx="38">
                  <c:v>08 Feb</c:v>
                </c:pt>
                <c:pt idx="39">
                  <c:v>09 Feb</c:v>
                </c:pt>
                <c:pt idx="40">
                  <c:v>10 Feb</c:v>
                </c:pt>
                <c:pt idx="41">
                  <c:v>11 Feb</c:v>
                </c:pt>
                <c:pt idx="42">
                  <c:v>12 Feb</c:v>
                </c:pt>
                <c:pt idx="43">
                  <c:v>13 Feb</c:v>
                </c:pt>
                <c:pt idx="44">
                  <c:v>15 Feb</c:v>
                </c:pt>
                <c:pt idx="45">
                  <c:v>16 Feb</c:v>
                </c:pt>
                <c:pt idx="46">
                  <c:v>17 Feb</c:v>
                </c:pt>
                <c:pt idx="47">
                  <c:v>18 Feb</c:v>
                </c:pt>
                <c:pt idx="48">
                  <c:v>19 Feb</c:v>
                </c:pt>
                <c:pt idx="49">
                  <c:v>20 Feb</c:v>
                </c:pt>
                <c:pt idx="50">
                  <c:v>21 Feb</c:v>
                </c:pt>
                <c:pt idx="51">
                  <c:v>22 Feb</c:v>
                </c:pt>
                <c:pt idx="52">
                  <c:v>23 Feb</c:v>
                </c:pt>
                <c:pt idx="53">
                  <c:v>24 Feb</c:v>
                </c:pt>
                <c:pt idx="54">
                  <c:v>25 Feb</c:v>
                </c:pt>
                <c:pt idx="55">
                  <c:v>26 Feb</c:v>
                </c:pt>
              </c:strCache>
            </c:strRef>
          </c:cat>
          <c:val>
            <c:numRef>
              <c:f>Sheet1!$D$2:$D$57</c:f>
              <c:numCache>
                <c:formatCode>General</c:formatCode>
                <c:ptCount val="56"/>
                <c:pt idx="44">
                  <c:v>31.9</c:v>
                </c:pt>
                <c:pt idx="45">
                  <c:v>31.9</c:v>
                </c:pt>
                <c:pt idx="46">
                  <c:v>31.9</c:v>
                </c:pt>
                <c:pt idx="47">
                  <c:v>31.9</c:v>
                </c:pt>
                <c:pt idx="48">
                  <c:v>31.9</c:v>
                </c:pt>
                <c:pt idx="49">
                  <c:v>31.9</c:v>
                </c:pt>
                <c:pt idx="50">
                  <c:v>31.9</c:v>
                </c:pt>
                <c:pt idx="51">
                  <c:v>32</c:v>
                </c:pt>
                <c:pt idx="52">
                  <c:v>32</c:v>
                </c:pt>
                <c:pt idx="53">
                  <c:v>32</c:v>
                </c:pt>
                <c:pt idx="54">
                  <c:v>32</c:v>
                </c:pt>
                <c:pt idx="55">
                  <c:v>32</c:v>
                </c:pt>
              </c:numCache>
            </c:numRef>
          </c:val>
          <c:smooth val="0"/>
          <c:extLst>
            <c:ext xmlns:c16="http://schemas.microsoft.com/office/drawing/2014/chart" uri="{C3380CC4-5D6E-409C-BE32-E72D297353CC}">
              <c16:uniqueId val="{00000002-8A94-46CE-87F1-CAC3B78F0ECF}"/>
            </c:ext>
          </c:extLst>
        </c:ser>
        <c:ser>
          <c:idx val="3"/>
          <c:order val="3"/>
          <c:tx>
            <c:strRef>
              <c:f>Sheet1!$E$1</c:f>
              <c:strCache>
                <c:ptCount val="1"/>
                <c:pt idx="0">
                  <c:v>Upper bound</c:v>
                </c:pt>
              </c:strCache>
            </c:strRef>
          </c:tx>
          <c:spPr>
            <a:ln w="25400" cap="flat">
              <a:solidFill>
                <a:srgbClr val="B8C4C2"/>
              </a:solidFill>
              <a:prstDash val="solid"/>
              <a:round/>
            </a:ln>
            <a:effectLst/>
          </c:spPr>
          <c:marker>
            <c:symbol val="none"/>
          </c:marker>
          <c:cat>
            <c:strRef>
              <c:f>Sheet1!$A$2:$A$57</c:f>
              <c:strCache>
                <c:ptCount val="56"/>
                <c:pt idx="0">
                  <c:v>01 Jan</c:v>
                </c:pt>
                <c:pt idx="1">
                  <c:v>02 Jan</c:v>
                </c:pt>
                <c:pt idx="2">
                  <c:v>03 Jan</c:v>
                </c:pt>
                <c:pt idx="3">
                  <c:v>04 Jan</c:v>
                </c:pt>
                <c:pt idx="4">
                  <c:v>05 Jan</c:v>
                </c:pt>
                <c:pt idx="5">
                  <c:v>06 Jan</c:v>
                </c:pt>
                <c:pt idx="6">
                  <c:v>07 Jan</c:v>
                </c:pt>
                <c:pt idx="7">
                  <c:v>08 Jan</c:v>
                </c:pt>
                <c:pt idx="8">
                  <c:v>09 Jan</c:v>
                </c:pt>
                <c:pt idx="9">
                  <c:v>10 Jan</c:v>
                </c:pt>
                <c:pt idx="10">
                  <c:v>11 Jan</c:v>
                </c:pt>
                <c:pt idx="11">
                  <c:v>12 Jan</c:v>
                </c:pt>
                <c:pt idx="12">
                  <c:v>13 Jan</c:v>
                </c:pt>
                <c:pt idx="13">
                  <c:v>14 Jan</c:v>
                </c:pt>
                <c:pt idx="14">
                  <c:v>15 Jan</c:v>
                </c:pt>
                <c:pt idx="15">
                  <c:v>16 Jan</c:v>
                </c:pt>
                <c:pt idx="16">
                  <c:v>17 Jan</c:v>
                </c:pt>
                <c:pt idx="17">
                  <c:v>18 Jan</c:v>
                </c:pt>
                <c:pt idx="18">
                  <c:v>19 Jan</c:v>
                </c:pt>
                <c:pt idx="19">
                  <c:v>20 Jan</c:v>
                </c:pt>
                <c:pt idx="20">
                  <c:v>21 Jan</c:v>
                </c:pt>
                <c:pt idx="21">
                  <c:v>22 Jan</c:v>
                </c:pt>
                <c:pt idx="22">
                  <c:v>23 Jan</c:v>
                </c:pt>
                <c:pt idx="23">
                  <c:v>24 Jan</c:v>
                </c:pt>
                <c:pt idx="24">
                  <c:v>25 Jan</c:v>
                </c:pt>
                <c:pt idx="25">
                  <c:v>26 Jan</c:v>
                </c:pt>
                <c:pt idx="26">
                  <c:v>27 Jan</c:v>
                </c:pt>
                <c:pt idx="27">
                  <c:v>28 Jan</c:v>
                </c:pt>
                <c:pt idx="28">
                  <c:v>29 Jan</c:v>
                </c:pt>
                <c:pt idx="29">
                  <c:v>30 Jan</c:v>
                </c:pt>
                <c:pt idx="30">
                  <c:v>31 Jan</c:v>
                </c:pt>
                <c:pt idx="31">
                  <c:v>01 Feb</c:v>
                </c:pt>
                <c:pt idx="32">
                  <c:v>02 Feb</c:v>
                </c:pt>
                <c:pt idx="33">
                  <c:v>03 Feb</c:v>
                </c:pt>
                <c:pt idx="34">
                  <c:v>04 Feb</c:v>
                </c:pt>
                <c:pt idx="35">
                  <c:v>05 Feb</c:v>
                </c:pt>
                <c:pt idx="36">
                  <c:v>06 Feb</c:v>
                </c:pt>
                <c:pt idx="37">
                  <c:v>07 Feb</c:v>
                </c:pt>
                <c:pt idx="38">
                  <c:v>08 Feb</c:v>
                </c:pt>
                <c:pt idx="39">
                  <c:v>09 Feb</c:v>
                </c:pt>
                <c:pt idx="40">
                  <c:v>10 Feb</c:v>
                </c:pt>
                <c:pt idx="41">
                  <c:v>11 Feb</c:v>
                </c:pt>
                <c:pt idx="42">
                  <c:v>12 Feb</c:v>
                </c:pt>
                <c:pt idx="43">
                  <c:v>13 Feb</c:v>
                </c:pt>
                <c:pt idx="44">
                  <c:v>15 Feb</c:v>
                </c:pt>
                <c:pt idx="45">
                  <c:v>16 Feb</c:v>
                </c:pt>
                <c:pt idx="46">
                  <c:v>17 Feb</c:v>
                </c:pt>
                <c:pt idx="47">
                  <c:v>18 Feb</c:v>
                </c:pt>
                <c:pt idx="48">
                  <c:v>19 Feb</c:v>
                </c:pt>
                <c:pt idx="49">
                  <c:v>20 Feb</c:v>
                </c:pt>
                <c:pt idx="50">
                  <c:v>21 Feb</c:v>
                </c:pt>
                <c:pt idx="51">
                  <c:v>22 Feb</c:v>
                </c:pt>
                <c:pt idx="52">
                  <c:v>23 Feb</c:v>
                </c:pt>
                <c:pt idx="53">
                  <c:v>24 Feb</c:v>
                </c:pt>
                <c:pt idx="54">
                  <c:v>25 Feb</c:v>
                </c:pt>
                <c:pt idx="55">
                  <c:v>26 Feb</c:v>
                </c:pt>
              </c:strCache>
            </c:strRef>
          </c:cat>
          <c:val>
            <c:numRef>
              <c:f>Sheet1!$E$2:$E$57</c:f>
              <c:numCache>
                <c:formatCode>General</c:formatCode>
                <c:ptCount val="56"/>
                <c:pt idx="44">
                  <c:v>90.7</c:v>
                </c:pt>
                <c:pt idx="45">
                  <c:v>91.2</c:v>
                </c:pt>
                <c:pt idx="46">
                  <c:v>91.7</c:v>
                </c:pt>
                <c:pt idx="47">
                  <c:v>92.2</c:v>
                </c:pt>
                <c:pt idx="48">
                  <c:v>92.7</c:v>
                </c:pt>
                <c:pt idx="49">
                  <c:v>93.2</c:v>
                </c:pt>
                <c:pt idx="50">
                  <c:v>93.7</c:v>
                </c:pt>
                <c:pt idx="51">
                  <c:v>94.2</c:v>
                </c:pt>
                <c:pt idx="52">
                  <c:v>94.7</c:v>
                </c:pt>
                <c:pt idx="53">
                  <c:v>95.2</c:v>
                </c:pt>
                <c:pt idx="54">
                  <c:v>95.7</c:v>
                </c:pt>
                <c:pt idx="55">
                  <c:v>96.2</c:v>
                </c:pt>
              </c:numCache>
            </c:numRef>
          </c:val>
          <c:smooth val="0"/>
          <c:extLst>
            <c:ext xmlns:c16="http://schemas.microsoft.com/office/drawing/2014/chart" uri="{C3380CC4-5D6E-409C-BE32-E72D297353CC}">
              <c16:uniqueId val="{00000003-8A94-46CE-87F1-CAC3B78F0ECF}"/>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4514F"/>
                </a:solidFill>
                <a:latin typeface="+mn-lt"/>
              </a:defRPr>
            </a:pPr>
            <a:endParaRPr lang="en-US"/>
          </a:p>
        </c:txPr>
        <c:crossAx val="2094734552"/>
        <c:crosses val="autoZero"/>
        <c:auto val="1"/>
        <c:lblAlgn val="ctr"/>
        <c:lblOffset val="100"/>
        <c:tickLblSkip val="7"/>
        <c:noMultiLvlLbl val="1"/>
      </c:catAx>
      <c:valAx>
        <c:axId val="2094734552"/>
        <c:scaling>
          <c:orientation val="minMax"/>
          <c:min val="0"/>
        </c:scaling>
        <c:delete val="0"/>
        <c:axPos val="l"/>
        <c:majorGridlines>
          <c:spPr>
            <a:ln w="9525" cap="flat">
              <a:solidFill>
                <a:srgbClr val="E0EA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514F"/>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4514F"/>
              </a:solidFill>
              <a:latin typeface="+mn-lt"/>
              <a:cs typeface="+mn-lt"/>
            </a:defRPr>
          </a:pPr>
          <a:endParaRPr lang="en-US"/>
        </a:p>
      </c:txPr>
    </c:legend>
    <c:plotVisOnly val="1"/>
    <c:dispBlanksAs val="gap"/>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300" b="0" i="0" u="none" strike="noStrike">
                <a:solidFill>
                  <a:srgbClr val="0A4A47"/>
                </a:solidFill>
                <a:latin typeface="+mn-lt"/>
              </a:defRPr>
            </a:pPr>
            <a:r>
              <a:rPr lang="en-IN" sz="1300" b="0" i="0" u="none" strike="noStrike">
                <a:solidFill>
                  <a:srgbClr val="0A4A47"/>
                </a:solidFill>
                <a:latin typeface="+mn-lt"/>
              </a:rPr>
              <a:t>Hours by status</a:t>
            </a:r>
          </a:p>
        </c:rich>
      </c:tx>
      <c:overlay val="0"/>
    </c:title>
    <c:autoTitleDeleted val="0"/>
    <c:plotArea>
      <c:layout/>
      <c:doughnutChart>
        <c:varyColors val="1"/>
        <c:dLbls>
          <c:showLegendKey val="0"/>
          <c:showVal val="0"/>
          <c:showCatName val="0"/>
          <c:showSerName val="0"/>
          <c:showPercent val="0"/>
          <c:showBubbleSize val="0"/>
          <c:showLeaderLines val="0"/>
        </c:dLbls>
        <c:firstSliceAng val="0"/>
        <c:holeSize val="58"/>
      </c:doughnutChart>
      <c:spPr>
        <a:noFill/>
        <a:ln>
          <a:noFill/>
        </a:ln>
        <a:effectLst/>
      </c:spPr>
    </c:plotArea>
    <c:legend>
      <c:legendPos val="b"/>
      <c:overlay val="0"/>
      <c:txPr>
        <a:bodyPr/>
        <a:lstStyle/>
        <a:p>
          <a:pPr>
            <a:defRPr sz="1100">
              <a:solidFill>
                <a:srgbClr val="4451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a:t>Outliers</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manualLayout>
          <c:layoutTarget val="inner"/>
          <c:xMode val="edge"/>
          <c:yMode val="edge"/>
          <c:x val="7.8486439195100607E-2"/>
          <c:y val="0.16712962962962963"/>
          <c:w val="0.87427755905511806"/>
          <c:h val="0.62949292796733747"/>
        </c:manualLayout>
      </c:layout>
      <c:scatterChart>
        <c:scatterStyle val="lineMarker"/>
        <c:varyColors val="0"/>
        <c:ser>
          <c:idx val="0"/>
          <c:order val="0"/>
          <c:tx>
            <c:strRef>
              <c:f>Outlier!$J$4</c:f>
              <c:strCache>
                <c:ptCount val="1"/>
                <c:pt idx="0">
                  <c:v>Normal demand</c:v>
                </c:pt>
              </c:strCache>
            </c:strRef>
          </c:tx>
          <c:spPr>
            <a:ln w="25400" cap="rnd">
              <a:no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rnd">
                <a:solidFill>
                  <a:schemeClr val="accent1"/>
                </a:solidFill>
                <a:round/>
              </a:ln>
              <a:effectLst>
                <a:outerShdw blurRad="57150" dist="19050" dir="5400000" algn="ctr" rotWithShape="0">
                  <a:srgbClr val="000000">
                    <a:alpha val="63000"/>
                  </a:srgbClr>
                </a:outerShdw>
              </a:effectLst>
            </c:spPr>
          </c:marker>
          <c:xVal>
            <c:numRef>
              <c:f>Outlier!$B$5:$B$1004</c:f>
              <c:numCache>
                <c:formatCode>General</c:formatCode>
                <c:ptCount val="100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0</c:v>
                </c:pt>
                <c:pt idx="25">
                  <c:v>1</c:v>
                </c:pt>
                <c:pt idx="26">
                  <c:v>2</c:v>
                </c:pt>
                <c:pt idx="27">
                  <c:v>3</c:v>
                </c:pt>
                <c:pt idx="28">
                  <c:v>4</c:v>
                </c:pt>
                <c:pt idx="29">
                  <c:v>6</c:v>
                </c:pt>
                <c:pt idx="30">
                  <c:v>7</c:v>
                </c:pt>
                <c:pt idx="31">
                  <c:v>8</c:v>
                </c:pt>
                <c:pt idx="32">
                  <c:v>9</c:v>
                </c:pt>
                <c:pt idx="33">
                  <c:v>10</c:v>
                </c:pt>
                <c:pt idx="34">
                  <c:v>11</c:v>
                </c:pt>
                <c:pt idx="35">
                  <c:v>12</c:v>
                </c:pt>
                <c:pt idx="36">
                  <c:v>13</c:v>
                </c:pt>
                <c:pt idx="37">
                  <c:v>14</c:v>
                </c:pt>
                <c:pt idx="38">
                  <c:v>15</c:v>
                </c:pt>
                <c:pt idx="39">
                  <c:v>16</c:v>
                </c:pt>
                <c:pt idx="40">
                  <c:v>17</c:v>
                </c:pt>
                <c:pt idx="41">
                  <c:v>18</c:v>
                </c:pt>
                <c:pt idx="42">
                  <c:v>19</c:v>
                </c:pt>
                <c:pt idx="43">
                  <c:v>20</c:v>
                </c:pt>
                <c:pt idx="44">
                  <c:v>21</c:v>
                </c:pt>
                <c:pt idx="45">
                  <c:v>22</c:v>
                </c:pt>
                <c:pt idx="46">
                  <c:v>23</c:v>
                </c:pt>
                <c:pt idx="47">
                  <c:v>0</c:v>
                </c:pt>
                <c:pt idx="48">
                  <c:v>1</c:v>
                </c:pt>
                <c:pt idx="49">
                  <c:v>4</c:v>
                </c:pt>
                <c:pt idx="50">
                  <c:v>5</c:v>
                </c:pt>
                <c:pt idx="51">
                  <c:v>6</c:v>
                </c:pt>
                <c:pt idx="52">
                  <c:v>7</c:v>
                </c:pt>
                <c:pt idx="53">
                  <c:v>8</c:v>
                </c:pt>
                <c:pt idx="54">
                  <c:v>9</c:v>
                </c:pt>
                <c:pt idx="55">
                  <c:v>10</c:v>
                </c:pt>
                <c:pt idx="56">
                  <c:v>11</c:v>
                </c:pt>
                <c:pt idx="57">
                  <c:v>12</c:v>
                </c:pt>
                <c:pt idx="58">
                  <c:v>13</c:v>
                </c:pt>
                <c:pt idx="59">
                  <c:v>14</c:v>
                </c:pt>
                <c:pt idx="60">
                  <c:v>15</c:v>
                </c:pt>
                <c:pt idx="61">
                  <c:v>16</c:v>
                </c:pt>
                <c:pt idx="62">
                  <c:v>17</c:v>
                </c:pt>
                <c:pt idx="63">
                  <c:v>18</c:v>
                </c:pt>
                <c:pt idx="64">
                  <c:v>19</c:v>
                </c:pt>
                <c:pt idx="65">
                  <c:v>20</c:v>
                </c:pt>
                <c:pt idx="66">
                  <c:v>21</c:v>
                </c:pt>
                <c:pt idx="67">
                  <c:v>22</c:v>
                </c:pt>
                <c:pt idx="68">
                  <c:v>23</c:v>
                </c:pt>
                <c:pt idx="69">
                  <c:v>0</c:v>
                </c:pt>
                <c:pt idx="70">
                  <c:v>1</c:v>
                </c:pt>
                <c:pt idx="71">
                  <c:v>2</c:v>
                </c:pt>
                <c:pt idx="72">
                  <c:v>4</c:v>
                </c:pt>
                <c:pt idx="73">
                  <c:v>5</c:v>
                </c:pt>
                <c:pt idx="74">
                  <c:v>6</c:v>
                </c:pt>
                <c:pt idx="75">
                  <c:v>7</c:v>
                </c:pt>
                <c:pt idx="76">
                  <c:v>8</c:v>
                </c:pt>
                <c:pt idx="77">
                  <c:v>9</c:v>
                </c:pt>
                <c:pt idx="78">
                  <c:v>10</c:v>
                </c:pt>
                <c:pt idx="79">
                  <c:v>11</c:v>
                </c:pt>
                <c:pt idx="80">
                  <c:v>12</c:v>
                </c:pt>
                <c:pt idx="81">
                  <c:v>13</c:v>
                </c:pt>
                <c:pt idx="82">
                  <c:v>14</c:v>
                </c:pt>
                <c:pt idx="83">
                  <c:v>15</c:v>
                </c:pt>
                <c:pt idx="84">
                  <c:v>16</c:v>
                </c:pt>
                <c:pt idx="85">
                  <c:v>17</c:v>
                </c:pt>
                <c:pt idx="86">
                  <c:v>18</c:v>
                </c:pt>
                <c:pt idx="87">
                  <c:v>19</c:v>
                </c:pt>
                <c:pt idx="88">
                  <c:v>20</c:v>
                </c:pt>
                <c:pt idx="89">
                  <c:v>21</c:v>
                </c:pt>
                <c:pt idx="90">
                  <c:v>22</c:v>
                </c:pt>
                <c:pt idx="91">
                  <c:v>23</c:v>
                </c:pt>
                <c:pt idx="92">
                  <c:v>0</c:v>
                </c:pt>
                <c:pt idx="93">
                  <c:v>1</c:v>
                </c:pt>
                <c:pt idx="94">
                  <c:v>2</c:v>
                </c:pt>
                <c:pt idx="95">
                  <c:v>4</c:v>
                </c:pt>
                <c:pt idx="96">
                  <c:v>5</c:v>
                </c:pt>
                <c:pt idx="97">
                  <c:v>6</c:v>
                </c:pt>
                <c:pt idx="98">
                  <c:v>7</c:v>
                </c:pt>
                <c:pt idx="99">
                  <c:v>8</c:v>
                </c:pt>
                <c:pt idx="100">
                  <c:v>9</c:v>
                </c:pt>
                <c:pt idx="101">
                  <c:v>10</c:v>
                </c:pt>
                <c:pt idx="102">
                  <c:v>11</c:v>
                </c:pt>
                <c:pt idx="103">
                  <c:v>12</c:v>
                </c:pt>
                <c:pt idx="104">
                  <c:v>13</c:v>
                </c:pt>
                <c:pt idx="105">
                  <c:v>14</c:v>
                </c:pt>
                <c:pt idx="106">
                  <c:v>15</c:v>
                </c:pt>
                <c:pt idx="107">
                  <c:v>16</c:v>
                </c:pt>
                <c:pt idx="108">
                  <c:v>17</c:v>
                </c:pt>
                <c:pt idx="109">
                  <c:v>18</c:v>
                </c:pt>
                <c:pt idx="110">
                  <c:v>19</c:v>
                </c:pt>
                <c:pt idx="111">
                  <c:v>20</c:v>
                </c:pt>
                <c:pt idx="112">
                  <c:v>21</c:v>
                </c:pt>
                <c:pt idx="113">
                  <c:v>22</c:v>
                </c:pt>
                <c:pt idx="114">
                  <c:v>23</c:v>
                </c:pt>
                <c:pt idx="115">
                  <c:v>0</c:v>
                </c:pt>
                <c:pt idx="116">
                  <c:v>1</c:v>
                </c:pt>
                <c:pt idx="117">
                  <c:v>2</c:v>
                </c:pt>
                <c:pt idx="118">
                  <c:v>4</c:v>
                </c:pt>
                <c:pt idx="119">
                  <c:v>5</c:v>
                </c:pt>
                <c:pt idx="120">
                  <c:v>6</c:v>
                </c:pt>
                <c:pt idx="121">
                  <c:v>7</c:v>
                </c:pt>
                <c:pt idx="122">
                  <c:v>8</c:v>
                </c:pt>
                <c:pt idx="123">
                  <c:v>9</c:v>
                </c:pt>
                <c:pt idx="124">
                  <c:v>10</c:v>
                </c:pt>
                <c:pt idx="125">
                  <c:v>11</c:v>
                </c:pt>
                <c:pt idx="126">
                  <c:v>12</c:v>
                </c:pt>
                <c:pt idx="127">
                  <c:v>13</c:v>
                </c:pt>
                <c:pt idx="128">
                  <c:v>14</c:v>
                </c:pt>
                <c:pt idx="129">
                  <c:v>15</c:v>
                </c:pt>
                <c:pt idx="130">
                  <c:v>16</c:v>
                </c:pt>
                <c:pt idx="131">
                  <c:v>17</c:v>
                </c:pt>
                <c:pt idx="132">
                  <c:v>18</c:v>
                </c:pt>
                <c:pt idx="133">
                  <c:v>19</c:v>
                </c:pt>
                <c:pt idx="134">
                  <c:v>20</c:v>
                </c:pt>
                <c:pt idx="135">
                  <c:v>21</c:v>
                </c:pt>
                <c:pt idx="136">
                  <c:v>22</c:v>
                </c:pt>
                <c:pt idx="137">
                  <c:v>23</c:v>
                </c:pt>
                <c:pt idx="138">
                  <c:v>0</c:v>
                </c:pt>
                <c:pt idx="139">
                  <c:v>1</c:v>
                </c:pt>
                <c:pt idx="140">
                  <c:v>2</c:v>
                </c:pt>
                <c:pt idx="141">
                  <c:v>4</c:v>
                </c:pt>
                <c:pt idx="142">
                  <c:v>5</c:v>
                </c:pt>
                <c:pt idx="143">
                  <c:v>6</c:v>
                </c:pt>
                <c:pt idx="144">
                  <c:v>7</c:v>
                </c:pt>
                <c:pt idx="145">
                  <c:v>8</c:v>
                </c:pt>
                <c:pt idx="146">
                  <c:v>9</c:v>
                </c:pt>
                <c:pt idx="147">
                  <c:v>10</c:v>
                </c:pt>
                <c:pt idx="148">
                  <c:v>11</c:v>
                </c:pt>
                <c:pt idx="149">
                  <c:v>12</c:v>
                </c:pt>
                <c:pt idx="150">
                  <c:v>13</c:v>
                </c:pt>
                <c:pt idx="151">
                  <c:v>14</c:v>
                </c:pt>
                <c:pt idx="152">
                  <c:v>15</c:v>
                </c:pt>
                <c:pt idx="153">
                  <c:v>16</c:v>
                </c:pt>
                <c:pt idx="154">
                  <c:v>17</c:v>
                </c:pt>
                <c:pt idx="155">
                  <c:v>18</c:v>
                </c:pt>
                <c:pt idx="156">
                  <c:v>19</c:v>
                </c:pt>
                <c:pt idx="157">
                  <c:v>20</c:v>
                </c:pt>
                <c:pt idx="158">
                  <c:v>21</c:v>
                </c:pt>
                <c:pt idx="159">
                  <c:v>22</c:v>
                </c:pt>
                <c:pt idx="160">
                  <c:v>23</c:v>
                </c:pt>
                <c:pt idx="161">
                  <c:v>0</c:v>
                </c:pt>
                <c:pt idx="162">
                  <c:v>1</c:v>
                </c:pt>
                <c:pt idx="163">
                  <c:v>2</c:v>
                </c:pt>
                <c:pt idx="164">
                  <c:v>3</c:v>
                </c:pt>
                <c:pt idx="165">
                  <c:v>4</c:v>
                </c:pt>
                <c:pt idx="166">
                  <c:v>5</c:v>
                </c:pt>
                <c:pt idx="167">
                  <c:v>6</c:v>
                </c:pt>
                <c:pt idx="168">
                  <c:v>7</c:v>
                </c:pt>
                <c:pt idx="169">
                  <c:v>8</c:v>
                </c:pt>
                <c:pt idx="170">
                  <c:v>9</c:v>
                </c:pt>
                <c:pt idx="171">
                  <c:v>10</c:v>
                </c:pt>
                <c:pt idx="172">
                  <c:v>11</c:v>
                </c:pt>
                <c:pt idx="173">
                  <c:v>12</c:v>
                </c:pt>
                <c:pt idx="174">
                  <c:v>13</c:v>
                </c:pt>
                <c:pt idx="175">
                  <c:v>14</c:v>
                </c:pt>
                <c:pt idx="176">
                  <c:v>15</c:v>
                </c:pt>
                <c:pt idx="177">
                  <c:v>16</c:v>
                </c:pt>
                <c:pt idx="178">
                  <c:v>17</c:v>
                </c:pt>
                <c:pt idx="179">
                  <c:v>18</c:v>
                </c:pt>
                <c:pt idx="180">
                  <c:v>19</c:v>
                </c:pt>
                <c:pt idx="181">
                  <c:v>20</c:v>
                </c:pt>
                <c:pt idx="182">
                  <c:v>21</c:v>
                </c:pt>
                <c:pt idx="183">
                  <c:v>22</c:v>
                </c:pt>
                <c:pt idx="184">
                  <c:v>23</c:v>
                </c:pt>
                <c:pt idx="185">
                  <c:v>0</c:v>
                </c:pt>
                <c:pt idx="186">
                  <c:v>1</c:v>
                </c:pt>
                <c:pt idx="187">
                  <c:v>2</c:v>
                </c:pt>
                <c:pt idx="188">
                  <c:v>3</c:v>
                </c:pt>
                <c:pt idx="189">
                  <c:v>4</c:v>
                </c:pt>
                <c:pt idx="190">
                  <c:v>5</c:v>
                </c:pt>
                <c:pt idx="191">
                  <c:v>6</c:v>
                </c:pt>
                <c:pt idx="192">
                  <c:v>7</c:v>
                </c:pt>
                <c:pt idx="193">
                  <c:v>8</c:v>
                </c:pt>
                <c:pt idx="194">
                  <c:v>9</c:v>
                </c:pt>
                <c:pt idx="195">
                  <c:v>10</c:v>
                </c:pt>
                <c:pt idx="196">
                  <c:v>11</c:v>
                </c:pt>
                <c:pt idx="197">
                  <c:v>12</c:v>
                </c:pt>
                <c:pt idx="198">
                  <c:v>13</c:v>
                </c:pt>
                <c:pt idx="199">
                  <c:v>14</c:v>
                </c:pt>
                <c:pt idx="200">
                  <c:v>15</c:v>
                </c:pt>
                <c:pt idx="201">
                  <c:v>16</c:v>
                </c:pt>
                <c:pt idx="202">
                  <c:v>17</c:v>
                </c:pt>
                <c:pt idx="203">
                  <c:v>18</c:v>
                </c:pt>
                <c:pt idx="204">
                  <c:v>19</c:v>
                </c:pt>
                <c:pt idx="205">
                  <c:v>20</c:v>
                </c:pt>
                <c:pt idx="206">
                  <c:v>21</c:v>
                </c:pt>
                <c:pt idx="207">
                  <c:v>22</c:v>
                </c:pt>
                <c:pt idx="208">
                  <c:v>23</c:v>
                </c:pt>
                <c:pt idx="209">
                  <c:v>0</c:v>
                </c:pt>
                <c:pt idx="210">
                  <c:v>1</c:v>
                </c:pt>
                <c:pt idx="211">
                  <c:v>2</c:v>
                </c:pt>
                <c:pt idx="212">
                  <c:v>3</c:v>
                </c:pt>
                <c:pt idx="213">
                  <c:v>4</c:v>
                </c:pt>
                <c:pt idx="214">
                  <c:v>5</c:v>
                </c:pt>
                <c:pt idx="215">
                  <c:v>6</c:v>
                </c:pt>
                <c:pt idx="216">
                  <c:v>7</c:v>
                </c:pt>
                <c:pt idx="217">
                  <c:v>8</c:v>
                </c:pt>
                <c:pt idx="218">
                  <c:v>9</c:v>
                </c:pt>
                <c:pt idx="219">
                  <c:v>10</c:v>
                </c:pt>
                <c:pt idx="220">
                  <c:v>11</c:v>
                </c:pt>
                <c:pt idx="221">
                  <c:v>12</c:v>
                </c:pt>
                <c:pt idx="222">
                  <c:v>13</c:v>
                </c:pt>
                <c:pt idx="223">
                  <c:v>14</c:v>
                </c:pt>
                <c:pt idx="224">
                  <c:v>15</c:v>
                </c:pt>
                <c:pt idx="225">
                  <c:v>16</c:v>
                </c:pt>
                <c:pt idx="226">
                  <c:v>17</c:v>
                </c:pt>
                <c:pt idx="227">
                  <c:v>18</c:v>
                </c:pt>
                <c:pt idx="228">
                  <c:v>19</c:v>
                </c:pt>
                <c:pt idx="229">
                  <c:v>20</c:v>
                </c:pt>
                <c:pt idx="230">
                  <c:v>21</c:v>
                </c:pt>
                <c:pt idx="231">
                  <c:v>22</c:v>
                </c:pt>
                <c:pt idx="232">
                  <c:v>23</c:v>
                </c:pt>
                <c:pt idx="233">
                  <c:v>0</c:v>
                </c:pt>
                <c:pt idx="234">
                  <c:v>1</c:v>
                </c:pt>
                <c:pt idx="235">
                  <c:v>2</c:v>
                </c:pt>
                <c:pt idx="236">
                  <c:v>5</c:v>
                </c:pt>
                <c:pt idx="237">
                  <c:v>6</c:v>
                </c:pt>
                <c:pt idx="238">
                  <c:v>7</c:v>
                </c:pt>
                <c:pt idx="239">
                  <c:v>8</c:v>
                </c:pt>
                <c:pt idx="240">
                  <c:v>9</c:v>
                </c:pt>
                <c:pt idx="241">
                  <c:v>10</c:v>
                </c:pt>
                <c:pt idx="242">
                  <c:v>11</c:v>
                </c:pt>
                <c:pt idx="243">
                  <c:v>12</c:v>
                </c:pt>
                <c:pt idx="244">
                  <c:v>13</c:v>
                </c:pt>
                <c:pt idx="245">
                  <c:v>14</c:v>
                </c:pt>
                <c:pt idx="246">
                  <c:v>15</c:v>
                </c:pt>
                <c:pt idx="247">
                  <c:v>16</c:v>
                </c:pt>
                <c:pt idx="248">
                  <c:v>17</c:v>
                </c:pt>
                <c:pt idx="249">
                  <c:v>18</c:v>
                </c:pt>
                <c:pt idx="250">
                  <c:v>19</c:v>
                </c:pt>
                <c:pt idx="251">
                  <c:v>20</c:v>
                </c:pt>
                <c:pt idx="252">
                  <c:v>21</c:v>
                </c:pt>
                <c:pt idx="253">
                  <c:v>22</c:v>
                </c:pt>
                <c:pt idx="254">
                  <c:v>23</c:v>
                </c:pt>
                <c:pt idx="255">
                  <c:v>0</c:v>
                </c:pt>
                <c:pt idx="256">
                  <c:v>1</c:v>
                </c:pt>
                <c:pt idx="257">
                  <c:v>2</c:v>
                </c:pt>
                <c:pt idx="258">
                  <c:v>5</c:v>
                </c:pt>
                <c:pt idx="259">
                  <c:v>6</c:v>
                </c:pt>
                <c:pt idx="260">
                  <c:v>7</c:v>
                </c:pt>
                <c:pt idx="261">
                  <c:v>8</c:v>
                </c:pt>
                <c:pt idx="262">
                  <c:v>9</c:v>
                </c:pt>
                <c:pt idx="263">
                  <c:v>10</c:v>
                </c:pt>
                <c:pt idx="264">
                  <c:v>11</c:v>
                </c:pt>
                <c:pt idx="265">
                  <c:v>12</c:v>
                </c:pt>
                <c:pt idx="266">
                  <c:v>13</c:v>
                </c:pt>
                <c:pt idx="267">
                  <c:v>14</c:v>
                </c:pt>
                <c:pt idx="268">
                  <c:v>15</c:v>
                </c:pt>
                <c:pt idx="269">
                  <c:v>16</c:v>
                </c:pt>
                <c:pt idx="270">
                  <c:v>17</c:v>
                </c:pt>
                <c:pt idx="271">
                  <c:v>18</c:v>
                </c:pt>
                <c:pt idx="272">
                  <c:v>19</c:v>
                </c:pt>
                <c:pt idx="273">
                  <c:v>20</c:v>
                </c:pt>
                <c:pt idx="274">
                  <c:v>21</c:v>
                </c:pt>
                <c:pt idx="275">
                  <c:v>22</c:v>
                </c:pt>
                <c:pt idx="276">
                  <c:v>23</c:v>
                </c:pt>
                <c:pt idx="277">
                  <c:v>0</c:v>
                </c:pt>
                <c:pt idx="278">
                  <c:v>1</c:v>
                </c:pt>
                <c:pt idx="279">
                  <c:v>2</c:v>
                </c:pt>
                <c:pt idx="280">
                  <c:v>3</c:v>
                </c:pt>
                <c:pt idx="281">
                  <c:v>4</c:v>
                </c:pt>
                <c:pt idx="282">
                  <c:v>5</c:v>
                </c:pt>
                <c:pt idx="283">
                  <c:v>6</c:v>
                </c:pt>
                <c:pt idx="284">
                  <c:v>7</c:v>
                </c:pt>
                <c:pt idx="285">
                  <c:v>8</c:v>
                </c:pt>
                <c:pt idx="286">
                  <c:v>9</c:v>
                </c:pt>
                <c:pt idx="287">
                  <c:v>10</c:v>
                </c:pt>
                <c:pt idx="288">
                  <c:v>11</c:v>
                </c:pt>
                <c:pt idx="289">
                  <c:v>12</c:v>
                </c:pt>
                <c:pt idx="290">
                  <c:v>13</c:v>
                </c:pt>
                <c:pt idx="291">
                  <c:v>14</c:v>
                </c:pt>
                <c:pt idx="292">
                  <c:v>15</c:v>
                </c:pt>
                <c:pt idx="293">
                  <c:v>16</c:v>
                </c:pt>
                <c:pt idx="294">
                  <c:v>17</c:v>
                </c:pt>
                <c:pt idx="295">
                  <c:v>18</c:v>
                </c:pt>
                <c:pt idx="296">
                  <c:v>19</c:v>
                </c:pt>
                <c:pt idx="297">
                  <c:v>20</c:v>
                </c:pt>
                <c:pt idx="298">
                  <c:v>21</c:v>
                </c:pt>
                <c:pt idx="299">
                  <c:v>22</c:v>
                </c:pt>
                <c:pt idx="300">
                  <c:v>23</c:v>
                </c:pt>
                <c:pt idx="301">
                  <c:v>0</c:v>
                </c:pt>
                <c:pt idx="302">
                  <c:v>1</c:v>
                </c:pt>
                <c:pt idx="303">
                  <c:v>2</c:v>
                </c:pt>
                <c:pt idx="304">
                  <c:v>3</c:v>
                </c:pt>
                <c:pt idx="305">
                  <c:v>5</c:v>
                </c:pt>
                <c:pt idx="306">
                  <c:v>6</c:v>
                </c:pt>
                <c:pt idx="307">
                  <c:v>7</c:v>
                </c:pt>
                <c:pt idx="308">
                  <c:v>8</c:v>
                </c:pt>
                <c:pt idx="309">
                  <c:v>9</c:v>
                </c:pt>
                <c:pt idx="310">
                  <c:v>10</c:v>
                </c:pt>
                <c:pt idx="311">
                  <c:v>11</c:v>
                </c:pt>
                <c:pt idx="312">
                  <c:v>12</c:v>
                </c:pt>
                <c:pt idx="313">
                  <c:v>13</c:v>
                </c:pt>
                <c:pt idx="314">
                  <c:v>14</c:v>
                </c:pt>
                <c:pt idx="315">
                  <c:v>15</c:v>
                </c:pt>
                <c:pt idx="316">
                  <c:v>16</c:v>
                </c:pt>
                <c:pt idx="317">
                  <c:v>17</c:v>
                </c:pt>
                <c:pt idx="318">
                  <c:v>18</c:v>
                </c:pt>
                <c:pt idx="319">
                  <c:v>19</c:v>
                </c:pt>
                <c:pt idx="320">
                  <c:v>20</c:v>
                </c:pt>
                <c:pt idx="321">
                  <c:v>21</c:v>
                </c:pt>
                <c:pt idx="322">
                  <c:v>22</c:v>
                </c:pt>
                <c:pt idx="323">
                  <c:v>23</c:v>
                </c:pt>
                <c:pt idx="324">
                  <c:v>0</c:v>
                </c:pt>
                <c:pt idx="325">
                  <c:v>1</c:v>
                </c:pt>
                <c:pt idx="326">
                  <c:v>2</c:v>
                </c:pt>
                <c:pt idx="327">
                  <c:v>3</c:v>
                </c:pt>
                <c:pt idx="328">
                  <c:v>4</c:v>
                </c:pt>
                <c:pt idx="329">
                  <c:v>5</c:v>
                </c:pt>
                <c:pt idx="330">
                  <c:v>6</c:v>
                </c:pt>
                <c:pt idx="331">
                  <c:v>7</c:v>
                </c:pt>
                <c:pt idx="332">
                  <c:v>8</c:v>
                </c:pt>
                <c:pt idx="333">
                  <c:v>9</c:v>
                </c:pt>
                <c:pt idx="334">
                  <c:v>10</c:v>
                </c:pt>
                <c:pt idx="335">
                  <c:v>11</c:v>
                </c:pt>
                <c:pt idx="336">
                  <c:v>12</c:v>
                </c:pt>
                <c:pt idx="337">
                  <c:v>13</c:v>
                </c:pt>
                <c:pt idx="338">
                  <c:v>14</c:v>
                </c:pt>
                <c:pt idx="339">
                  <c:v>15</c:v>
                </c:pt>
                <c:pt idx="340">
                  <c:v>16</c:v>
                </c:pt>
                <c:pt idx="341">
                  <c:v>17</c:v>
                </c:pt>
                <c:pt idx="342">
                  <c:v>18</c:v>
                </c:pt>
                <c:pt idx="343">
                  <c:v>19</c:v>
                </c:pt>
                <c:pt idx="344">
                  <c:v>20</c:v>
                </c:pt>
                <c:pt idx="345">
                  <c:v>21</c:v>
                </c:pt>
                <c:pt idx="346">
                  <c:v>22</c:v>
                </c:pt>
                <c:pt idx="347">
                  <c:v>23</c:v>
                </c:pt>
                <c:pt idx="348">
                  <c:v>0</c:v>
                </c:pt>
                <c:pt idx="349">
                  <c:v>1</c:v>
                </c:pt>
                <c:pt idx="350">
                  <c:v>2</c:v>
                </c:pt>
                <c:pt idx="351">
                  <c:v>3</c:v>
                </c:pt>
                <c:pt idx="352">
                  <c:v>4</c:v>
                </c:pt>
                <c:pt idx="353">
                  <c:v>5</c:v>
                </c:pt>
                <c:pt idx="354">
                  <c:v>6</c:v>
                </c:pt>
                <c:pt idx="355">
                  <c:v>7</c:v>
                </c:pt>
                <c:pt idx="356">
                  <c:v>8</c:v>
                </c:pt>
                <c:pt idx="357">
                  <c:v>9</c:v>
                </c:pt>
                <c:pt idx="358">
                  <c:v>10</c:v>
                </c:pt>
                <c:pt idx="359">
                  <c:v>11</c:v>
                </c:pt>
                <c:pt idx="360">
                  <c:v>12</c:v>
                </c:pt>
                <c:pt idx="361">
                  <c:v>13</c:v>
                </c:pt>
                <c:pt idx="362">
                  <c:v>14</c:v>
                </c:pt>
                <c:pt idx="363">
                  <c:v>15</c:v>
                </c:pt>
                <c:pt idx="364">
                  <c:v>16</c:v>
                </c:pt>
                <c:pt idx="365">
                  <c:v>17</c:v>
                </c:pt>
                <c:pt idx="366">
                  <c:v>18</c:v>
                </c:pt>
                <c:pt idx="367">
                  <c:v>19</c:v>
                </c:pt>
                <c:pt idx="368">
                  <c:v>20</c:v>
                </c:pt>
                <c:pt idx="369">
                  <c:v>21</c:v>
                </c:pt>
                <c:pt idx="370">
                  <c:v>22</c:v>
                </c:pt>
                <c:pt idx="371">
                  <c:v>23</c:v>
                </c:pt>
                <c:pt idx="372">
                  <c:v>0</c:v>
                </c:pt>
                <c:pt idx="373">
                  <c:v>1</c:v>
                </c:pt>
                <c:pt idx="374">
                  <c:v>2</c:v>
                </c:pt>
                <c:pt idx="375">
                  <c:v>3</c:v>
                </c:pt>
                <c:pt idx="376">
                  <c:v>4</c:v>
                </c:pt>
                <c:pt idx="377">
                  <c:v>5</c:v>
                </c:pt>
                <c:pt idx="378">
                  <c:v>6</c:v>
                </c:pt>
                <c:pt idx="379">
                  <c:v>7</c:v>
                </c:pt>
                <c:pt idx="380">
                  <c:v>8</c:v>
                </c:pt>
                <c:pt idx="381">
                  <c:v>9</c:v>
                </c:pt>
                <c:pt idx="382">
                  <c:v>10</c:v>
                </c:pt>
                <c:pt idx="383">
                  <c:v>11</c:v>
                </c:pt>
                <c:pt idx="384">
                  <c:v>12</c:v>
                </c:pt>
                <c:pt idx="385">
                  <c:v>13</c:v>
                </c:pt>
                <c:pt idx="386">
                  <c:v>14</c:v>
                </c:pt>
                <c:pt idx="387">
                  <c:v>15</c:v>
                </c:pt>
                <c:pt idx="388">
                  <c:v>16</c:v>
                </c:pt>
                <c:pt idx="389">
                  <c:v>17</c:v>
                </c:pt>
                <c:pt idx="390">
                  <c:v>18</c:v>
                </c:pt>
                <c:pt idx="391">
                  <c:v>19</c:v>
                </c:pt>
                <c:pt idx="392">
                  <c:v>20</c:v>
                </c:pt>
                <c:pt idx="393">
                  <c:v>21</c:v>
                </c:pt>
                <c:pt idx="394">
                  <c:v>22</c:v>
                </c:pt>
                <c:pt idx="395">
                  <c:v>23</c:v>
                </c:pt>
                <c:pt idx="396">
                  <c:v>12</c:v>
                </c:pt>
                <c:pt idx="397">
                  <c:v>13</c:v>
                </c:pt>
                <c:pt idx="398">
                  <c:v>14</c:v>
                </c:pt>
                <c:pt idx="399">
                  <c:v>15</c:v>
                </c:pt>
                <c:pt idx="400">
                  <c:v>16</c:v>
                </c:pt>
                <c:pt idx="401">
                  <c:v>17</c:v>
                </c:pt>
                <c:pt idx="402">
                  <c:v>18</c:v>
                </c:pt>
                <c:pt idx="403">
                  <c:v>19</c:v>
                </c:pt>
                <c:pt idx="404">
                  <c:v>20</c:v>
                </c:pt>
                <c:pt idx="405">
                  <c:v>21</c:v>
                </c:pt>
                <c:pt idx="406">
                  <c:v>22</c:v>
                </c:pt>
                <c:pt idx="407">
                  <c:v>23</c:v>
                </c:pt>
                <c:pt idx="408">
                  <c:v>0</c:v>
                </c:pt>
                <c:pt idx="409">
                  <c:v>1</c:v>
                </c:pt>
                <c:pt idx="410">
                  <c:v>2</c:v>
                </c:pt>
                <c:pt idx="411">
                  <c:v>4</c:v>
                </c:pt>
                <c:pt idx="412">
                  <c:v>5</c:v>
                </c:pt>
                <c:pt idx="413">
                  <c:v>6</c:v>
                </c:pt>
                <c:pt idx="414">
                  <c:v>7</c:v>
                </c:pt>
                <c:pt idx="415">
                  <c:v>8</c:v>
                </c:pt>
                <c:pt idx="416">
                  <c:v>9</c:v>
                </c:pt>
                <c:pt idx="417">
                  <c:v>10</c:v>
                </c:pt>
                <c:pt idx="418">
                  <c:v>11</c:v>
                </c:pt>
                <c:pt idx="419">
                  <c:v>12</c:v>
                </c:pt>
                <c:pt idx="420">
                  <c:v>13</c:v>
                </c:pt>
                <c:pt idx="421">
                  <c:v>14</c:v>
                </c:pt>
                <c:pt idx="422">
                  <c:v>15</c:v>
                </c:pt>
                <c:pt idx="423">
                  <c:v>16</c:v>
                </c:pt>
                <c:pt idx="424">
                  <c:v>17</c:v>
                </c:pt>
                <c:pt idx="425">
                  <c:v>18</c:v>
                </c:pt>
                <c:pt idx="426">
                  <c:v>19</c:v>
                </c:pt>
                <c:pt idx="427">
                  <c:v>20</c:v>
                </c:pt>
                <c:pt idx="428">
                  <c:v>21</c:v>
                </c:pt>
                <c:pt idx="429">
                  <c:v>22</c:v>
                </c:pt>
                <c:pt idx="430">
                  <c:v>23</c:v>
                </c:pt>
                <c:pt idx="431">
                  <c:v>0</c:v>
                </c:pt>
                <c:pt idx="432">
                  <c:v>1</c:v>
                </c:pt>
                <c:pt idx="433">
                  <c:v>2</c:v>
                </c:pt>
                <c:pt idx="434">
                  <c:v>3</c:v>
                </c:pt>
                <c:pt idx="435">
                  <c:v>4</c:v>
                </c:pt>
                <c:pt idx="436">
                  <c:v>5</c:v>
                </c:pt>
                <c:pt idx="437">
                  <c:v>6</c:v>
                </c:pt>
                <c:pt idx="438">
                  <c:v>7</c:v>
                </c:pt>
                <c:pt idx="439">
                  <c:v>8</c:v>
                </c:pt>
                <c:pt idx="440">
                  <c:v>9</c:v>
                </c:pt>
                <c:pt idx="441">
                  <c:v>10</c:v>
                </c:pt>
                <c:pt idx="442">
                  <c:v>11</c:v>
                </c:pt>
                <c:pt idx="443">
                  <c:v>12</c:v>
                </c:pt>
                <c:pt idx="444">
                  <c:v>13</c:v>
                </c:pt>
                <c:pt idx="445">
                  <c:v>14</c:v>
                </c:pt>
                <c:pt idx="446">
                  <c:v>15</c:v>
                </c:pt>
                <c:pt idx="447">
                  <c:v>16</c:v>
                </c:pt>
                <c:pt idx="448">
                  <c:v>17</c:v>
                </c:pt>
                <c:pt idx="449">
                  <c:v>18</c:v>
                </c:pt>
                <c:pt idx="450">
                  <c:v>19</c:v>
                </c:pt>
                <c:pt idx="451">
                  <c:v>20</c:v>
                </c:pt>
                <c:pt idx="452">
                  <c:v>21</c:v>
                </c:pt>
                <c:pt idx="453">
                  <c:v>22</c:v>
                </c:pt>
                <c:pt idx="454">
                  <c:v>23</c:v>
                </c:pt>
                <c:pt idx="455">
                  <c:v>0</c:v>
                </c:pt>
                <c:pt idx="456">
                  <c:v>1</c:v>
                </c:pt>
                <c:pt idx="457">
                  <c:v>2</c:v>
                </c:pt>
                <c:pt idx="458">
                  <c:v>3</c:v>
                </c:pt>
                <c:pt idx="459">
                  <c:v>4</c:v>
                </c:pt>
                <c:pt idx="460">
                  <c:v>5</c:v>
                </c:pt>
                <c:pt idx="461">
                  <c:v>6</c:v>
                </c:pt>
                <c:pt idx="462">
                  <c:v>7</c:v>
                </c:pt>
                <c:pt idx="463">
                  <c:v>8</c:v>
                </c:pt>
                <c:pt idx="464">
                  <c:v>9</c:v>
                </c:pt>
                <c:pt idx="465">
                  <c:v>10</c:v>
                </c:pt>
                <c:pt idx="466">
                  <c:v>11</c:v>
                </c:pt>
                <c:pt idx="467">
                  <c:v>12</c:v>
                </c:pt>
                <c:pt idx="468">
                  <c:v>13</c:v>
                </c:pt>
                <c:pt idx="469">
                  <c:v>14</c:v>
                </c:pt>
                <c:pt idx="470">
                  <c:v>15</c:v>
                </c:pt>
                <c:pt idx="471">
                  <c:v>16</c:v>
                </c:pt>
                <c:pt idx="472">
                  <c:v>17</c:v>
                </c:pt>
                <c:pt idx="473">
                  <c:v>18</c:v>
                </c:pt>
                <c:pt idx="474">
                  <c:v>19</c:v>
                </c:pt>
                <c:pt idx="475">
                  <c:v>20</c:v>
                </c:pt>
                <c:pt idx="476">
                  <c:v>21</c:v>
                </c:pt>
                <c:pt idx="477">
                  <c:v>22</c:v>
                </c:pt>
                <c:pt idx="478">
                  <c:v>23</c:v>
                </c:pt>
                <c:pt idx="479">
                  <c:v>0</c:v>
                </c:pt>
                <c:pt idx="480">
                  <c:v>1</c:v>
                </c:pt>
                <c:pt idx="481">
                  <c:v>2</c:v>
                </c:pt>
                <c:pt idx="482">
                  <c:v>3</c:v>
                </c:pt>
                <c:pt idx="483">
                  <c:v>4</c:v>
                </c:pt>
                <c:pt idx="484">
                  <c:v>6</c:v>
                </c:pt>
                <c:pt idx="485">
                  <c:v>7</c:v>
                </c:pt>
                <c:pt idx="486">
                  <c:v>8</c:v>
                </c:pt>
                <c:pt idx="487">
                  <c:v>9</c:v>
                </c:pt>
                <c:pt idx="488">
                  <c:v>10</c:v>
                </c:pt>
                <c:pt idx="489">
                  <c:v>11</c:v>
                </c:pt>
                <c:pt idx="490">
                  <c:v>12</c:v>
                </c:pt>
                <c:pt idx="491">
                  <c:v>13</c:v>
                </c:pt>
                <c:pt idx="492">
                  <c:v>14</c:v>
                </c:pt>
                <c:pt idx="493">
                  <c:v>15</c:v>
                </c:pt>
                <c:pt idx="494">
                  <c:v>16</c:v>
                </c:pt>
                <c:pt idx="495">
                  <c:v>17</c:v>
                </c:pt>
                <c:pt idx="496">
                  <c:v>18</c:v>
                </c:pt>
                <c:pt idx="497">
                  <c:v>19</c:v>
                </c:pt>
                <c:pt idx="498">
                  <c:v>20</c:v>
                </c:pt>
                <c:pt idx="499">
                  <c:v>21</c:v>
                </c:pt>
                <c:pt idx="500">
                  <c:v>22</c:v>
                </c:pt>
                <c:pt idx="501">
                  <c:v>23</c:v>
                </c:pt>
                <c:pt idx="502">
                  <c:v>0</c:v>
                </c:pt>
                <c:pt idx="503">
                  <c:v>1</c:v>
                </c:pt>
                <c:pt idx="504">
                  <c:v>2</c:v>
                </c:pt>
                <c:pt idx="505">
                  <c:v>3</c:v>
                </c:pt>
                <c:pt idx="506">
                  <c:v>5</c:v>
                </c:pt>
                <c:pt idx="507">
                  <c:v>6</c:v>
                </c:pt>
                <c:pt idx="508">
                  <c:v>7</c:v>
                </c:pt>
                <c:pt idx="509">
                  <c:v>8</c:v>
                </c:pt>
                <c:pt idx="510">
                  <c:v>9</c:v>
                </c:pt>
                <c:pt idx="511">
                  <c:v>10</c:v>
                </c:pt>
                <c:pt idx="512">
                  <c:v>11</c:v>
                </c:pt>
                <c:pt idx="513">
                  <c:v>12</c:v>
                </c:pt>
                <c:pt idx="514">
                  <c:v>13</c:v>
                </c:pt>
                <c:pt idx="515">
                  <c:v>14</c:v>
                </c:pt>
                <c:pt idx="516">
                  <c:v>15</c:v>
                </c:pt>
                <c:pt idx="517">
                  <c:v>16</c:v>
                </c:pt>
                <c:pt idx="518">
                  <c:v>17</c:v>
                </c:pt>
                <c:pt idx="519">
                  <c:v>18</c:v>
                </c:pt>
                <c:pt idx="520">
                  <c:v>19</c:v>
                </c:pt>
                <c:pt idx="521">
                  <c:v>20</c:v>
                </c:pt>
                <c:pt idx="522">
                  <c:v>21</c:v>
                </c:pt>
                <c:pt idx="523">
                  <c:v>22</c:v>
                </c:pt>
                <c:pt idx="524">
                  <c:v>23</c:v>
                </c:pt>
                <c:pt idx="525">
                  <c:v>0</c:v>
                </c:pt>
                <c:pt idx="526">
                  <c:v>1</c:v>
                </c:pt>
                <c:pt idx="527">
                  <c:v>3</c:v>
                </c:pt>
                <c:pt idx="528">
                  <c:v>4</c:v>
                </c:pt>
                <c:pt idx="529">
                  <c:v>5</c:v>
                </c:pt>
                <c:pt idx="530">
                  <c:v>6</c:v>
                </c:pt>
                <c:pt idx="531">
                  <c:v>7</c:v>
                </c:pt>
                <c:pt idx="532">
                  <c:v>8</c:v>
                </c:pt>
                <c:pt idx="533">
                  <c:v>9</c:v>
                </c:pt>
                <c:pt idx="534">
                  <c:v>10</c:v>
                </c:pt>
                <c:pt idx="535">
                  <c:v>11</c:v>
                </c:pt>
                <c:pt idx="536">
                  <c:v>12</c:v>
                </c:pt>
                <c:pt idx="537">
                  <c:v>13</c:v>
                </c:pt>
                <c:pt idx="538">
                  <c:v>14</c:v>
                </c:pt>
                <c:pt idx="539">
                  <c:v>15</c:v>
                </c:pt>
                <c:pt idx="540">
                  <c:v>16</c:v>
                </c:pt>
                <c:pt idx="541">
                  <c:v>17</c:v>
                </c:pt>
                <c:pt idx="542">
                  <c:v>18</c:v>
                </c:pt>
                <c:pt idx="543">
                  <c:v>19</c:v>
                </c:pt>
                <c:pt idx="544">
                  <c:v>20</c:v>
                </c:pt>
                <c:pt idx="545">
                  <c:v>21</c:v>
                </c:pt>
                <c:pt idx="546">
                  <c:v>22</c:v>
                </c:pt>
                <c:pt idx="547">
                  <c:v>23</c:v>
                </c:pt>
                <c:pt idx="548">
                  <c:v>0</c:v>
                </c:pt>
                <c:pt idx="549">
                  <c:v>1</c:v>
                </c:pt>
                <c:pt idx="550">
                  <c:v>2</c:v>
                </c:pt>
                <c:pt idx="551">
                  <c:v>4</c:v>
                </c:pt>
                <c:pt idx="552">
                  <c:v>5</c:v>
                </c:pt>
                <c:pt idx="553">
                  <c:v>6</c:v>
                </c:pt>
                <c:pt idx="554">
                  <c:v>7</c:v>
                </c:pt>
                <c:pt idx="555">
                  <c:v>8</c:v>
                </c:pt>
                <c:pt idx="556">
                  <c:v>9</c:v>
                </c:pt>
                <c:pt idx="557">
                  <c:v>10</c:v>
                </c:pt>
                <c:pt idx="558">
                  <c:v>11</c:v>
                </c:pt>
                <c:pt idx="559">
                  <c:v>12</c:v>
                </c:pt>
                <c:pt idx="560">
                  <c:v>13</c:v>
                </c:pt>
                <c:pt idx="561">
                  <c:v>14</c:v>
                </c:pt>
                <c:pt idx="562">
                  <c:v>15</c:v>
                </c:pt>
                <c:pt idx="563">
                  <c:v>16</c:v>
                </c:pt>
                <c:pt idx="564">
                  <c:v>17</c:v>
                </c:pt>
                <c:pt idx="565">
                  <c:v>18</c:v>
                </c:pt>
                <c:pt idx="566">
                  <c:v>19</c:v>
                </c:pt>
                <c:pt idx="567">
                  <c:v>20</c:v>
                </c:pt>
                <c:pt idx="568">
                  <c:v>21</c:v>
                </c:pt>
                <c:pt idx="569">
                  <c:v>22</c:v>
                </c:pt>
                <c:pt idx="570">
                  <c:v>23</c:v>
                </c:pt>
                <c:pt idx="571">
                  <c:v>0</c:v>
                </c:pt>
                <c:pt idx="572">
                  <c:v>1</c:v>
                </c:pt>
                <c:pt idx="573">
                  <c:v>2</c:v>
                </c:pt>
                <c:pt idx="574">
                  <c:v>5</c:v>
                </c:pt>
                <c:pt idx="575">
                  <c:v>6</c:v>
                </c:pt>
                <c:pt idx="576">
                  <c:v>7</c:v>
                </c:pt>
                <c:pt idx="577">
                  <c:v>8</c:v>
                </c:pt>
                <c:pt idx="578">
                  <c:v>9</c:v>
                </c:pt>
                <c:pt idx="579">
                  <c:v>10</c:v>
                </c:pt>
                <c:pt idx="580">
                  <c:v>11</c:v>
                </c:pt>
                <c:pt idx="581">
                  <c:v>12</c:v>
                </c:pt>
                <c:pt idx="582">
                  <c:v>13</c:v>
                </c:pt>
                <c:pt idx="583">
                  <c:v>14</c:v>
                </c:pt>
                <c:pt idx="584">
                  <c:v>15</c:v>
                </c:pt>
                <c:pt idx="585">
                  <c:v>16</c:v>
                </c:pt>
                <c:pt idx="586">
                  <c:v>17</c:v>
                </c:pt>
                <c:pt idx="587">
                  <c:v>16</c:v>
                </c:pt>
                <c:pt idx="588">
                  <c:v>17</c:v>
                </c:pt>
                <c:pt idx="589">
                  <c:v>18</c:v>
                </c:pt>
                <c:pt idx="590">
                  <c:v>19</c:v>
                </c:pt>
                <c:pt idx="591">
                  <c:v>20</c:v>
                </c:pt>
                <c:pt idx="592">
                  <c:v>21</c:v>
                </c:pt>
                <c:pt idx="593">
                  <c:v>22</c:v>
                </c:pt>
                <c:pt idx="594">
                  <c:v>23</c:v>
                </c:pt>
                <c:pt idx="595">
                  <c:v>0</c:v>
                </c:pt>
                <c:pt idx="596">
                  <c:v>1</c:v>
                </c:pt>
                <c:pt idx="597">
                  <c:v>2</c:v>
                </c:pt>
                <c:pt idx="598">
                  <c:v>3</c:v>
                </c:pt>
                <c:pt idx="599">
                  <c:v>5</c:v>
                </c:pt>
                <c:pt idx="600">
                  <c:v>6</c:v>
                </c:pt>
                <c:pt idx="601">
                  <c:v>7</c:v>
                </c:pt>
                <c:pt idx="602">
                  <c:v>8</c:v>
                </c:pt>
                <c:pt idx="603">
                  <c:v>9</c:v>
                </c:pt>
                <c:pt idx="604">
                  <c:v>10</c:v>
                </c:pt>
                <c:pt idx="605">
                  <c:v>11</c:v>
                </c:pt>
                <c:pt idx="606">
                  <c:v>12</c:v>
                </c:pt>
                <c:pt idx="607">
                  <c:v>13</c:v>
                </c:pt>
                <c:pt idx="608">
                  <c:v>14</c:v>
                </c:pt>
                <c:pt idx="609">
                  <c:v>15</c:v>
                </c:pt>
                <c:pt idx="610">
                  <c:v>16</c:v>
                </c:pt>
                <c:pt idx="611">
                  <c:v>17</c:v>
                </c:pt>
                <c:pt idx="612">
                  <c:v>18</c:v>
                </c:pt>
                <c:pt idx="613">
                  <c:v>19</c:v>
                </c:pt>
                <c:pt idx="614">
                  <c:v>20</c:v>
                </c:pt>
                <c:pt idx="615">
                  <c:v>21</c:v>
                </c:pt>
                <c:pt idx="616">
                  <c:v>22</c:v>
                </c:pt>
                <c:pt idx="617">
                  <c:v>23</c:v>
                </c:pt>
                <c:pt idx="618">
                  <c:v>0</c:v>
                </c:pt>
                <c:pt idx="619">
                  <c:v>1</c:v>
                </c:pt>
                <c:pt idx="620">
                  <c:v>2</c:v>
                </c:pt>
                <c:pt idx="621">
                  <c:v>3</c:v>
                </c:pt>
                <c:pt idx="622">
                  <c:v>4</c:v>
                </c:pt>
                <c:pt idx="623">
                  <c:v>6</c:v>
                </c:pt>
                <c:pt idx="624">
                  <c:v>7</c:v>
                </c:pt>
                <c:pt idx="625">
                  <c:v>8</c:v>
                </c:pt>
                <c:pt idx="626">
                  <c:v>9</c:v>
                </c:pt>
                <c:pt idx="627">
                  <c:v>10</c:v>
                </c:pt>
                <c:pt idx="628">
                  <c:v>11</c:v>
                </c:pt>
                <c:pt idx="629">
                  <c:v>12</c:v>
                </c:pt>
                <c:pt idx="630">
                  <c:v>13</c:v>
                </c:pt>
                <c:pt idx="631">
                  <c:v>14</c:v>
                </c:pt>
                <c:pt idx="632">
                  <c:v>15</c:v>
                </c:pt>
                <c:pt idx="633">
                  <c:v>16</c:v>
                </c:pt>
                <c:pt idx="634">
                  <c:v>17</c:v>
                </c:pt>
                <c:pt idx="635">
                  <c:v>18</c:v>
                </c:pt>
                <c:pt idx="636">
                  <c:v>19</c:v>
                </c:pt>
                <c:pt idx="637">
                  <c:v>20</c:v>
                </c:pt>
                <c:pt idx="638">
                  <c:v>21</c:v>
                </c:pt>
                <c:pt idx="639">
                  <c:v>22</c:v>
                </c:pt>
                <c:pt idx="640">
                  <c:v>23</c:v>
                </c:pt>
                <c:pt idx="641">
                  <c:v>0</c:v>
                </c:pt>
                <c:pt idx="642">
                  <c:v>1</c:v>
                </c:pt>
                <c:pt idx="643">
                  <c:v>2</c:v>
                </c:pt>
                <c:pt idx="644">
                  <c:v>3</c:v>
                </c:pt>
                <c:pt idx="645">
                  <c:v>4</c:v>
                </c:pt>
                <c:pt idx="646">
                  <c:v>5</c:v>
                </c:pt>
                <c:pt idx="647">
                  <c:v>7</c:v>
                </c:pt>
                <c:pt idx="648">
                  <c:v>8</c:v>
                </c:pt>
                <c:pt idx="649">
                  <c:v>9</c:v>
                </c:pt>
                <c:pt idx="650">
                  <c:v>10</c:v>
                </c:pt>
                <c:pt idx="651">
                  <c:v>11</c:v>
                </c:pt>
                <c:pt idx="652">
                  <c:v>12</c:v>
                </c:pt>
                <c:pt idx="653">
                  <c:v>13</c:v>
                </c:pt>
                <c:pt idx="654">
                  <c:v>14</c:v>
                </c:pt>
                <c:pt idx="655">
                  <c:v>15</c:v>
                </c:pt>
                <c:pt idx="656">
                  <c:v>16</c:v>
                </c:pt>
                <c:pt idx="657">
                  <c:v>17</c:v>
                </c:pt>
                <c:pt idx="658">
                  <c:v>18</c:v>
                </c:pt>
                <c:pt idx="659">
                  <c:v>19</c:v>
                </c:pt>
                <c:pt idx="660">
                  <c:v>20</c:v>
                </c:pt>
                <c:pt idx="661">
                  <c:v>21</c:v>
                </c:pt>
                <c:pt idx="662">
                  <c:v>22</c:v>
                </c:pt>
                <c:pt idx="663">
                  <c:v>23</c:v>
                </c:pt>
                <c:pt idx="664">
                  <c:v>0</c:v>
                </c:pt>
                <c:pt idx="665">
                  <c:v>1</c:v>
                </c:pt>
                <c:pt idx="666">
                  <c:v>2</c:v>
                </c:pt>
                <c:pt idx="667">
                  <c:v>3</c:v>
                </c:pt>
                <c:pt idx="668">
                  <c:v>4</c:v>
                </c:pt>
                <c:pt idx="669">
                  <c:v>5</c:v>
                </c:pt>
                <c:pt idx="670">
                  <c:v>6</c:v>
                </c:pt>
                <c:pt idx="671">
                  <c:v>7</c:v>
                </c:pt>
                <c:pt idx="672">
                  <c:v>8</c:v>
                </c:pt>
                <c:pt idx="673">
                  <c:v>9</c:v>
                </c:pt>
                <c:pt idx="674">
                  <c:v>10</c:v>
                </c:pt>
                <c:pt idx="675">
                  <c:v>11</c:v>
                </c:pt>
                <c:pt idx="676">
                  <c:v>12</c:v>
                </c:pt>
                <c:pt idx="677">
                  <c:v>13</c:v>
                </c:pt>
                <c:pt idx="678">
                  <c:v>14</c:v>
                </c:pt>
                <c:pt idx="679">
                  <c:v>15</c:v>
                </c:pt>
                <c:pt idx="680">
                  <c:v>16</c:v>
                </c:pt>
                <c:pt idx="681">
                  <c:v>17</c:v>
                </c:pt>
                <c:pt idx="682">
                  <c:v>18</c:v>
                </c:pt>
                <c:pt idx="683">
                  <c:v>19</c:v>
                </c:pt>
                <c:pt idx="684">
                  <c:v>20</c:v>
                </c:pt>
                <c:pt idx="685">
                  <c:v>21</c:v>
                </c:pt>
                <c:pt idx="686">
                  <c:v>22</c:v>
                </c:pt>
                <c:pt idx="687">
                  <c:v>23</c:v>
                </c:pt>
                <c:pt idx="688">
                  <c:v>0</c:v>
                </c:pt>
                <c:pt idx="689">
                  <c:v>1</c:v>
                </c:pt>
                <c:pt idx="690">
                  <c:v>2</c:v>
                </c:pt>
                <c:pt idx="691">
                  <c:v>3</c:v>
                </c:pt>
                <c:pt idx="692">
                  <c:v>5</c:v>
                </c:pt>
                <c:pt idx="693">
                  <c:v>6</c:v>
                </c:pt>
                <c:pt idx="694">
                  <c:v>7</c:v>
                </c:pt>
                <c:pt idx="695">
                  <c:v>8</c:v>
                </c:pt>
                <c:pt idx="696">
                  <c:v>9</c:v>
                </c:pt>
                <c:pt idx="697">
                  <c:v>10</c:v>
                </c:pt>
                <c:pt idx="698">
                  <c:v>11</c:v>
                </c:pt>
                <c:pt idx="699">
                  <c:v>12</c:v>
                </c:pt>
                <c:pt idx="700">
                  <c:v>13</c:v>
                </c:pt>
                <c:pt idx="701">
                  <c:v>14</c:v>
                </c:pt>
                <c:pt idx="702">
                  <c:v>15</c:v>
                </c:pt>
                <c:pt idx="703">
                  <c:v>16</c:v>
                </c:pt>
                <c:pt idx="704">
                  <c:v>17</c:v>
                </c:pt>
                <c:pt idx="705">
                  <c:v>18</c:v>
                </c:pt>
                <c:pt idx="706">
                  <c:v>19</c:v>
                </c:pt>
                <c:pt idx="707">
                  <c:v>20</c:v>
                </c:pt>
                <c:pt idx="708">
                  <c:v>21</c:v>
                </c:pt>
                <c:pt idx="709">
                  <c:v>22</c:v>
                </c:pt>
                <c:pt idx="710">
                  <c:v>23</c:v>
                </c:pt>
                <c:pt idx="711">
                  <c:v>0</c:v>
                </c:pt>
                <c:pt idx="712">
                  <c:v>1</c:v>
                </c:pt>
                <c:pt idx="713">
                  <c:v>2</c:v>
                </c:pt>
                <c:pt idx="714">
                  <c:v>3</c:v>
                </c:pt>
                <c:pt idx="715">
                  <c:v>4</c:v>
                </c:pt>
                <c:pt idx="716">
                  <c:v>5</c:v>
                </c:pt>
                <c:pt idx="717">
                  <c:v>6</c:v>
                </c:pt>
                <c:pt idx="718">
                  <c:v>7</c:v>
                </c:pt>
                <c:pt idx="719">
                  <c:v>8</c:v>
                </c:pt>
                <c:pt idx="720">
                  <c:v>9</c:v>
                </c:pt>
                <c:pt idx="721">
                  <c:v>10</c:v>
                </c:pt>
                <c:pt idx="722">
                  <c:v>11</c:v>
                </c:pt>
                <c:pt idx="723">
                  <c:v>12</c:v>
                </c:pt>
                <c:pt idx="724">
                  <c:v>13</c:v>
                </c:pt>
                <c:pt idx="725">
                  <c:v>14</c:v>
                </c:pt>
                <c:pt idx="726">
                  <c:v>15</c:v>
                </c:pt>
                <c:pt idx="727">
                  <c:v>16</c:v>
                </c:pt>
                <c:pt idx="728">
                  <c:v>17</c:v>
                </c:pt>
                <c:pt idx="729">
                  <c:v>18</c:v>
                </c:pt>
                <c:pt idx="730">
                  <c:v>19</c:v>
                </c:pt>
                <c:pt idx="731">
                  <c:v>20</c:v>
                </c:pt>
                <c:pt idx="732">
                  <c:v>21</c:v>
                </c:pt>
                <c:pt idx="733">
                  <c:v>22</c:v>
                </c:pt>
                <c:pt idx="734">
                  <c:v>23</c:v>
                </c:pt>
                <c:pt idx="735">
                  <c:v>0</c:v>
                </c:pt>
                <c:pt idx="736">
                  <c:v>1</c:v>
                </c:pt>
                <c:pt idx="737">
                  <c:v>2</c:v>
                </c:pt>
                <c:pt idx="738">
                  <c:v>3</c:v>
                </c:pt>
                <c:pt idx="739">
                  <c:v>5</c:v>
                </c:pt>
                <c:pt idx="740">
                  <c:v>6</c:v>
                </c:pt>
                <c:pt idx="741">
                  <c:v>7</c:v>
                </c:pt>
                <c:pt idx="742">
                  <c:v>8</c:v>
                </c:pt>
                <c:pt idx="743">
                  <c:v>9</c:v>
                </c:pt>
                <c:pt idx="744">
                  <c:v>10</c:v>
                </c:pt>
                <c:pt idx="745">
                  <c:v>11</c:v>
                </c:pt>
                <c:pt idx="746">
                  <c:v>12</c:v>
                </c:pt>
                <c:pt idx="747">
                  <c:v>13</c:v>
                </c:pt>
                <c:pt idx="748">
                  <c:v>14</c:v>
                </c:pt>
                <c:pt idx="749">
                  <c:v>15</c:v>
                </c:pt>
                <c:pt idx="750">
                  <c:v>16</c:v>
                </c:pt>
                <c:pt idx="751">
                  <c:v>17</c:v>
                </c:pt>
                <c:pt idx="752">
                  <c:v>18</c:v>
                </c:pt>
                <c:pt idx="753">
                  <c:v>19</c:v>
                </c:pt>
                <c:pt idx="754">
                  <c:v>20</c:v>
                </c:pt>
                <c:pt idx="755">
                  <c:v>21</c:v>
                </c:pt>
                <c:pt idx="756">
                  <c:v>22</c:v>
                </c:pt>
                <c:pt idx="757">
                  <c:v>23</c:v>
                </c:pt>
                <c:pt idx="758">
                  <c:v>0</c:v>
                </c:pt>
                <c:pt idx="759">
                  <c:v>1</c:v>
                </c:pt>
                <c:pt idx="760">
                  <c:v>2</c:v>
                </c:pt>
                <c:pt idx="761">
                  <c:v>3</c:v>
                </c:pt>
                <c:pt idx="762">
                  <c:v>5</c:v>
                </c:pt>
                <c:pt idx="763">
                  <c:v>6</c:v>
                </c:pt>
                <c:pt idx="764">
                  <c:v>7</c:v>
                </c:pt>
                <c:pt idx="765">
                  <c:v>8</c:v>
                </c:pt>
                <c:pt idx="766">
                  <c:v>9</c:v>
                </c:pt>
                <c:pt idx="767">
                  <c:v>10</c:v>
                </c:pt>
                <c:pt idx="768">
                  <c:v>11</c:v>
                </c:pt>
                <c:pt idx="769">
                  <c:v>12</c:v>
                </c:pt>
                <c:pt idx="770">
                  <c:v>13</c:v>
                </c:pt>
                <c:pt idx="771">
                  <c:v>14</c:v>
                </c:pt>
                <c:pt idx="772">
                  <c:v>15</c:v>
                </c:pt>
                <c:pt idx="773">
                  <c:v>16</c:v>
                </c:pt>
                <c:pt idx="774">
                  <c:v>17</c:v>
                </c:pt>
                <c:pt idx="775">
                  <c:v>18</c:v>
                </c:pt>
                <c:pt idx="776">
                  <c:v>19</c:v>
                </c:pt>
                <c:pt idx="777">
                  <c:v>20</c:v>
                </c:pt>
                <c:pt idx="778">
                  <c:v>21</c:v>
                </c:pt>
                <c:pt idx="779">
                  <c:v>22</c:v>
                </c:pt>
                <c:pt idx="780">
                  <c:v>23</c:v>
                </c:pt>
                <c:pt idx="781">
                  <c:v>0</c:v>
                </c:pt>
                <c:pt idx="782">
                  <c:v>1</c:v>
                </c:pt>
                <c:pt idx="783">
                  <c:v>2</c:v>
                </c:pt>
                <c:pt idx="784">
                  <c:v>3</c:v>
                </c:pt>
                <c:pt idx="785">
                  <c:v>4</c:v>
                </c:pt>
                <c:pt idx="786">
                  <c:v>5</c:v>
                </c:pt>
                <c:pt idx="787">
                  <c:v>6</c:v>
                </c:pt>
                <c:pt idx="788">
                  <c:v>7</c:v>
                </c:pt>
                <c:pt idx="789">
                  <c:v>8</c:v>
                </c:pt>
                <c:pt idx="790">
                  <c:v>9</c:v>
                </c:pt>
                <c:pt idx="791">
                  <c:v>10</c:v>
                </c:pt>
                <c:pt idx="792">
                  <c:v>11</c:v>
                </c:pt>
                <c:pt idx="793">
                  <c:v>12</c:v>
                </c:pt>
                <c:pt idx="794">
                  <c:v>13</c:v>
                </c:pt>
                <c:pt idx="795">
                  <c:v>14</c:v>
                </c:pt>
                <c:pt idx="796">
                  <c:v>15</c:v>
                </c:pt>
                <c:pt idx="797">
                  <c:v>16</c:v>
                </c:pt>
                <c:pt idx="798">
                  <c:v>17</c:v>
                </c:pt>
                <c:pt idx="799">
                  <c:v>18</c:v>
                </c:pt>
                <c:pt idx="800">
                  <c:v>19</c:v>
                </c:pt>
                <c:pt idx="801">
                  <c:v>20</c:v>
                </c:pt>
                <c:pt idx="802">
                  <c:v>21</c:v>
                </c:pt>
                <c:pt idx="803">
                  <c:v>22</c:v>
                </c:pt>
                <c:pt idx="804">
                  <c:v>23</c:v>
                </c:pt>
                <c:pt idx="805">
                  <c:v>0</c:v>
                </c:pt>
                <c:pt idx="806">
                  <c:v>1</c:v>
                </c:pt>
                <c:pt idx="807">
                  <c:v>2</c:v>
                </c:pt>
                <c:pt idx="808">
                  <c:v>3</c:v>
                </c:pt>
                <c:pt idx="809">
                  <c:v>4</c:v>
                </c:pt>
                <c:pt idx="810">
                  <c:v>5</c:v>
                </c:pt>
                <c:pt idx="811">
                  <c:v>6</c:v>
                </c:pt>
                <c:pt idx="812">
                  <c:v>7</c:v>
                </c:pt>
                <c:pt idx="813">
                  <c:v>8</c:v>
                </c:pt>
                <c:pt idx="814">
                  <c:v>9</c:v>
                </c:pt>
                <c:pt idx="815">
                  <c:v>10</c:v>
                </c:pt>
                <c:pt idx="816">
                  <c:v>11</c:v>
                </c:pt>
                <c:pt idx="817">
                  <c:v>12</c:v>
                </c:pt>
                <c:pt idx="818">
                  <c:v>13</c:v>
                </c:pt>
                <c:pt idx="819">
                  <c:v>14</c:v>
                </c:pt>
                <c:pt idx="820">
                  <c:v>15</c:v>
                </c:pt>
                <c:pt idx="821">
                  <c:v>16</c:v>
                </c:pt>
                <c:pt idx="822">
                  <c:v>17</c:v>
                </c:pt>
                <c:pt idx="823">
                  <c:v>18</c:v>
                </c:pt>
                <c:pt idx="824">
                  <c:v>19</c:v>
                </c:pt>
                <c:pt idx="825">
                  <c:v>20</c:v>
                </c:pt>
                <c:pt idx="826">
                  <c:v>21</c:v>
                </c:pt>
                <c:pt idx="827">
                  <c:v>22</c:v>
                </c:pt>
                <c:pt idx="828">
                  <c:v>23</c:v>
                </c:pt>
                <c:pt idx="829">
                  <c:v>0</c:v>
                </c:pt>
                <c:pt idx="830">
                  <c:v>1</c:v>
                </c:pt>
                <c:pt idx="831">
                  <c:v>2</c:v>
                </c:pt>
                <c:pt idx="832">
                  <c:v>3</c:v>
                </c:pt>
                <c:pt idx="833">
                  <c:v>4</c:v>
                </c:pt>
                <c:pt idx="834">
                  <c:v>5</c:v>
                </c:pt>
                <c:pt idx="835">
                  <c:v>6</c:v>
                </c:pt>
                <c:pt idx="836">
                  <c:v>7</c:v>
                </c:pt>
                <c:pt idx="837">
                  <c:v>8</c:v>
                </c:pt>
                <c:pt idx="838">
                  <c:v>9</c:v>
                </c:pt>
                <c:pt idx="839">
                  <c:v>10</c:v>
                </c:pt>
                <c:pt idx="840">
                  <c:v>11</c:v>
                </c:pt>
                <c:pt idx="841">
                  <c:v>12</c:v>
                </c:pt>
                <c:pt idx="842">
                  <c:v>13</c:v>
                </c:pt>
                <c:pt idx="843">
                  <c:v>14</c:v>
                </c:pt>
                <c:pt idx="844">
                  <c:v>15</c:v>
                </c:pt>
                <c:pt idx="845">
                  <c:v>16</c:v>
                </c:pt>
                <c:pt idx="846">
                  <c:v>17</c:v>
                </c:pt>
                <c:pt idx="847">
                  <c:v>18</c:v>
                </c:pt>
                <c:pt idx="848">
                  <c:v>19</c:v>
                </c:pt>
                <c:pt idx="849">
                  <c:v>20</c:v>
                </c:pt>
                <c:pt idx="850">
                  <c:v>21</c:v>
                </c:pt>
                <c:pt idx="851">
                  <c:v>22</c:v>
                </c:pt>
                <c:pt idx="852">
                  <c:v>23</c:v>
                </c:pt>
                <c:pt idx="853">
                  <c:v>0</c:v>
                </c:pt>
                <c:pt idx="854">
                  <c:v>1</c:v>
                </c:pt>
                <c:pt idx="855">
                  <c:v>2</c:v>
                </c:pt>
                <c:pt idx="856">
                  <c:v>3</c:v>
                </c:pt>
                <c:pt idx="857">
                  <c:v>4</c:v>
                </c:pt>
                <c:pt idx="858">
                  <c:v>5</c:v>
                </c:pt>
                <c:pt idx="859">
                  <c:v>6</c:v>
                </c:pt>
                <c:pt idx="860">
                  <c:v>7</c:v>
                </c:pt>
                <c:pt idx="861">
                  <c:v>8</c:v>
                </c:pt>
                <c:pt idx="862">
                  <c:v>9</c:v>
                </c:pt>
                <c:pt idx="863">
                  <c:v>10</c:v>
                </c:pt>
                <c:pt idx="864">
                  <c:v>11</c:v>
                </c:pt>
                <c:pt idx="865">
                  <c:v>12</c:v>
                </c:pt>
                <c:pt idx="866">
                  <c:v>13</c:v>
                </c:pt>
                <c:pt idx="867">
                  <c:v>14</c:v>
                </c:pt>
                <c:pt idx="868">
                  <c:v>15</c:v>
                </c:pt>
                <c:pt idx="869">
                  <c:v>16</c:v>
                </c:pt>
                <c:pt idx="870">
                  <c:v>17</c:v>
                </c:pt>
                <c:pt idx="871">
                  <c:v>18</c:v>
                </c:pt>
                <c:pt idx="872">
                  <c:v>19</c:v>
                </c:pt>
                <c:pt idx="873">
                  <c:v>20</c:v>
                </c:pt>
                <c:pt idx="874">
                  <c:v>21</c:v>
                </c:pt>
                <c:pt idx="875">
                  <c:v>22</c:v>
                </c:pt>
                <c:pt idx="876">
                  <c:v>23</c:v>
                </c:pt>
                <c:pt idx="877">
                  <c:v>0</c:v>
                </c:pt>
                <c:pt idx="878">
                  <c:v>1</c:v>
                </c:pt>
                <c:pt idx="879">
                  <c:v>2</c:v>
                </c:pt>
                <c:pt idx="880">
                  <c:v>3</c:v>
                </c:pt>
                <c:pt idx="881">
                  <c:v>5</c:v>
                </c:pt>
                <c:pt idx="882">
                  <c:v>6</c:v>
                </c:pt>
                <c:pt idx="883">
                  <c:v>7</c:v>
                </c:pt>
                <c:pt idx="884">
                  <c:v>8</c:v>
                </c:pt>
                <c:pt idx="885">
                  <c:v>9</c:v>
                </c:pt>
                <c:pt idx="886">
                  <c:v>10</c:v>
                </c:pt>
                <c:pt idx="887">
                  <c:v>11</c:v>
                </c:pt>
                <c:pt idx="888">
                  <c:v>12</c:v>
                </c:pt>
                <c:pt idx="889">
                  <c:v>13</c:v>
                </c:pt>
                <c:pt idx="890">
                  <c:v>14</c:v>
                </c:pt>
                <c:pt idx="891">
                  <c:v>15</c:v>
                </c:pt>
                <c:pt idx="892">
                  <c:v>16</c:v>
                </c:pt>
                <c:pt idx="893">
                  <c:v>17</c:v>
                </c:pt>
                <c:pt idx="894">
                  <c:v>18</c:v>
                </c:pt>
                <c:pt idx="895">
                  <c:v>19</c:v>
                </c:pt>
                <c:pt idx="896">
                  <c:v>20</c:v>
                </c:pt>
                <c:pt idx="897">
                  <c:v>21</c:v>
                </c:pt>
                <c:pt idx="898">
                  <c:v>22</c:v>
                </c:pt>
                <c:pt idx="899">
                  <c:v>23</c:v>
                </c:pt>
                <c:pt idx="900">
                  <c:v>0</c:v>
                </c:pt>
                <c:pt idx="901">
                  <c:v>1</c:v>
                </c:pt>
                <c:pt idx="902">
                  <c:v>2</c:v>
                </c:pt>
                <c:pt idx="903">
                  <c:v>4</c:v>
                </c:pt>
                <c:pt idx="904">
                  <c:v>5</c:v>
                </c:pt>
                <c:pt idx="905">
                  <c:v>6</c:v>
                </c:pt>
                <c:pt idx="906">
                  <c:v>7</c:v>
                </c:pt>
                <c:pt idx="907">
                  <c:v>8</c:v>
                </c:pt>
                <c:pt idx="908">
                  <c:v>9</c:v>
                </c:pt>
                <c:pt idx="909">
                  <c:v>10</c:v>
                </c:pt>
                <c:pt idx="910">
                  <c:v>11</c:v>
                </c:pt>
                <c:pt idx="911">
                  <c:v>12</c:v>
                </c:pt>
                <c:pt idx="912">
                  <c:v>13</c:v>
                </c:pt>
                <c:pt idx="913">
                  <c:v>14</c:v>
                </c:pt>
                <c:pt idx="914">
                  <c:v>15</c:v>
                </c:pt>
                <c:pt idx="915">
                  <c:v>16</c:v>
                </c:pt>
                <c:pt idx="916">
                  <c:v>17</c:v>
                </c:pt>
                <c:pt idx="917">
                  <c:v>18</c:v>
                </c:pt>
                <c:pt idx="918">
                  <c:v>19</c:v>
                </c:pt>
                <c:pt idx="919">
                  <c:v>20</c:v>
                </c:pt>
                <c:pt idx="920">
                  <c:v>21</c:v>
                </c:pt>
                <c:pt idx="921">
                  <c:v>22</c:v>
                </c:pt>
                <c:pt idx="922">
                  <c:v>23</c:v>
                </c:pt>
                <c:pt idx="923">
                  <c:v>0</c:v>
                </c:pt>
                <c:pt idx="924">
                  <c:v>1</c:v>
                </c:pt>
                <c:pt idx="925">
                  <c:v>2</c:v>
                </c:pt>
                <c:pt idx="926">
                  <c:v>5</c:v>
                </c:pt>
                <c:pt idx="927">
                  <c:v>6</c:v>
                </c:pt>
                <c:pt idx="928">
                  <c:v>7</c:v>
                </c:pt>
                <c:pt idx="929">
                  <c:v>8</c:v>
                </c:pt>
                <c:pt idx="930">
                  <c:v>9</c:v>
                </c:pt>
                <c:pt idx="931">
                  <c:v>10</c:v>
                </c:pt>
                <c:pt idx="932">
                  <c:v>11</c:v>
                </c:pt>
                <c:pt idx="933">
                  <c:v>12</c:v>
                </c:pt>
                <c:pt idx="934">
                  <c:v>13</c:v>
                </c:pt>
                <c:pt idx="935">
                  <c:v>14</c:v>
                </c:pt>
                <c:pt idx="936">
                  <c:v>15</c:v>
                </c:pt>
                <c:pt idx="937">
                  <c:v>16</c:v>
                </c:pt>
                <c:pt idx="938">
                  <c:v>17</c:v>
                </c:pt>
                <c:pt idx="939">
                  <c:v>18</c:v>
                </c:pt>
                <c:pt idx="940">
                  <c:v>19</c:v>
                </c:pt>
                <c:pt idx="941">
                  <c:v>20</c:v>
                </c:pt>
                <c:pt idx="942">
                  <c:v>21</c:v>
                </c:pt>
                <c:pt idx="943">
                  <c:v>22</c:v>
                </c:pt>
                <c:pt idx="944">
                  <c:v>23</c:v>
                </c:pt>
                <c:pt idx="945">
                  <c:v>0</c:v>
                </c:pt>
                <c:pt idx="946">
                  <c:v>1</c:v>
                </c:pt>
                <c:pt idx="947">
                  <c:v>2</c:v>
                </c:pt>
                <c:pt idx="948">
                  <c:v>3</c:v>
                </c:pt>
                <c:pt idx="949">
                  <c:v>4</c:v>
                </c:pt>
                <c:pt idx="950">
                  <c:v>5</c:v>
                </c:pt>
                <c:pt idx="951">
                  <c:v>6</c:v>
                </c:pt>
                <c:pt idx="952">
                  <c:v>7</c:v>
                </c:pt>
                <c:pt idx="953">
                  <c:v>8</c:v>
                </c:pt>
                <c:pt idx="954">
                  <c:v>9</c:v>
                </c:pt>
                <c:pt idx="955">
                  <c:v>10</c:v>
                </c:pt>
                <c:pt idx="956">
                  <c:v>11</c:v>
                </c:pt>
                <c:pt idx="957">
                  <c:v>12</c:v>
                </c:pt>
                <c:pt idx="958">
                  <c:v>13</c:v>
                </c:pt>
                <c:pt idx="959">
                  <c:v>14</c:v>
                </c:pt>
                <c:pt idx="960">
                  <c:v>15</c:v>
                </c:pt>
                <c:pt idx="961">
                  <c:v>16</c:v>
                </c:pt>
                <c:pt idx="962">
                  <c:v>17</c:v>
                </c:pt>
                <c:pt idx="963">
                  <c:v>18</c:v>
                </c:pt>
                <c:pt idx="964">
                  <c:v>19</c:v>
                </c:pt>
                <c:pt idx="965">
                  <c:v>20</c:v>
                </c:pt>
                <c:pt idx="966">
                  <c:v>21</c:v>
                </c:pt>
                <c:pt idx="967">
                  <c:v>22</c:v>
                </c:pt>
                <c:pt idx="968">
                  <c:v>23</c:v>
                </c:pt>
                <c:pt idx="969">
                  <c:v>0</c:v>
                </c:pt>
                <c:pt idx="970">
                  <c:v>1</c:v>
                </c:pt>
                <c:pt idx="971">
                  <c:v>2</c:v>
                </c:pt>
                <c:pt idx="972">
                  <c:v>3</c:v>
                </c:pt>
                <c:pt idx="973">
                  <c:v>4</c:v>
                </c:pt>
                <c:pt idx="974">
                  <c:v>6</c:v>
                </c:pt>
                <c:pt idx="975">
                  <c:v>7</c:v>
                </c:pt>
                <c:pt idx="976">
                  <c:v>8</c:v>
                </c:pt>
                <c:pt idx="977">
                  <c:v>9</c:v>
                </c:pt>
                <c:pt idx="978">
                  <c:v>10</c:v>
                </c:pt>
                <c:pt idx="979">
                  <c:v>11</c:v>
                </c:pt>
                <c:pt idx="980">
                  <c:v>12</c:v>
                </c:pt>
                <c:pt idx="981">
                  <c:v>13</c:v>
                </c:pt>
                <c:pt idx="982">
                  <c:v>14</c:v>
                </c:pt>
                <c:pt idx="983">
                  <c:v>15</c:v>
                </c:pt>
                <c:pt idx="984">
                  <c:v>16</c:v>
                </c:pt>
                <c:pt idx="985">
                  <c:v>17</c:v>
                </c:pt>
                <c:pt idx="986">
                  <c:v>18</c:v>
                </c:pt>
                <c:pt idx="987">
                  <c:v>19</c:v>
                </c:pt>
                <c:pt idx="988">
                  <c:v>20</c:v>
                </c:pt>
                <c:pt idx="989">
                  <c:v>21</c:v>
                </c:pt>
                <c:pt idx="990">
                  <c:v>22</c:v>
                </c:pt>
                <c:pt idx="991">
                  <c:v>23</c:v>
                </c:pt>
                <c:pt idx="992">
                  <c:v>0</c:v>
                </c:pt>
                <c:pt idx="993">
                  <c:v>1</c:v>
                </c:pt>
                <c:pt idx="994">
                  <c:v>2</c:v>
                </c:pt>
                <c:pt idx="995">
                  <c:v>3</c:v>
                </c:pt>
                <c:pt idx="996">
                  <c:v>4</c:v>
                </c:pt>
                <c:pt idx="997">
                  <c:v>5</c:v>
                </c:pt>
                <c:pt idx="998">
                  <c:v>6</c:v>
                </c:pt>
                <c:pt idx="999">
                  <c:v>7</c:v>
                </c:pt>
              </c:numCache>
            </c:numRef>
          </c:xVal>
          <c:yVal>
            <c:numRef>
              <c:f>Outlier!$J$5:$J$1004</c:f>
              <c:numCache>
                <c:formatCode>General</c:formatCode>
                <c:ptCount val="1000"/>
                <c:pt idx="0">
                  <c:v>16</c:v>
                </c:pt>
                <c:pt idx="1">
                  <c:v>#N/A</c:v>
                </c:pt>
                <c:pt idx="2">
                  <c:v>#N/A</c:v>
                </c:pt>
                <c:pt idx="3">
                  <c:v>13</c:v>
                </c:pt>
                <c:pt idx="4">
                  <c:v>1</c:v>
                </c:pt>
                <c:pt idx="5">
                  <c:v>1</c:v>
                </c:pt>
                <c:pt idx="6">
                  <c:v>2</c:v>
                </c:pt>
                <c:pt idx="7">
                  <c:v>3</c:v>
                </c:pt>
                <c:pt idx="8">
                  <c:v>8</c:v>
                </c:pt>
                <c:pt idx="9">
                  <c:v>14</c:v>
                </c:pt>
                <c:pt idx="10">
                  <c:v>36</c:v>
                </c:pt>
                <c:pt idx="11">
                  <c:v>56</c:v>
                </c:pt>
                <c:pt idx="12">
                  <c:v>84</c:v>
                </c:pt>
                <c:pt idx="13">
                  <c:v>94</c:v>
                </c:pt>
                <c:pt idx="14">
                  <c:v>106</c:v>
                </c:pt>
                <c:pt idx="15">
                  <c:v>110</c:v>
                </c:pt>
                <c:pt idx="16">
                  <c:v>93</c:v>
                </c:pt>
                <c:pt idx="17">
                  <c:v>67</c:v>
                </c:pt>
                <c:pt idx="18">
                  <c:v>35</c:v>
                </c:pt>
                <c:pt idx="19">
                  <c:v>37</c:v>
                </c:pt>
                <c:pt idx="20">
                  <c:v>36</c:v>
                </c:pt>
                <c:pt idx="21">
                  <c:v>34</c:v>
                </c:pt>
                <c:pt idx="22">
                  <c:v>28</c:v>
                </c:pt>
                <c:pt idx="23">
                  <c:v>39</c:v>
                </c:pt>
                <c:pt idx="24">
                  <c:v>17</c:v>
                </c:pt>
                <c:pt idx="25">
                  <c:v>17</c:v>
                </c:pt>
                <c:pt idx="26">
                  <c:v>9</c:v>
                </c:pt>
                <c:pt idx="27">
                  <c:v>6</c:v>
                </c:pt>
                <c:pt idx="28">
                  <c:v>3</c:v>
                </c:pt>
                <c:pt idx="29">
                  <c:v>2</c:v>
                </c:pt>
                <c:pt idx="30">
                  <c:v>1</c:v>
                </c:pt>
                <c:pt idx="31">
                  <c:v>8</c:v>
                </c:pt>
                <c:pt idx="32">
                  <c:v>20</c:v>
                </c:pt>
                <c:pt idx="33">
                  <c:v>53</c:v>
                </c:pt>
                <c:pt idx="34">
                  <c:v>70</c:v>
                </c:pt>
                <c:pt idx="35">
                  <c:v>93</c:v>
                </c:pt>
                <c:pt idx="36">
                  <c:v>75</c:v>
                </c:pt>
                <c:pt idx="37">
                  <c:v>59</c:v>
                </c:pt>
                <c:pt idx="38">
                  <c:v>74</c:v>
                </c:pt>
                <c:pt idx="39">
                  <c:v>76</c:v>
                </c:pt>
                <c:pt idx="40">
                  <c:v>65</c:v>
                </c:pt>
                <c:pt idx="41">
                  <c:v>53</c:v>
                </c:pt>
                <c:pt idx="42">
                  <c:v>30</c:v>
                </c:pt>
                <c:pt idx="43">
                  <c:v>22</c:v>
                </c:pt>
                <c:pt idx="44">
                  <c:v>31</c:v>
                </c:pt>
                <c:pt idx="45">
                  <c:v>#N/A</c:v>
                </c:pt>
                <c:pt idx="46">
                  <c:v>8</c:v>
                </c:pt>
                <c:pt idx="47">
                  <c:v>5</c:v>
                </c:pt>
                <c:pt idx="48">
                  <c:v>2</c:v>
                </c:pt>
                <c:pt idx="49">
                  <c:v>1</c:v>
                </c:pt>
                <c:pt idx="50">
                  <c:v>3</c:v>
                </c:pt>
                <c:pt idx="51">
                  <c:v>30</c:v>
                </c:pt>
                <c:pt idx="52">
                  <c:v>64</c:v>
                </c:pt>
                <c:pt idx="53">
                  <c:v>154</c:v>
                </c:pt>
                <c:pt idx="54">
                  <c:v>88</c:v>
                </c:pt>
                <c:pt idx="55">
                  <c:v>44</c:v>
                </c:pt>
                <c:pt idx="56">
                  <c:v>51</c:v>
                </c:pt>
                <c:pt idx="57">
                  <c:v>61</c:v>
                </c:pt>
                <c:pt idx="58">
                  <c:v>61</c:v>
                </c:pt>
                <c:pt idx="59">
                  <c:v>77</c:v>
                </c:pt>
                <c:pt idx="60">
                  <c:v>72</c:v>
                </c:pt>
                <c:pt idx="61">
                  <c:v>76</c:v>
                </c:pt>
                <c:pt idx="62">
                  <c:v>157</c:v>
                </c:pt>
                <c:pt idx="63">
                  <c:v>157</c:v>
                </c:pt>
                <c:pt idx="64">
                  <c:v>110</c:v>
                </c:pt>
                <c:pt idx="65">
                  <c:v>52</c:v>
                </c:pt>
                <c:pt idx="66">
                  <c:v>52</c:v>
                </c:pt>
                <c:pt idx="67">
                  <c:v>20</c:v>
                </c:pt>
                <c:pt idx="68">
                  <c:v>12</c:v>
                </c:pt>
                <c:pt idx="69">
                  <c:v>5</c:v>
                </c:pt>
                <c:pt idx="70">
                  <c:v>2</c:v>
                </c:pt>
                <c:pt idx="71">
                  <c:v>1</c:v>
                </c:pt>
                <c:pt idx="72">
                  <c:v>2</c:v>
                </c:pt>
                <c:pt idx="73">
                  <c:v>4</c:v>
                </c:pt>
                <c:pt idx="74">
                  <c:v>36</c:v>
                </c:pt>
                <c:pt idx="75">
                  <c:v>94</c:v>
                </c:pt>
                <c:pt idx="76">
                  <c:v>179</c:v>
                </c:pt>
                <c:pt idx="77">
                  <c:v>100</c:v>
                </c:pt>
                <c:pt idx="78">
                  <c:v>42</c:v>
                </c:pt>
                <c:pt idx="79">
                  <c:v>57</c:v>
                </c:pt>
                <c:pt idx="80">
                  <c:v>78</c:v>
                </c:pt>
                <c:pt idx="81">
                  <c:v>97</c:v>
                </c:pt>
                <c:pt idx="82">
                  <c:v>63</c:v>
                </c:pt>
                <c:pt idx="83">
                  <c:v>65</c:v>
                </c:pt>
                <c:pt idx="84">
                  <c:v>83</c:v>
                </c:pt>
                <c:pt idx="85">
                  <c:v>212</c:v>
                </c:pt>
                <c:pt idx="86">
                  <c:v>182</c:v>
                </c:pt>
                <c:pt idx="87">
                  <c:v>112</c:v>
                </c:pt>
                <c:pt idx="88">
                  <c:v>54</c:v>
                </c:pt>
                <c:pt idx="89">
                  <c:v>48</c:v>
                </c:pt>
                <c:pt idx="90">
                  <c:v>35</c:v>
                </c:pt>
                <c:pt idx="91">
                  <c:v>11</c:v>
                </c:pt>
                <c:pt idx="92">
                  <c:v>6</c:v>
                </c:pt>
                <c:pt idx="93">
                  <c:v>6</c:v>
                </c:pt>
                <c:pt idx="94">
                  <c:v>2</c:v>
                </c:pt>
                <c:pt idx="95">
                  <c:v>2</c:v>
                </c:pt>
                <c:pt idx="96">
                  <c:v>3</c:v>
                </c:pt>
                <c:pt idx="97">
                  <c:v>33</c:v>
                </c:pt>
                <c:pt idx="98">
                  <c:v>88</c:v>
                </c:pt>
                <c:pt idx="99">
                  <c:v>195</c:v>
                </c:pt>
                <c:pt idx="100">
                  <c:v>115</c:v>
                </c:pt>
                <c:pt idx="101">
                  <c:v>57</c:v>
                </c:pt>
                <c:pt idx="102">
                  <c:v>46</c:v>
                </c:pt>
                <c:pt idx="103">
                  <c:v>79</c:v>
                </c:pt>
                <c:pt idx="104">
                  <c:v>71</c:v>
                </c:pt>
                <c:pt idx="105">
                  <c:v>62</c:v>
                </c:pt>
                <c:pt idx="106">
                  <c:v>62</c:v>
                </c:pt>
                <c:pt idx="107">
                  <c:v>89</c:v>
                </c:pt>
                <c:pt idx="108">
                  <c:v>190</c:v>
                </c:pt>
                <c:pt idx="109">
                  <c:v>169</c:v>
                </c:pt>
                <c:pt idx="110">
                  <c:v>132</c:v>
                </c:pt>
                <c:pt idx="111">
                  <c:v>89</c:v>
                </c:pt>
                <c:pt idx="112">
                  <c:v>43</c:v>
                </c:pt>
                <c:pt idx="113">
                  <c:v>42</c:v>
                </c:pt>
                <c:pt idx="114">
                  <c:v>19</c:v>
                </c:pt>
                <c:pt idx="115">
                  <c:v>11</c:v>
                </c:pt>
                <c:pt idx="116">
                  <c:v>4</c:v>
                </c:pt>
                <c:pt idx="117">
                  <c:v>2</c:v>
                </c:pt>
                <c:pt idx="118">
                  <c:v>1</c:v>
                </c:pt>
                <c:pt idx="119">
                  <c:v>4</c:v>
                </c:pt>
                <c:pt idx="120">
                  <c:v>36</c:v>
                </c:pt>
                <c:pt idx="121">
                  <c:v>95</c:v>
                </c:pt>
                <c:pt idx="122">
                  <c:v>219</c:v>
                </c:pt>
                <c:pt idx="123">
                  <c:v>122</c:v>
                </c:pt>
                <c:pt idx="124">
                  <c:v>45</c:v>
                </c:pt>
                <c:pt idx="125">
                  <c:v>59</c:v>
                </c:pt>
                <c:pt idx="126">
                  <c:v>84</c:v>
                </c:pt>
                <c:pt idx="127">
                  <c:v>67</c:v>
                </c:pt>
                <c:pt idx="128">
                  <c:v>70</c:v>
                </c:pt>
                <c:pt idx="129">
                  <c:v>62</c:v>
                </c:pt>
                <c:pt idx="130">
                  <c:v>86</c:v>
                </c:pt>
                <c:pt idx="131">
                  <c:v>172</c:v>
                </c:pt>
                <c:pt idx="132">
                  <c:v>163</c:v>
                </c:pt>
                <c:pt idx="133">
                  <c:v>112</c:v>
                </c:pt>
                <c:pt idx="134">
                  <c:v>69</c:v>
                </c:pt>
                <c:pt idx="135">
                  <c:v>48</c:v>
                </c:pt>
                <c:pt idx="136">
                  <c:v>52</c:v>
                </c:pt>
                <c:pt idx="137">
                  <c:v>23</c:v>
                </c:pt>
                <c:pt idx="138">
                  <c:v>17</c:v>
                </c:pt>
                <c:pt idx="139">
                  <c:v>7</c:v>
                </c:pt>
                <c:pt idx="140">
                  <c:v>1</c:v>
                </c:pt>
                <c:pt idx="141">
                  <c:v>1</c:v>
                </c:pt>
                <c:pt idx="142">
                  <c:v>5</c:v>
                </c:pt>
                <c:pt idx="143">
                  <c:v>34</c:v>
                </c:pt>
                <c:pt idx="144">
                  <c:v>84</c:v>
                </c:pt>
                <c:pt idx="145">
                  <c:v>210</c:v>
                </c:pt>
                <c:pt idx="146">
                  <c:v>134</c:v>
                </c:pt>
                <c:pt idx="147">
                  <c:v>63</c:v>
                </c:pt>
                <c:pt idx="148">
                  <c:v>67</c:v>
                </c:pt>
                <c:pt idx="149">
                  <c:v>59</c:v>
                </c:pt>
                <c:pt idx="150">
                  <c:v>73</c:v>
                </c:pt>
                <c:pt idx="151">
                  <c:v>50</c:v>
                </c:pt>
                <c:pt idx="152">
                  <c:v>72</c:v>
                </c:pt>
                <c:pt idx="153">
                  <c:v>87</c:v>
                </c:pt>
                <c:pt idx="154">
                  <c:v>187</c:v>
                </c:pt>
                <c:pt idx="155">
                  <c:v>123</c:v>
                </c:pt>
                <c:pt idx="156">
                  <c:v>95</c:v>
                </c:pt>
                <c:pt idx="157">
                  <c:v>51</c:v>
                </c:pt>
                <c:pt idx="158">
                  <c:v>39</c:v>
                </c:pt>
                <c:pt idx="159">
                  <c:v>36</c:v>
                </c:pt>
                <c:pt idx="160">
                  <c:v>15</c:v>
                </c:pt>
                <c:pt idx="161">
                  <c:v>25</c:v>
                </c:pt>
                <c:pt idx="162">
                  <c:v>16</c:v>
                </c:pt>
                <c:pt idx="163">
                  <c:v>16</c:v>
                </c:pt>
                <c:pt idx="164">
                  <c:v>7</c:v>
                </c:pt>
                <c:pt idx="165">
                  <c:v>1</c:v>
                </c:pt>
                <c:pt idx="166">
                  <c:v>5</c:v>
                </c:pt>
                <c:pt idx="167">
                  <c:v>2</c:v>
                </c:pt>
                <c:pt idx="168">
                  <c:v>9</c:v>
                </c:pt>
                <c:pt idx="169">
                  <c:v>15</c:v>
                </c:pt>
                <c:pt idx="170">
                  <c:v>20</c:v>
                </c:pt>
                <c:pt idx="171">
                  <c:v>61</c:v>
                </c:pt>
                <c:pt idx="172">
                  <c:v>62</c:v>
                </c:pt>
                <c:pt idx="173">
                  <c:v>98</c:v>
                </c:pt>
                <c:pt idx="174">
                  <c:v>102</c:v>
                </c:pt>
                <c:pt idx="175">
                  <c:v>95</c:v>
                </c:pt>
                <c:pt idx="176">
                  <c:v>74</c:v>
                </c:pt>
                <c:pt idx="177">
                  <c:v>76</c:v>
                </c:pt>
                <c:pt idx="178">
                  <c:v>69</c:v>
                </c:pt>
                <c:pt idx="179">
                  <c:v>55</c:v>
                </c:pt>
                <c:pt idx="180">
                  <c:v>30</c:v>
                </c:pt>
                <c:pt idx="181">
                  <c:v>28</c:v>
                </c:pt>
                <c:pt idx="182">
                  <c:v>37</c:v>
                </c:pt>
                <c:pt idx="183">
                  <c:v>34</c:v>
                </c:pt>
                <c:pt idx="184">
                  <c:v>22</c:v>
                </c:pt>
                <c:pt idx="185">
                  <c:v>25</c:v>
                </c:pt>
                <c:pt idx="186">
                  <c:v>12</c:v>
                </c:pt>
                <c:pt idx="187">
                  <c:v>11</c:v>
                </c:pt>
                <c:pt idx="188">
                  <c:v>4</c:v>
                </c:pt>
                <c:pt idx="189">
                  <c:v>1</c:v>
                </c:pt>
                <c:pt idx="190">
                  <c:v>1</c:v>
                </c:pt>
                <c:pt idx="191">
                  <c:v>1</c:v>
                </c:pt>
                <c:pt idx="192">
                  <c:v>6</c:v>
                </c:pt>
                <c:pt idx="193">
                  <c:v>10</c:v>
                </c:pt>
                <c:pt idx="194">
                  <c:v>19</c:v>
                </c:pt>
                <c:pt idx="195">
                  <c:v>49</c:v>
                </c:pt>
                <c:pt idx="196">
                  <c:v>49</c:v>
                </c:pt>
                <c:pt idx="197">
                  <c:v>83</c:v>
                </c:pt>
                <c:pt idx="198">
                  <c:v>75</c:v>
                </c:pt>
                <c:pt idx="199">
                  <c:v>72</c:v>
                </c:pt>
                <c:pt idx="200">
                  <c:v>82</c:v>
                </c:pt>
                <c:pt idx="201">
                  <c:v>92</c:v>
                </c:pt>
                <c:pt idx="202">
                  <c:v>62</c:v>
                </c:pt>
                <c:pt idx="203">
                  <c:v>48</c:v>
                </c:pt>
                <c:pt idx="204">
                  <c:v>41</c:v>
                </c:pt>
                <c:pt idx="205">
                  <c:v>38</c:v>
                </c:pt>
                <c:pt idx="206">
                  <c:v>20</c:v>
                </c:pt>
                <c:pt idx="207">
                  <c:v>15</c:v>
                </c:pt>
                <c:pt idx="208">
                  <c:v>6</c:v>
                </c:pt>
                <c:pt idx="209">
                  <c:v>5</c:v>
                </c:pt>
                <c:pt idx="210">
                  <c:v>1</c:v>
                </c:pt>
                <c:pt idx="211">
                  <c:v>3</c:v>
                </c:pt>
                <c:pt idx="212">
                  <c:v>1</c:v>
                </c:pt>
                <c:pt idx="213">
                  <c:v>3</c:v>
                </c:pt>
                <c:pt idx="214">
                  <c:v>3</c:v>
                </c:pt>
                <c:pt idx="215">
                  <c:v>31</c:v>
                </c:pt>
                <c:pt idx="216">
                  <c:v>77</c:v>
                </c:pt>
                <c:pt idx="217">
                  <c:v>188</c:v>
                </c:pt>
                <c:pt idx="218">
                  <c:v>94</c:v>
                </c:pt>
                <c:pt idx="219">
                  <c:v>31</c:v>
                </c:pt>
                <c:pt idx="220">
                  <c:v>30</c:v>
                </c:pt>
                <c:pt idx="221">
                  <c:v>52</c:v>
                </c:pt>
                <c:pt idx="222">
                  <c:v>54</c:v>
                </c:pt>
                <c:pt idx="223">
                  <c:v>47</c:v>
                </c:pt>
                <c:pt idx="224">
                  <c:v>45</c:v>
                </c:pt>
                <c:pt idx="225">
                  <c:v>74</c:v>
                </c:pt>
                <c:pt idx="226">
                  <c:v>178</c:v>
                </c:pt>
                <c:pt idx="227">
                  <c:v>155</c:v>
                </c:pt>
                <c:pt idx="228">
                  <c:v>95</c:v>
                </c:pt>
                <c:pt idx="229">
                  <c:v>74</c:v>
                </c:pt>
                <c:pt idx="230">
                  <c:v>38</c:v>
                </c:pt>
                <c:pt idx="231">
                  <c:v>24</c:v>
                </c:pt>
                <c:pt idx="232">
                  <c:v>18</c:v>
                </c:pt>
                <c:pt idx="233">
                  <c:v>12</c:v>
                </c:pt>
                <c:pt idx="234">
                  <c:v>3</c:v>
                </c:pt>
                <c:pt idx="235">
                  <c:v>3</c:v>
                </c:pt>
                <c:pt idx="236">
                  <c:v>6</c:v>
                </c:pt>
                <c:pt idx="237">
                  <c:v>27</c:v>
                </c:pt>
                <c:pt idx="238">
                  <c:v>99</c:v>
                </c:pt>
                <c:pt idx="239">
                  <c:v>217</c:v>
                </c:pt>
                <c:pt idx="240">
                  <c:v>130</c:v>
                </c:pt>
                <c:pt idx="241">
                  <c:v>54</c:v>
                </c:pt>
                <c:pt idx="242">
                  <c:v>35</c:v>
                </c:pt>
                <c:pt idx="243">
                  <c:v>57</c:v>
                </c:pt>
                <c:pt idx="244">
                  <c:v>52</c:v>
                </c:pt>
                <c:pt idx="245">
                  <c:v>63</c:v>
                </c:pt>
                <c:pt idx="246">
                  <c:v>47</c:v>
                </c:pt>
                <c:pt idx="247">
                  <c:v>76</c:v>
                </c:pt>
                <c:pt idx="248">
                  <c:v>136</c:v>
                </c:pt>
                <c:pt idx="249">
                  <c:v>95</c:v>
                </c:pt>
                <c:pt idx="250">
                  <c:v>51</c:v>
                </c:pt>
                <c:pt idx="251">
                  <c:v>32</c:v>
                </c:pt>
                <c:pt idx="252">
                  <c:v>20</c:v>
                </c:pt>
                <c:pt idx="253">
                  <c:v>29</c:v>
                </c:pt>
                <c:pt idx="254">
                  <c:v>19</c:v>
                </c:pt>
                <c:pt idx="255">
                  <c:v>7</c:v>
                </c:pt>
                <c:pt idx="256">
                  <c:v>6</c:v>
                </c:pt>
                <c:pt idx="257">
                  <c:v>1</c:v>
                </c:pt>
                <c:pt idx="258">
                  <c:v>5</c:v>
                </c:pt>
                <c:pt idx="259">
                  <c:v>16</c:v>
                </c:pt>
                <c:pt idx="260">
                  <c:v>54</c:v>
                </c:pt>
                <c:pt idx="261">
                  <c:v>128</c:v>
                </c:pt>
                <c:pt idx="262">
                  <c:v>81</c:v>
                </c:pt>
                <c:pt idx="263">
                  <c:v>39</c:v>
                </c:pt>
                <c:pt idx="264">
                  <c:v>35</c:v>
                </c:pt>
                <c:pt idx="265">
                  <c:v>55</c:v>
                </c:pt>
                <c:pt idx="266">
                  <c:v>49</c:v>
                </c:pt>
                <c:pt idx="267">
                  <c:v>44</c:v>
                </c:pt>
                <c:pt idx="268">
                  <c:v>49</c:v>
                </c:pt>
                <c:pt idx="269">
                  <c:v>68</c:v>
                </c:pt>
                <c:pt idx="270">
                  <c:v>139</c:v>
                </c:pt>
                <c:pt idx="271">
                  <c:v>137</c:v>
                </c:pt>
                <c:pt idx="272">
                  <c:v>83</c:v>
                </c:pt>
                <c:pt idx="273">
                  <c:v>56</c:v>
                </c:pt>
                <c:pt idx="274">
                  <c:v>57</c:v>
                </c:pt>
                <c:pt idx="275">
                  <c:v>33</c:v>
                </c:pt>
                <c:pt idx="276">
                  <c:v>20</c:v>
                </c:pt>
                <c:pt idx="277">
                  <c:v>7</c:v>
                </c:pt>
                <c:pt idx="278">
                  <c:v>2</c:v>
                </c:pt>
                <c:pt idx="279">
                  <c:v>2</c:v>
                </c:pt>
                <c:pt idx="280">
                  <c:v>3</c:v>
                </c:pt>
                <c:pt idx="281">
                  <c:v>4</c:v>
                </c:pt>
                <c:pt idx="282">
                  <c:v>3</c:v>
                </c:pt>
                <c:pt idx="283">
                  <c:v>28</c:v>
                </c:pt>
                <c:pt idx="284">
                  <c:v>72</c:v>
                </c:pt>
                <c:pt idx="285">
                  <c:v>202</c:v>
                </c:pt>
                <c:pt idx="286">
                  <c:v>139</c:v>
                </c:pt>
                <c:pt idx="287">
                  <c:v>38</c:v>
                </c:pt>
                <c:pt idx="288">
                  <c:v>37</c:v>
                </c:pt>
                <c:pt idx="289">
                  <c:v>52</c:v>
                </c:pt>
                <c:pt idx="290">
                  <c:v>83</c:v>
                </c:pt>
                <c:pt idx="291">
                  <c:v>42</c:v>
                </c:pt>
                <c:pt idx="292">
                  <c:v>60</c:v>
                </c:pt>
                <c:pt idx="293">
                  <c:v>78</c:v>
                </c:pt>
                <c:pt idx="294">
                  <c:v>162</c:v>
                </c:pt>
                <c:pt idx="295">
                  <c:v>144</c:v>
                </c:pt>
                <c:pt idx="296">
                  <c:v>99</c:v>
                </c:pt>
                <c:pt idx="297">
                  <c:v>64</c:v>
                </c:pt>
                <c:pt idx="298">
                  <c:v>40</c:v>
                </c:pt>
                <c:pt idx="299">
                  <c:v>30</c:v>
                </c:pt>
                <c:pt idx="300">
                  <c:v>15</c:v>
                </c:pt>
                <c:pt idx="301">
                  <c:v>14</c:v>
                </c:pt>
                <c:pt idx="302">
                  <c:v>5</c:v>
                </c:pt>
                <c:pt idx="303">
                  <c:v>1</c:v>
                </c:pt>
                <c:pt idx="304">
                  <c:v>1</c:v>
                </c:pt>
                <c:pt idx="305">
                  <c:v>8</c:v>
                </c:pt>
                <c:pt idx="306">
                  <c:v>17</c:v>
                </c:pt>
                <c:pt idx="307">
                  <c:v>70</c:v>
                </c:pt>
                <c:pt idx="308">
                  <c:v>158</c:v>
                </c:pt>
                <c:pt idx="309">
                  <c:v>117</c:v>
                </c:pt>
                <c:pt idx="310">
                  <c:v>44</c:v>
                </c:pt>
                <c:pt idx="311">
                  <c:v>53</c:v>
                </c:pt>
                <c:pt idx="312">
                  <c:v>61</c:v>
                </c:pt>
                <c:pt idx="313">
                  <c:v>77</c:v>
                </c:pt>
                <c:pt idx="314">
                  <c:v>64</c:v>
                </c:pt>
                <c:pt idx="315">
                  <c:v>68</c:v>
                </c:pt>
                <c:pt idx="316">
                  <c:v>90</c:v>
                </c:pt>
                <c:pt idx="317">
                  <c:v>159</c:v>
                </c:pt>
                <c:pt idx="318">
                  <c:v>139</c:v>
                </c:pt>
                <c:pt idx="319">
                  <c:v>92</c:v>
                </c:pt>
                <c:pt idx="320">
                  <c:v>68</c:v>
                </c:pt>
                <c:pt idx="321">
                  <c:v>52</c:v>
                </c:pt>
                <c:pt idx="322">
                  <c:v>36</c:v>
                </c:pt>
                <c:pt idx="323">
                  <c:v>27</c:v>
                </c:pt>
                <c:pt idx="324">
                  <c:v>28</c:v>
                </c:pt>
                <c:pt idx="325">
                  <c:v>20</c:v>
                </c:pt>
                <c:pt idx="326">
                  <c:v>12</c:v>
                </c:pt>
                <c:pt idx="327">
                  <c:v>8</c:v>
                </c:pt>
                <c:pt idx="328">
                  <c:v>5</c:v>
                </c:pt>
                <c:pt idx="329">
                  <c:v>1</c:v>
                </c:pt>
                <c:pt idx="330">
                  <c:v>3</c:v>
                </c:pt>
                <c:pt idx="331">
                  <c:v>10</c:v>
                </c:pt>
                <c:pt idx="332">
                  <c:v>23</c:v>
                </c:pt>
                <c:pt idx="333">
                  <c:v>33</c:v>
                </c:pt>
                <c:pt idx="334">
                  <c:v>59</c:v>
                </c:pt>
                <c:pt idx="335">
                  <c:v>72</c:v>
                </c:pt>
                <c:pt idx="336">
                  <c:v>89</c:v>
                </c:pt>
                <c:pt idx="337">
                  <c:v>101</c:v>
                </c:pt>
                <c:pt idx="338">
                  <c:v>118</c:v>
                </c:pt>
                <c:pt idx="339">
                  <c:v>129</c:v>
                </c:pt>
                <c:pt idx="340">
                  <c:v>128</c:v>
                </c:pt>
                <c:pt idx="341">
                  <c:v>83</c:v>
                </c:pt>
                <c:pt idx="342">
                  <c:v>84</c:v>
                </c:pt>
                <c:pt idx="343">
                  <c:v>74</c:v>
                </c:pt>
                <c:pt idx="344">
                  <c:v>41</c:v>
                </c:pt>
                <c:pt idx="345">
                  <c:v>57</c:v>
                </c:pt>
                <c:pt idx="346">
                  <c:v>26</c:v>
                </c:pt>
                <c:pt idx="347">
                  <c:v>44</c:v>
                </c:pt>
                <c:pt idx="348">
                  <c:v>#N/A</c:v>
                </c:pt>
                <c:pt idx="349">
                  <c:v>23</c:v>
                </c:pt>
                <c:pt idx="350">
                  <c:v>16</c:v>
                </c:pt>
                <c:pt idx="351">
                  <c:v>#N/A</c:v>
                </c:pt>
                <c:pt idx="352">
                  <c:v>1</c:v>
                </c:pt>
                <c:pt idx="353">
                  <c:v>2</c:v>
                </c:pt>
                <c:pt idx="354">
                  <c:v>1</c:v>
                </c:pt>
                <c:pt idx="355">
                  <c:v>3</c:v>
                </c:pt>
                <c:pt idx="356">
                  <c:v>18</c:v>
                </c:pt>
                <c:pt idx="357">
                  <c:v>32</c:v>
                </c:pt>
                <c:pt idx="358">
                  <c:v>79</c:v>
                </c:pt>
                <c:pt idx="359">
                  <c:v>93</c:v>
                </c:pt>
                <c:pt idx="360">
                  <c:v>104</c:v>
                </c:pt>
                <c:pt idx="361">
                  <c:v>118</c:v>
                </c:pt>
                <c:pt idx="362">
                  <c:v>91</c:v>
                </c:pt>
                <c:pt idx="363">
                  <c:v>113</c:v>
                </c:pt>
                <c:pt idx="364">
                  <c:v>99</c:v>
                </c:pt>
                <c:pt idx="365">
                  <c:v>105</c:v>
                </c:pt>
                <c:pt idx="366">
                  <c:v>67</c:v>
                </c:pt>
                <c:pt idx="367">
                  <c:v>61</c:v>
                </c:pt>
                <c:pt idx="368">
                  <c:v>57</c:v>
                </c:pt>
                <c:pt idx="369">
                  <c:v>28</c:v>
                </c:pt>
                <c:pt idx="370">
                  <c:v>21</c:v>
                </c:pt>
                <c:pt idx="371">
                  <c:v>18</c:v>
                </c:pt>
                <c:pt idx="372">
                  <c:v>17</c:v>
                </c:pt>
                <c:pt idx="373">
                  <c:v>16</c:v>
                </c:pt>
                <c:pt idx="374">
                  <c:v>8</c:v>
                </c:pt>
                <c:pt idx="375">
                  <c:v>2</c:v>
                </c:pt>
                <c:pt idx="376">
                  <c:v>3</c:v>
                </c:pt>
                <c:pt idx="377">
                  <c:v>1</c:v>
                </c:pt>
                <c:pt idx="378">
                  <c:v>5</c:v>
                </c:pt>
                <c:pt idx="379">
                  <c:v>13</c:v>
                </c:pt>
                <c:pt idx="380">
                  <c:v>33</c:v>
                </c:pt>
                <c:pt idx="381">
                  <c:v>47</c:v>
                </c:pt>
                <c:pt idx="382">
                  <c:v>57</c:v>
                </c:pt>
                <c:pt idx="383">
                  <c:v>64</c:v>
                </c:pt>
                <c:pt idx="384">
                  <c:v>80</c:v>
                </c:pt>
                <c:pt idx="385">
                  <c:v>93</c:v>
                </c:pt>
                <c:pt idx="386">
                  <c:v>86</c:v>
                </c:pt>
                <c:pt idx="387">
                  <c:v>93</c:v>
                </c:pt>
                <c:pt idx="388">
                  <c:v>82</c:v>
                </c:pt>
                <c:pt idx="389">
                  <c:v>71</c:v>
                </c:pt>
                <c:pt idx="390">
                  <c:v>92</c:v>
                </c:pt>
                <c:pt idx="391">
                  <c:v>60</c:v>
                </c:pt>
                <c:pt idx="392">
                  <c:v>33</c:v>
                </c:pt>
                <c:pt idx="393">
                  <c:v>27</c:v>
                </c:pt>
                <c:pt idx="394">
                  <c:v>13</c:v>
                </c:pt>
                <c:pt idx="395">
                  <c:v>4</c:v>
                </c:pt>
                <c:pt idx="396">
                  <c:v>#N/A</c:v>
                </c:pt>
                <c:pt idx="397">
                  <c:v>22</c:v>
                </c:pt>
                <c:pt idx="398">
                  <c:v>28</c:v>
                </c:pt>
                <c:pt idx="399">
                  <c:v>35</c:v>
                </c:pt>
                <c:pt idx="400">
                  <c:v>61</c:v>
                </c:pt>
                <c:pt idx="401">
                  <c:v>125</c:v>
                </c:pt>
                <c:pt idx="402">
                  <c:v>133</c:v>
                </c:pt>
                <c:pt idx="403">
                  <c:v>99</c:v>
                </c:pt>
                <c:pt idx="404">
                  <c:v>83</c:v>
                </c:pt>
                <c:pt idx="405">
                  <c:v>41</c:v>
                </c:pt>
                <c:pt idx="406">
                  <c:v>33</c:v>
                </c:pt>
                <c:pt idx="407">
                  <c:v>20</c:v>
                </c:pt>
                <c:pt idx="408">
                  <c:v>3</c:v>
                </c:pt>
                <c:pt idx="409">
                  <c:v>7</c:v>
                </c:pt>
                <c:pt idx="410">
                  <c:v>3</c:v>
                </c:pt>
                <c:pt idx="411">
                  <c:v>2</c:v>
                </c:pt>
                <c:pt idx="412">
                  <c:v>7</c:v>
                </c:pt>
                <c:pt idx="413">
                  <c:v>32</c:v>
                </c:pt>
                <c:pt idx="414">
                  <c:v>90</c:v>
                </c:pt>
                <c:pt idx="415">
                  <c:v>197</c:v>
                </c:pt>
                <c:pt idx="416">
                  <c:v>109</c:v>
                </c:pt>
                <c:pt idx="417">
                  <c:v>47</c:v>
                </c:pt>
                <c:pt idx="418">
                  <c:v>52</c:v>
                </c:pt>
                <c:pt idx="419">
                  <c:v>70</c:v>
                </c:pt>
                <c:pt idx="420">
                  <c:v>78</c:v>
                </c:pt>
                <c:pt idx="421">
                  <c:v>75</c:v>
                </c:pt>
                <c:pt idx="422">
                  <c:v>82</c:v>
                </c:pt>
                <c:pt idx="423">
                  <c:v>104</c:v>
                </c:pt>
                <c:pt idx="424">
                  <c:v>197</c:v>
                </c:pt>
                <c:pt idx="425">
                  <c:v>161</c:v>
                </c:pt>
                <c:pt idx="426">
                  <c:v>112</c:v>
                </c:pt>
                <c:pt idx="427">
                  <c:v>76</c:v>
                </c:pt>
                <c:pt idx="428">
                  <c:v>59</c:v>
                </c:pt>
                <c:pt idx="429">
                  <c:v>#N/A</c:v>
                </c:pt>
                <c:pt idx="430">
                  <c:v>28</c:v>
                </c:pt>
                <c:pt idx="431">
                  <c:v>13</c:v>
                </c:pt>
                <c:pt idx="432">
                  <c:v>5</c:v>
                </c:pt>
                <c:pt idx="433">
                  <c:v>2</c:v>
                </c:pt>
                <c:pt idx="434">
                  <c:v>1</c:v>
                </c:pt>
                <c:pt idx="435">
                  <c:v>1</c:v>
                </c:pt>
                <c:pt idx="436">
                  <c:v>6</c:v>
                </c:pt>
                <c:pt idx="437">
                  <c:v>35</c:v>
                </c:pt>
                <c:pt idx="438">
                  <c:v>101</c:v>
                </c:pt>
                <c:pt idx="439">
                  <c:v>249</c:v>
                </c:pt>
                <c:pt idx="440">
                  <c:v>143</c:v>
                </c:pt>
                <c:pt idx="441">
                  <c:v>57</c:v>
                </c:pt>
                <c:pt idx="442">
                  <c:v>68</c:v>
                </c:pt>
                <c:pt idx="443">
                  <c:v>84</c:v>
                </c:pt>
                <c:pt idx="444">
                  <c:v>98</c:v>
                </c:pt>
                <c:pt idx="445">
                  <c:v>81</c:v>
                </c:pt>
                <c:pt idx="446">
                  <c:v>70</c:v>
                </c:pt>
                <c:pt idx="447">
                  <c:v>91</c:v>
                </c:pt>
                <c:pt idx="448">
                  <c:v>215</c:v>
                </c:pt>
                <c:pt idx="449">
                  <c:v>185</c:v>
                </c:pt>
                <c:pt idx="450">
                  <c:v>#N/A</c:v>
                </c:pt>
                <c:pt idx="451">
                  <c:v>#N/A</c:v>
                </c:pt>
                <c:pt idx="452">
                  <c:v>57</c:v>
                </c:pt>
                <c:pt idx="453">
                  <c:v>56</c:v>
                </c:pt>
                <c:pt idx="454">
                  <c:v>31</c:v>
                </c:pt>
                <c:pt idx="455">
                  <c:v>21</c:v>
                </c:pt>
                <c:pt idx="456">
                  <c:v>6</c:v>
                </c:pt>
                <c:pt idx="457">
                  <c:v>2</c:v>
                </c:pt>
                <c:pt idx="458">
                  <c:v>1</c:v>
                </c:pt>
                <c:pt idx="459">
                  <c:v>1</c:v>
                </c:pt>
                <c:pt idx="460">
                  <c:v>5</c:v>
                </c:pt>
                <c:pt idx="461">
                  <c:v>27</c:v>
                </c:pt>
                <c:pt idx="462">
                  <c:v>68</c:v>
                </c:pt>
                <c:pt idx="463">
                  <c:v>217</c:v>
                </c:pt>
                <c:pt idx="464">
                  <c:v>166</c:v>
                </c:pt>
                <c:pt idx="465">
                  <c:v>63</c:v>
                </c:pt>
                <c:pt idx="466">
                  <c:v>59</c:v>
                </c:pt>
                <c:pt idx="467">
                  <c:v>78</c:v>
                </c:pt>
                <c:pt idx="468">
                  <c:v>73</c:v>
                </c:pt>
                <c:pt idx="469">
                  <c:v>62</c:v>
                </c:pt>
                <c:pt idx="470">
                  <c:v>65</c:v>
                </c:pt>
                <c:pt idx="471">
                  <c:v>97</c:v>
                </c:pt>
                <c:pt idx="472">
                  <c:v>161</c:v>
                </c:pt>
                <c:pt idx="473">
                  <c:v>120</c:v>
                </c:pt>
                <c:pt idx="474">
                  <c:v>96</c:v>
                </c:pt>
                <c:pt idx="475">
                  <c:v>53</c:v>
                </c:pt>
                <c:pt idx="476">
                  <c:v>41</c:v>
                </c:pt>
                <c:pt idx="477">
                  <c:v>34</c:v>
                </c:pt>
                <c:pt idx="478">
                  <c:v>27</c:v>
                </c:pt>
                <c:pt idx="479">
                  <c:v>13</c:v>
                </c:pt>
                <c:pt idx="480">
                  <c:v>12</c:v>
                </c:pt>
                <c:pt idx="481">
                  <c:v>11</c:v>
                </c:pt>
                <c:pt idx="482">
                  <c:v>7</c:v>
                </c:pt>
                <c:pt idx="483">
                  <c:v>3</c:v>
                </c:pt>
                <c:pt idx="484">
                  <c:v>2</c:v>
                </c:pt>
                <c:pt idx="485">
                  <c:v>8</c:v>
                </c:pt>
                <c:pt idx="486">
                  <c:v>27</c:v>
                </c:pt>
                <c:pt idx="487">
                  <c:v>40</c:v>
                </c:pt>
                <c:pt idx="488">
                  <c:v>53</c:v>
                </c:pt>
                <c:pt idx="489">
                  <c:v>63</c:v>
                </c:pt>
                <c:pt idx="490">
                  <c:v>70</c:v>
                </c:pt>
                <c:pt idx="491">
                  <c:v>84</c:v>
                </c:pt>
                <c:pt idx="492">
                  <c:v>75</c:v>
                </c:pt>
                <c:pt idx="493">
                  <c:v>103</c:v>
                </c:pt>
                <c:pt idx="494">
                  <c:v>83</c:v>
                </c:pt>
                <c:pt idx="495">
                  <c:v>67</c:v>
                </c:pt>
                <c:pt idx="496">
                  <c:v>54</c:v>
                </c:pt>
                <c:pt idx="497">
                  <c:v>59</c:v>
                </c:pt>
                <c:pt idx="498">
                  <c:v>45</c:v>
                </c:pt>
                <c:pt idx="499">
                  <c:v>39</c:v>
                </c:pt>
                <c:pt idx="500">
                  <c:v>30</c:v>
                </c:pt>
                <c:pt idx="501">
                  <c:v>33</c:v>
                </c:pt>
                <c:pt idx="502">
                  <c:v>22</c:v>
                </c:pt>
                <c:pt idx="503">
                  <c:v>13</c:v>
                </c:pt>
                <c:pt idx="504">
                  <c:v>18</c:v>
                </c:pt>
                <c:pt idx="505">
                  <c:v>5</c:v>
                </c:pt>
                <c:pt idx="506">
                  <c:v>3</c:v>
                </c:pt>
                <c:pt idx="507">
                  <c:v>1</c:v>
                </c:pt>
                <c:pt idx="508">
                  <c:v>2</c:v>
                </c:pt>
                <c:pt idx="509">
                  <c:v>19</c:v>
                </c:pt>
                <c:pt idx="510">
                  <c:v>28</c:v>
                </c:pt>
                <c:pt idx="511">
                  <c:v>58</c:v>
                </c:pt>
                <c:pt idx="512">
                  <c:v>99</c:v>
                </c:pt>
                <c:pt idx="513">
                  <c:v>116</c:v>
                </c:pt>
                <c:pt idx="514">
                  <c:v>87</c:v>
                </c:pt>
                <c:pt idx="515">
                  <c:v>110</c:v>
                </c:pt>
                <c:pt idx="516">
                  <c:v>77</c:v>
                </c:pt>
                <c:pt idx="517">
                  <c:v>65</c:v>
                </c:pt>
                <c:pt idx="518">
                  <c:v>55</c:v>
                </c:pt>
                <c:pt idx="519">
                  <c:v>49</c:v>
                </c:pt>
                <c:pt idx="520">
                  <c:v>50</c:v>
                </c:pt>
                <c:pt idx="521">
                  <c:v>35</c:v>
                </c:pt>
                <c:pt idx="522">
                  <c:v>25</c:v>
                </c:pt>
                <c:pt idx="523">
                  <c:v>28</c:v>
                </c:pt>
                <c:pt idx="524">
                  <c:v>21</c:v>
                </c:pt>
                <c:pt idx="525">
                  <c:v>7</c:v>
                </c:pt>
                <c:pt idx="526">
                  <c:v>1</c:v>
                </c:pt>
                <c:pt idx="527">
                  <c:v>1</c:v>
                </c:pt>
                <c:pt idx="528">
                  <c:v>1</c:v>
                </c:pt>
                <c:pt idx="529">
                  <c:v>5</c:v>
                </c:pt>
                <c:pt idx="530">
                  <c:v>15</c:v>
                </c:pt>
                <c:pt idx="531">
                  <c:v>84</c:v>
                </c:pt>
                <c:pt idx="532">
                  <c:v>177</c:v>
                </c:pt>
                <c:pt idx="533">
                  <c:v>102</c:v>
                </c:pt>
                <c:pt idx="534">
                  <c:v>40</c:v>
                </c:pt>
                <c:pt idx="535">
                  <c:v>46</c:v>
                </c:pt>
                <c:pt idx="536">
                  <c:v>63</c:v>
                </c:pt>
                <c:pt idx="537">
                  <c:v>60</c:v>
                </c:pt>
                <c:pt idx="538">
                  <c:v>45</c:v>
                </c:pt>
                <c:pt idx="539">
                  <c:v>57</c:v>
                </c:pt>
                <c:pt idx="540">
                  <c:v>70</c:v>
                </c:pt>
                <c:pt idx="541">
                  <c:v>184</c:v>
                </c:pt>
                <c:pt idx="542">
                  <c:v>153</c:v>
                </c:pt>
                <c:pt idx="543">
                  <c:v>106</c:v>
                </c:pt>
                <c:pt idx="544">
                  <c:v>81</c:v>
                </c:pt>
                <c:pt idx="545">
                  <c:v>59</c:v>
                </c:pt>
                <c:pt idx="546">
                  <c:v>35</c:v>
                </c:pt>
                <c:pt idx="547">
                  <c:v>24</c:v>
                </c:pt>
                <c:pt idx="548">
                  <c:v>9</c:v>
                </c:pt>
                <c:pt idx="549">
                  <c:v>5</c:v>
                </c:pt>
                <c:pt idx="550">
                  <c:v>2</c:v>
                </c:pt>
                <c:pt idx="551">
                  <c:v>1</c:v>
                </c:pt>
                <c:pt idx="552">
                  <c:v>9</c:v>
                </c:pt>
                <c:pt idx="553">
                  <c:v>36</c:v>
                </c:pt>
                <c:pt idx="554">
                  <c:v>108</c:v>
                </c:pt>
                <c:pt idx="555">
                  <c:v>238</c:v>
                </c:pt>
                <c:pt idx="556">
                  <c:v>144</c:v>
                </c:pt>
                <c:pt idx="557">
                  <c:v>55</c:v>
                </c:pt>
                <c:pt idx="558">
                  <c:v>61</c:v>
                </c:pt>
                <c:pt idx="559">
                  <c:v>106</c:v>
                </c:pt>
                <c:pt idx="560">
                  <c:v>93</c:v>
                </c:pt>
                <c:pt idx="561">
                  <c:v>68</c:v>
                </c:pt>
                <c:pt idx="562">
                  <c:v>84</c:v>
                </c:pt>
                <c:pt idx="563">
                  <c:v>116</c:v>
                </c:pt>
                <c:pt idx="564">
                  <c:v>222</c:v>
                </c:pt>
                <c:pt idx="565">
                  <c:v>#N/A</c:v>
                </c:pt>
                <c:pt idx="566">
                  <c:v>146</c:v>
                </c:pt>
                <c:pt idx="567">
                  <c:v>#N/A</c:v>
                </c:pt>
                <c:pt idx="568">
                  <c:v>45</c:v>
                </c:pt>
                <c:pt idx="569">
                  <c:v>53</c:v>
                </c:pt>
                <c:pt idx="570">
                  <c:v>40</c:v>
                </c:pt>
                <c:pt idx="571">
                  <c:v>17</c:v>
                </c:pt>
                <c:pt idx="572">
                  <c:v>5</c:v>
                </c:pt>
                <c:pt idx="573">
                  <c:v>10</c:v>
                </c:pt>
                <c:pt idx="574">
                  <c:v>1</c:v>
                </c:pt>
                <c:pt idx="575">
                  <c:v>8</c:v>
                </c:pt>
                <c:pt idx="576">
                  <c:v>30</c:v>
                </c:pt>
                <c:pt idx="577">
                  <c:v>72</c:v>
                </c:pt>
                <c:pt idx="578">
                  <c:v>58</c:v>
                </c:pt>
                <c:pt idx="579">
                  <c:v>28</c:v>
                </c:pt>
                <c:pt idx="580">
                  <c:v>41</c:v>
                </c:pt>
                <c:pt idx="581">
                  <c:v>48</c:v>
                </c:pt>
                <c:pt idx="582">
                  <c:v>47</c:v>
                </c:pt>
                <c:pt idx="583">
                  <c:v>36</c:v>
                </c:pt>
                <c:pt idx="584">
                  <c:v>43</c:v>
                </c:pt>
                <c:pt idx="585">
                  <c:v>#N/A</c:v>
                </c:pt>
                <c:pt idx="586">
                  <c:v>#N/A</c:v>
                </c:pt>
                <c:pt idx="587">
                  <c:v>#N/A</c:v>
                </c:pt>
                <c:pt idx="588">
                  <c:v>84</c:v>
                </c:pt>
                <c:pt idx="589">
                  <c:v>104</c:v>
                </c:pt>
                <c:pt idx="590">
                  <c:v>79</c:v>
                </c:pt>
                <c:pt idx="591">
                  <c:v>59</c:v>
                </c:pt>
                <c:pt idx="592">
                  <c:v>38</c:v>
                </c:pt>
                <c:pt idx="593">
                  <c:v>27</c:v>
                </c:pt>
                <c:pt idx="594">
                  <c:v>16</c:v>
                </c:pt>
                <c:pt idx="595">
                  <c:v>9</c:v>
                </c:pt>
                <c:pt idx="596">
                  <c:v>3</c:v>
                </c:pt>
                <c:pt idx="597">
                  <c:v>2</c:v>
                </c:pt>
                <c:pt idx="598">
                  <c:v>1</c:v>
                </c:pt>
                <c:pt idx="599">
                  <c:v>4</c:v>
                </c:pt>
                <c:pt idx="600">
                  <c:v>16</c:v>
                </c:pt>
                <c:pt idx="601">
                  <c:v>60</c:v>
                </c:pt>
                <c:pt idx="602">
                  <c:v>157</c:v>
                </c:pt>
                <c:pt idx="603">
                  <c:v>101</c:v>
                </c:pt>
                <c:pt idx="604">
                  <c:v>49</c:v>
                </c:pt>
                <c:pt idx="605">
                  <c:v>30</c:v>
                </c:pt>
                <c:pt idx="606">
                  <c:v>29</c:v>
                </c:pt>
                <c:pt idx="607">
                  <c:v>31</c:v>
                </c:pt>
                <c:pt idx="608">
                  <c:v>38</c:v>
                </c:pt>
                <c:pt idx="609">
                  <c:v>41</c:v>
                </c:pt>
                <c:pt idx="610">
                  <c:v>80</c:v>
                </c:pt>
                <c:pt idx="611">
                  <c:v>149</c:v>
                </c:pt>
                <c:pt idx="612">
                  <c:v>109</c:v>
                </c:pt>
                <c:pt idx="613">
                  <c:v>89</c:v>
                </c:pt>
                <c:pt idx="614">
                  <c:v>62</c:v>
                </c:pt>
                <c:pt idx="615">
                  <c:v>58</c:v>
                </c:pt>
                <c:pt idx="616">
                  <c:v>26</c:v>
                </c:pt>
                <c:pt idx="617">
                  <c:v>23</c:v>
                </c:pt>
                <c:pt idx="618">
                  <c:v>28</c:v>
                </c:pt>
                <c:pt idx="619">
                  <c:v>20</c:v>
                </c:pt>
                <c:pt idx="620">
                  <c:v>15</c:v>
                </c:pt>
                <c:pt idx="621">
                  <c:v>8</c:v>
                </c:pt>
                <c:pt idx="622">
                  <c:v>3</c:v>
                </c:pt>
                <c:pt idx="623">
                  <c:v>2</c:v>
                </c:pt>
                <c:pt idx="624">
                  <c:v>5</c:v>
                </c:pt>
                <c:pt idx="625">
                  <c:v>34</c:v>
                </c:pt>
                <c:pt idx="626">
                  <c:v>34</c:v>
                </c:pt>
                <c:pt idx="627">
                  <c:v>55</c:v>
                </c:pt>
                <c:pt idx="628">
                  <c:v>64</c:v>
                </c:pt>
                <c:pt idx="629">
                  <c:v>78</c:v>
                </c:pt>
                <c:pt idx="630">
                  <c:v>65</c:v>
                </c:pt>
                <c:pt idx="631">
                  <c:v>99</c:v>
                </c:pt>
                <c:pt idx="632">
                  <c:v>120</c:v>
                </c:pt>
                <c:pt idx="633">
                  <c:v>107</c:v>
                </c:pt>
                <c:pt idx="634">
                  <c:v>91</c:v>
                </c:pt>
                <c:pt idx="635">
                  <c:v>68</c:v>
                </c:pt>
                <c:pt idx="636">
                  <c:v>58</c:v>
                </c:pt>
                <c:pt idx="637">
                  <c:v>43</c:v>
                </c:pt>
                <c:pt idx="638">
                  <c:v>36</c:v>
                </c:pt>
                <c:pt idx="639">
                  <c:v>32</c:v>
                </c:pt>
                <c:pt idx="640">
                  <c:v>33</c:v>
                </c:pt>
                <c:pt idx="641">
                  <c:v>33</c:v>
                </c:pt>
                <c:pt idx="642">
                  <c:v>29</c:v>
                </c:pt>
                <c:pt idx="643">
                  <c:v>11</c:v>
                </c:pt>
                <c:pt idx="644">
                  <c:v>8</c:v>
                </c:pt>
                <c:pt idx="645">
                  <c:v>1</c:v>
                </c:pt>
                <c:pt idx="646">
                  <c:v>3</c:v>
                </c:pt>
                <c:pt idx="647">
                  <c:v>3</c:v>
                </c:pt>
                <c:pt idx="648">
                  <c:v>12</c:v>
                </c:pt>
                <c:pt idx="649">
                  <c:v>38</c:v>
                </c:pt>
                <c:pt idx="650">
                  <c:v>64</c:v>
                </c:pt>
                <c:pt idx="651">
                  <c:v>59</c:v>
                </c:pt>
                <c:pt idx="652">
                  <c:v>97</c:v>
                </c:pt>
                <c:pt idx="653">
                  <c:v>84</c:v>
                </c:pt>
                <c:pt idx="654">
                  <c:v>122</c:v>
                </c:pt>
                <c:pt idx="655">
                  <c:v>109</c:v>
                </c:pt>
                <c:pt idx="656">
                  <c:v>123</c:v>
                </c:pt>
                <c:pt idx="657">
                  <c:v>77</c:v>
                </c:pt>
                <c:pt idx="658">
                  <c:v>65</c:v>
                </c:pt>
                <c:pt idx="659">
                  <c:v>55</c:v>
                </c:pt>
                <c:pt idx="660">
                  <c:v>33</c:v>
                </c:pt>
                <c:pt idx="661">
                  <c:v>28</c:v>
                </c:pt>
                <c:pt idx="662">
                  <c:v>21</c:v>
                </c:pt>
                <c:pt idx="663">
                  <c:v>21</c:v>
                </c:pt>
                <c:pt idx="664">
                  <c:v>7</c:v>
                </c:pt>
                <c:pt idx="665">
                  <c:v>7</c:v>
                </c:pt>
                <c:pt idx="666">
                  <c:v>1</c:v>
                </c:pt>
                <c:pt idx="667">
                  <c:v>2</c:v>
                </c:pt>
                <c:pt idx="668">
                  <c:v>2</c:v>
                </c:pt>
                <c:pt idx="669">
                  <c:v>8</c:v>
                </c:pt>
                <c:pt idx="670">
                  <c:v>37</c:v>
                </c:pt>
                <c:pt idx="671">
                  <c:v>72</c:v>
                </c:pt>
                <c:pt idx="672">
                  <c:v>185</c:v>
                </c:pt>
                <c:pt idx="673">
                  <c:v>112</c:v>
                </c:pt>
                <c:pt idx="674">
                  <c:v>69</c:v>
                </c:pt>
                <c:pt idx="675">
                  <c:v>48</c:v>
                </c:pt>
                <c:pt idx="676">
                  <c:v>68</c:v>
                </c:pt>
                <c:pt idx="677">
                  <c:v>54</c:v>
                </c:pt>
                <c:pt idx="678">
                  <c:v>86</c:v>
                </c:pt>
                <c:pt idx="679">
                  <c:v>44</c:v>
                </c:pt>
                <c:pt idx="680">
                  <c:v>86</c:v>
                </c:pt>
                <c:pt idx="681">
                  <c:v>161</c:v>
                </c:pt>
                <c:pt idx="682">
                  <c:v>156</c:v>
                </c:pt>
                <c:pt idx="683">
                  <c:v>111</c:v>
                </c:pt>
                <c:pt idx="684">
                  <c:v>78</c:v>
                </c:pt>
                <c:pt idx="685">
                  <c:v>56</c:v>
                </c:pt>
                <c:pt idx="686">
                  <c:v>34</c:v>
                </c:pt>
                <c:pt idx="687">
                  <c:v>17</c:v>
                </c:pt>
                <c:pt idx="688">
                  <c:v>8</c:v>
                </c:pt>
                <c:pt idx="689">
                  <c:v>3</c:v>
                </c:pt>
                <c:pt idx="690">
                  <c:v>2</c:v>
                </c:pt>
                <c:pt idx="691">
                  <c:v>2</c:v>
                </c:pt>
                <c:pt idx="692">
                  <c:v>3</c:v>
                </c:pt>
                <c:pt idx="693">
                  <c:v>22</c:v>
                </c:pt>
                <c:pt idx="694">
                  <c:v>52</c:v>
                </c:pt>
                <c:pt idx="695">
                  <c:v>135</c:v>
                </c:pt>
                <c:pt idx="696">
                  <c:v>116</c:v>
                </c:pt>
                <c:pt idx="697">
                  <c:v>47</c:v>
                </c:pt>
                <c:pt idx="698">
                  <c:v>51</c:v>
                </c:pt>
                <c:pt idx="699">
                  <c:v>55</c:v>
                </c:pt>
                <c:pt idx="700">
                  <c:v>52</c:v>
                </c:pt>
                <c:pt idx="701">
                  <c:v>54</c:v>
                </c:pt>
                <c:pt idx="702">
                  <c:v>52</c:v>
                </c:pt>
                <c:pt idx="703">
                  <c:v>64</c:v>
                </c:pt>
                <c:pt idx="704">
                  <c:v>176</c:v>
                </c:pt>
                <c:pt idx="705">
                  <c:v>168</c:v>
                </c:pt>
                <c:pt idx="706">
                  <c:v>108</c:v>
                </c:pt>
                <c:pt idx="707">
                  <c:v>74</c:v>
                </c:pt>
                <c:pt idx="708">
                  <c:v>64</c:v>
                </c:pt>
                <c:pt idx="709">
                  <c:v>36</c:v>
                </c:pt>
                <c:pt idx="710">
                  <c:v>16</c:v>
                </c:pt>
                <c:pt idx="711">
                  <c:v>2</c:v>
                </c:pt>
                <c:pt idx="712">
                  <c:v>3</c:v>
                </c:pt>
                <c:pt idx="713">
                  <c:v>4</c:v>
                </c:pt>
                <c:pt idx="714">
                  <c:v>1</c:v>
                </c:pt>
                <c:pt idx="715">
                  <c:v>1</c:v>
                </c:pt>
                <c:pt idx="716">
                  <c:v>3</c:v>
                </c:pt>
                <c:pt idx="717">
                  <c:v>18</c:v>
                </c:pt>
                <c:pt idx="718">
                  <c:v>49</c:v>
                </c:pt>
                <c:pt idx="719">
                  <c:v>155</c:v>
                </c:pt>
                <c:pt idx="720">
                  <c:v>123</c:v>
                </c:pt>
                <c:pt idx="721">
                  <c:v>61</c:v>
                </c:pt>
                <c:pt idx="722">
                  <c:v>52</c:v>
                </c:pt>
                <c:pt idx="723">
                  <c:v>64</c:v>
                </c:pt>
                <c:pt idx="724">
                  <c:v>75</c:v>
                </c:pt>
                <c:pt idx="725">
                  <c:v>63</c:v>
                </c:pt>
                <c:pt idx="726">
                  <c:v>76</c:v>
                </c:pt>
                <c:pt idx="727">
                  <c:v>103</c:v>
                </c:pt>
                <c:pt idx="728">
                  <c:v>190</c:v>
                </c:pt>
                <c:pt idx="729">
                  <c:v>182</c:v>
                </c:pt>
                <c:pt idx="730">
                  <c:v>91</c:v>
                </c:pt>
                <c:pt idx="731">
                  <c:v>75</c:v>
                </c:pt>
                <c:pt idx="732">
                  <c:v>63</c:v>
                </c:pt>
                <c:pt idx="733">
                  <c:v>40</c:v>
                </c:pt>
                <c:pt idx="734">
                  <c:v>32</c:v>
                </c:pt>
                <c:pt idx="735">
                  <c:v>12</c:v>
                </c:pt>
                <c:pt idx="736">
                  <c:v>5</c:v>
                </c:pt>
                <c:pt idx="737">
                  <c:v>2</c:v>
                </c:pt>
                <c:pt idx="738">
                  <c:v>1</c:v>
                </c:pt>
                <c:pt idx="739">
                  <c:v>2</c:v>
                </c:pt>
                <c:pt idx="740">
                  <c:v>39</c:v>
                </c:pt>
                <c:pt idx="741">
                  <c:v>87</c:v>
                </c:pt>
                <c:pt idx="742">
                  <c:v>188</c:v>
                </c:pt>
                <c:pt idx="743">
                  <c:v>133</c:v>
                </c:pt>
                <c:pt idx="744">
                  <c:v>52</c:v>
                </c:pt>
                <c:pt idx="745">
                  <c:v>64</c:v>
                </c:pt>
                <c:pt idx="746">
                  <c:v>69</c:v>
                </c:pt>
                <c:pt idx="747">
                  <c:v>51</c:v>
                </c:pt>
                <c:pt idx="748">
                  <c:v>47</c:v>
                </c:pt>
                <c:pt idx="749">
                  <c:v>60</c:v>
                </c:pt>
                <c:pt idx="750">
                  <c:v>78</c:v>
                </c:pt>
                <c:pt idx="751">
                  <c:v>175</c:v>
                </c:pt>
                <c:pt idx="752">
                  <c:v>147</c:v>
                </c:pt>
                <c:pt idx="753">
                  <c:v>96</c:v>
                </c:pt>
                <c:pt idx="754">
                  <c:v>109</c:v>
                </c:pt>
                <c:pt idx="755">
                  <c:v>54</c:v>
                </c:pt>
                <c:pt idx="756">
                  <c:v>41</c:v>
                </c:pt>
                <c:pt idx="757">
                  <c:v>38</c:v>
                </c:pt>
                <c:pt idx="758">
                  <c:v>13</c:v>
                </c:pt>
                <c:pt idx="759">
                  <c:v>7</c:v>
                </c:pt>
                <c:pt idx="760">
                  <c:v>1</c:v>
                </c:pt>
                <c:pt idx="761">
                  <c:v>1</c:v>
                </c:pt>
                <c:pt idx="762">
                  <c:v>7</c:v>
                </c:pt>
                <c:pt idx="763">
                  <c:v>28</c:v>
                </c:pt>
                <c:pt idx="764">
                  <c:v>87</c:v>
                </c:pt>
                <c:pt idx="765">
                  <c:v>220</c:v>
                </c:pt>
                <c:pt idx="766">
                  <c:v>127</c:v>
                </c:pt>
                <c:pt idx="767">
                  <c:v>51</c:v>
                </c:pt>
                <c:pt idx="768">
                  <c:v>64</c:v>
                </c:pt>
                <c:pt idx="769">
                  <c:v>86</c:v>
                </c:pt>
                <c:pt idx="770">
                  <c:v>82</c:v>
                </c:pt>
                <c:pt idx="771">
                  <c:v>91</c:v>
                </c:pt>
                <c:pt idx="772">
                  <c:v>90</c:v>
                </c:pt>
                <c:pt idx="773">
                  <c:v>99</c:v>
                </c:pt>
                <c:pt idx="774">
                  <c:v>205</c:v>
                </c:pt>
                <c:pt idx="775">
                  <c:v>155</c:v>
                </c:pt>
                <c:pt idx="776">
                  <c:v>103</c:v>
                </c:pt>
                <c:pt idx="777">
                  <c:v>71</c:v>
                </c:pt>
                <c:pt idx="778">
                  <c:v>43</c:v>
                </c:pt>
                <c:pt idx="779">
                  <c:v>46</c:v>
                </c:pt>
                <c:pt idx="780">
                  <c:v>31</c:v>
                </c:pt>
                <c:pt idx="781">
                  <c:v>#N/A</c:v>
                </c:pt>
                <c:pt idx="782">
                  <c:v>18</c:v>
                </c:pt>
                <c:pt idx="783">
                  <c:v>17</c:v>
                </c:pt>
                <c:pt idx="784">
                  <c:v>11</c:v>
                </c:pt>
                <c:pt idx="785">
                  <c:v>#N/A</c:v>
                </c:pt>
                <c:pt idx="786">
                  <c:v>9</c:v>
                </c:pt>
                <c:pt idx="787">
                  <c:v>4</c:v>
                </c:pt>
                <c:pt idx="788">
                  <c:v>4</c:v>
                </c:pt>
                <c:pt idx="789">
                  <c:v>10</c:v>
                </c:pt>
                <c:pt idx="790">
                  <c:v>20</c:v>
                </c:pt>
                <c:pt idx="791">
                  <c:v>34</c:v>
                </c:pt>
                <c:pt idx="792">
                  <c:v>47</c:v>
                </c:pt>
                <c:pt idx="793">
                  <c:v>52</c:v>
                </c:pt>
                <c:pt idx="794">
                  <c:v>72</c:v>
                </c:pt>
                <c:pt idx="795">
                  <c:v>55</c:v>
                </c:pt>
                <c:pt idx="796">
                  <c:v>60</c:v>
                </c:pt>
                <c:pt idx="797">
                  <c:v>71</c:v>
                </c:pt>
                <c:pt idx="798">
                  <c:v>78</c:v>
                </c:pt>
                <c:pt idx="799">
                  <c:v>83</c:v>
                </c:pt>
                <c:pt idx="800">
                  <c:v>84</c:v>
                </c:pt>
                <c:pt idx="801">
                  <c:v>69</c:v>
                </c:pt>
                <c:pt idx="802">
                  <c:v>56</c:v>
                </c:pt>
                <c:pt idx="803">
                  <c:v>45</c:v>
                </c:pt>
                <c:pt idx="804">
                  <c:v>#N/A</c:v>
                </c:pt>
                <c:pt idx="805">
                  <c:v>#N/A</c:v>
                </c:pt>
                <c:pt idx="806">
                  <c:v>#N/A</c:v>
                </c:pt>
                <c:pt idx="807">
                  <c:v>20</c:v>
                </c:pt>
                <c:pt idx="808">
                  <c:v>13</c:v>
                </c:pt>
                <c:pt idx="809">
                  <c:v>2</c:v>
                </c:pt>
                <c:pt idx="810">
                  <c:v>1</c:v>
                </c:pt>
                <c:pt idx="811">
                  <c:v>1</c:v>
                </c:pt>
                <c:pt idx="812">
                  <c:v>8</c:v>
                </c:pt>
                <c:pt idx="813">
                  <c:v>23</c:v>
                </c:pt>
                <c:pt idx="814">
                  <c:v>45</c:v>
                </c:pt>
                <c:pt idx="815">
                  <c:v>#N/A</c:v>
                </c:pt>
                <c:pt idx="816">
                  <c:v>#N/A</c:v>
                </c:pt>
                <c:pt idx="817">
                  <c:v>#N/A</c:v>
                </c:pt>
                <c:pt idx="818">
                  <c:v>#N/A</c:v>
                </c:pt>
                <c:pt idx="819">
                  <c:v>#N/A</c:v>
                </c:pt>
                <c:pt idx="820">
                  <c:v>#N/A</c:v>
                </c:pt>
                <c:pt idx="821">
                  <c:v>#N/A</c:v>
                </c:pt>
                <c:pt idx="822">
                  <c:v>121</c:v>
                </c:pt>
                <c:pt idx="823">
                  <c:v>78</c:v>
                </c:pt>
                <c:pt idx="824">
                  <c:v>#N/A</c:v>
                </c:pt>
                <c:pt idx="825">
                  <c:v>26</c:v>
                </c:pt>
                <c:pt idx="826">
                  <c:v>27</c:v>
                </c:pt>
                <c:pt idx="827">
                  <c:v>#N/A</c:v>
                </c:pt>
                <c:pt idx="828">
                  <c:v>30</c:v>
                </c:pt>
                <c:pt idx="829">
                  <c:v>15</c:v>
                </c:pt>
                <c:pt idx="830">
                  <c:v>5</c:v>
                </c:pt>
                <c:pt idx="831">
                  <c:v>3</c:v>
                </c:pt>
                <c:pt idx="832">
                  <c:v>1</c:v>
                </c:pt>
                <c:pt idx="833">
                  <c:v>2</c:v>
                </c:pt>
                <c:pt idx="834">
                  <c:v>#N/A</c:v>
                </c:pt>
                <c:pt idx="835">
                  <c:v>30</c:v>
                </c:pt>
                <c:pt idx="836">
                  <c:v>95</c:v>
                </c:pt>
                <c:pt idx="837">
                  <c:v>230</c:v>
                </c:pt>
                <c:pt idx="838">
                  <c:v>118</c:v>
                </c:pt>
                <c:pt idx="839">
                  <c:v>55</c:v>
                </c:pt>
                <c:pt idx="840">
                  <c:v>47</c:v>
                </c:pt>
                <c:pt idx="841">
                  <c:v>66</c:v>
                </c:pt>
                <c:pt idx="842">
                  <c:v>64</c:v>
                </c:pt>
                <c:pt idx="843">
                  <c:v>60</c:v>
                </c:pt>
                <c:pt idx="844">
                  <c:v>50</c:v>
                </c:pt>
                <c:pt idx="845">
                  <c:v>114</c:v>
                </c:pt>
                <c:pt idx="846">
                  <c:v>216</c:v>
                </c:pt>
                <c:pt idx="847">
                  <c:v>175</c:v>
                </c:pt>
                <c:pt idx="848">
                  <c:v>128</c:v>
                </c:pt>
                <c:pt idx="849">
                  <c:v>88</c:v>
                </c:pt>
                <c:pt idx="850">
                  <c:v>#N/A</c:v>
                </c:pt>
                <c:pt idx="851">
                  <c:v>37</c:v>
                </c:pt>
                <c:pt idx="852">
                  <c:v>25</c:v>
                </c:pt>
                <c:pt idx="853">
                  <c:v>10</c:v>
                </c:pt>
                <c:pt idx="854">
                  <c:v>4</c:v>
                </c:pt>
                <c:pt idx="855">
                  <c:v>2</c:v>
                </c:pt>
                <c:pt idx="856">
                  <c:v>1</c:v>
                </c:pt>
                <c:pt idx="857">
                  <c:v>3</c:v>
                </c:pt>
                <c:pt idx="858">
                  <c:v>2</c:v>
                </c:pt>
                <c:pt idx="859">
                  <c:v>39</c:v>
                </c:pt>
                <c:pt idx="860">
                  <c:v>100</c:v>
                </c:pt>
                <c:pt idx="861">
                  <c:v>243</c:v>
                </c:pt>
                <c:pt idx="862">
                  <c:v>135</c:v>
                </c:pt>
                <c:pt idx="863">
                  <c:v>48</c:v>
                </c:pt>
                <c:pt idx="864">
                  <c:v>50</c:v>
                </c:pt>
                <c:pt idx="865">
                  <c:v>65</c:v>
                </c:pt>
                <c:pt idx="866">
                  <c:v>50</c:v>
                </c:pt>
                <c:pt idx="867">
                  <c:v>64</c:v>
                </c:pt>
                <c:pt idx="868">
                  <c:v>51</c:v>
                </c:pt>
                <c:pt idx="869">
                  <c:v>83</c:v>
                </c:pt>
                <c:pt idx="870">
                  <c:v>176</c:v>
                </c:pt>
                <c:pt idx="871">
                  <c:v>152</c:v>
                </c:pt>
                <c:pt idx="872">
                  <c:v>101</c:v>
                </c:pt>
                <c:pt idx="873">
                  <c:v>56</c:v>
                </c:pt>
                <c:pt idx="874">
                  <c:v>54</c:v>
                </c:pt>
                <c:pt idx="875">
                  <c:v>29</c:v>
                </c:pt>
                <c:pt idx="876">
                  <c:v>12</c:v>
                </c:pt>
                <c:pt idx="877">
                  <c:v>17</c:v>
                </c:pt>
                <c:pt idx="878">
                  <c:v>7</c:v>
                </c:pt>
                <c:pt idx="879">
                  <c:v>3</c:v>
                </c:pt>
                <c:pt idx="880">
                  <c:v>2</c:v>
                </c:pt>
                <c:pt idx="881">
                  <c:v>7</c:v>
                </c:pt>
                <c:pt idx="882">
                  <c:v>43</c:v>
                </c:pt>
                <c:pt idx="883">
                  <c:v>99</c:v>
                </c:pt>
                <c:pt idx="884">
                  <c:v>199</c:v>
                </c:pt>
                <c:pt idx="885">
                  <c:v>123</c:v>
                </c:pt>
                <c:pt idx="886">
                  <c:v>59</c:v>
                </c:pt>
                <c:pt idx="887">
                  <c:v>41</c:v>
                </c:pt>
                <c:pt idx="888">
                  <c:v>61</c:v>
                </c:pt>
                <c:pt idx="889">
                  <c:v>69</c:v>
                </c:pt>
                <c:pt idx="890">
                  <c:v>58</c:v>
                </c:pt>
                <c:pt idx="891">
                  <c:v>64</c:v>
                </c:pt>
                <c:pt idx="892">
                  <c:v>79</c:v>
                </c:pt>
                <c:pt idx="893">
                  <c:v>166</c:v>
                </c:pt>
                <c:pt idx="894">
                  <c:v>170</c:v>
                </c:pt>
                <c:pt idx="895">
                  <c:v>88</c:v>
                </c:pt>
                <c:pt idx="896">
                  <c:v>84</c:v>
                </c:pt>
                <c:pt idx="897">
                  <c:v>#N/A</c:v>
                </c:pt>
                <c:pt idx="898">
                  <c:v>46</c:v>
                </c:pt>
                <c:pt idx="899">
                  <c:v>37</c:v>
                </c:pt>
                <c:pt idx="900">
                  <c:v>16</c:v>
                </c:pt>
                <c:pt idx="901">
                  <c:v>7</c:v>
                </c:pt>
                <c:pt idx="902">
                  <c:v>3</c:v>
                </c:pt>
                <c:pt idx="903">
                  <c:v>1</c:v>
                </c:pt>
                <c:pt idx="904">
                  <c:v>6</c:v>
                </c:pt>
                <c:pt idx="905">
                  <c:v>26</c:v>
                </c:pt>
                <c:pt idx="906">
                  <c:v>99</c:v>
                </c:pt>
                <c:pt idx="907">
                  <c:v>178</c:v>
                </c:pt>
                <c:pt idx="908">
                  <c:v>122</c:v>
                </c:pt>
                <c:pt idx="909">
                  <c:v>35</c:v>
                </c:pt>
                <c:pt idx="910">
                  <c:v>45</c:v>
                </c:pt>
                <c:pt idx="911">
                  <c:v>69</c:v>
                </c:pt>
                <c:pt idx="912">
                  <c:v>62</c:v>
                </c:pt>
                <c:pt idx="913">
                  <c:v>48</c:v>
                </c:pt>
                <c:pt idx="914">
                  <c:v>50</c:v>
                </c:pt>
                <c:pt idx="915">
                  <c:v>80</c:v>
                </c:pt>
                <c:pt idx="916">
                  <c:v>165</c:v>
                </c:pt>
                <c:pt idx="917">
                  <c:v>160</c:v>
                </c:pt>
                <c:pt idx="918">
                  <c:v>112</c:v>
                </c:pt>
                <c:pt idx="919">
                  <c:v>97</c:v>
                </c:pt>
                <c:pt idx="920">
                  <c:v>72</c:v>
                </c:pt>
                <c:pt idx="921">
                  <c:v>51</c:v>
                </c:pt>
                <c:pt idx="922">
                  <c:v>34</c:v>
                </c:pt>
                <c:pt idx="923">
                  <c:v>14</c:v>
                </c:pt>
                <c:pt idx="924">
                  <c:v>7</c:v>
                </c:pt>
                <c:pt idx="925">
                  <c:v>3</c:v>
                </c:pt>
                <c:pt idx="926">
                  <c:v>4</c:v>
                </c:pt>
                <c:pt idx="927">
                  <c:v>24</c:v>
                </c:pt>
                <c:pt idx="928">
                  <c:v>74</c:v>
                </c:pt>
                <c:pt idx="929">
                  <c:v>216</c:v>
                </c:pt>
                <c:pt idx="930">
                  <c:v>140</c:v>
                </c:pt>
                <c:pt idx="931">
                  <c:v>44</c:v>
                </c:pt>
                <c:pt idx="932">
                  <c:v>64</c:v>
                </c:pt>
                <c:pt idx="933">
                  <c:v>71</c:v>
                </c:pt>
                <c:pt idx="934">
                  <c:v>110</c:v>
                </c:pt>
                <c:pt idx="935">
                  <c:v>84</c:v>
                </c:pt>
                <c:pt idx="936">
                  <c:v>74</c:v>
                </c:pt>
                <c:pt idx="937">
                  <c:v>125</c:v>
                </c:pt>
                <c:pt idx="938">
                  <c:v>211</c:v>
                </c:pt>
                <c:pt idx="939">
                  <c:v>174</c:v>
                </c:pt>
                <c:pt idx="940">
                  <c:v>101</c:v>
                </c:pt>
                <c:pt idx="941">
                  <c:v>63</c:v>
                </c:pt>
                <c:pt idx="942">
                  <c:v>47</c:v>
                </c:pt>
                <c:pt idx="943">
                  <c:v>43</c:v>
                </c:pt>
                <c:pt idx="944">
                  <c:v>#N/A</c:v>
                </c:pt>
                <c:pt idx="945">
                  <c:v>30</c:v>
                </c:pt>
                <c:pt idx="946">
                  <c:v>24</c:v>
                </c:pt>
                <c:pt idx="947">
                  <c:v>15</c:v>
                </c:pt>
                <c:pt idx="948">
                  <c:v>10</c:v>
                </c:pt>
                <c:pt idx="949">
                  <c:v>4</c:v>
                </c:pt>
                <c:pt idx="950">
                  <c:v>1</c:v>
                </c:pt>
                <c:pt idx="951">
                  <c:v>2</c:v>
                </c:pt>
                <c:pt idx="952">
                  <c:v>11</c:v>
                </c:pt>
                <c:pt idx="953">
                  <c:v>30</c:v>
                </c:pt>
                <c:pt idx="954">
                  <c:v>43</c:v>
                </c:pt>
                <c:pt idx="955">
                  <c:v>84</c:v>
                </c:pt>
                <c:pt idx="956">
                  <c:v>#N/A</c:v>
                </c:pt>
                <c:pt idx="957">
                  <c:v>120</c:v>
                </c:pt>
                <c:pt idx="958">
                  <c:v>135</c:v>
                </c:pt>
                <c:pt idx="959">
                  <c:v>120</c:v>
                </c:pt>
                <c:pt idx="960">
                  <c:v>#N/A</c:v>
                </c:pt>
                <c:pt idx="961">
                  <c:v>#N/A</c:v>
                </c:pt>
                <c:pt idx="962">
                  <c:v>137</c:v>
                </c:pt>
                <c:pt idx="963">
                  <c:v>64</c:v>
                </c:pt>
                <c:pt idx="964">
                  <c:v>41</c:v>
                </c:pt>
                <c:pt idx="965">
                  <c:v>40</c:v>
                </c:pt>
                <c:pt idx="966">
                  <c:v>51</c:v>
                </c:pt>
                <c:pt idx="967">
                  <c:v>45</c:v>
                </c:pt>
                <c:pt idx="968">
                  <c:v>32</c:v>
                </c:pt>
                <c:pt idx="969">
                  <c:v>#N/A</c:v>
                </c:pt>
                <c:pt idx="970">
                  <c:v>24</c:v>
                </c:pt>
                <c:pt idx="971">
                  <c:v>20</c:v>
                </c:pt>
                <c:pt idx="972">
                  <c:v>12</c:v>
                </c:pt>
                <c:pt idx="973">
                  <c:v>2</c:v>
                </c:pt>
                <c:pt idx="974">
                  <c:v>5</c:v>
                </c:pt>
                <c:pt idx="975">
                  <c:v>3</c:v>
                </c:pt>
                <c:pt idx="976">
                  <c:v>12</c:v>
                </c:pt>
                <c:pt idx="977">
                  <c:v>47</c:v>
                </c:pt>
                <c:pt idx="978">
                  <c:v>#N/A</c:v>
                </c:pt>
                <c:pt idx="979">
                  <c:v>#N/A</c:v>
                </c:pt>
                <c:pt idx="980">
                  <c:v>#N/A</c:v>
                </c:pt>
                <c:pt idx="981">
                  <c:v>#N/A</c:v>
                </c:pt>
                <c:pt idx="982">
                  <c:v>#N/A</c:v>
                </c:pt>
                <c:pt idx="983">
                  <c:v>#N/A</c:v>
                </c:pt>
                <c:pt idx="984">
                  <c:v>134</c:v>
                </c:pt>
                <c:pt idx="985">
                  <c:v>125</c:v>
                </c:pt>
                <c:pt idx="986">
                  <c:v>95</c:v>
                </c:pt>
                <c:pt idx="987">
                  <c:v>61</c:v>
                </c:pt>
                <c:pt idx="988">
                  <c:v>47</c:v>
                </c:pt>
                <c:pt idx="989">
                  <c:v>51</c:v>
                </c:pt>
                <c:pt idx="990">
                  <c:v>36</c:v>
                </c:pt>
                <c:pt idx="991">
                  <c:v>30</c:v>
                </c:pt>
                <c:pt idx="992">
                  <c:v>11</c:v>
                </c:pt>
                <c:pt idx="993">
                  <c:v>7</c:v>
                </c:pt>
                <c:pt idx="994">
                  <c:v>2</c:v>
                </c:pt>
                <c:pt idx="995">
                  <c:v>2</c:v>
                </c:pt>
                <c:pt idx="996">
                  <c:v>2</c:v>
                </c:pt>
                <c:pt idx="997">
                  <c:v>3</c:v>
                </c:pt>
                <c:pt idx="998">
                  <c:v>26</c:v>
                </c:pt>
                <c:pt idx="999">
                  <c:v>98</c:v>
                </c:pt>
              </c:numCache>
            </c:numRef>
          </c:yVal>
          <c:smooth val="0"/>
          <c:extLst>
            <c:ext xmlns:c16="http://schemas.microsoft.com/office/drawing/2014/chart" uri="{C3380CC4-5D6E-409C-BE32-E72D297353CC}">
              <c16:uniqueId val="{00000000-BB37-4B77-A875-7AA405014464}"/>
            </c:ext>
          </c:extLst>
        </c:ser>
        <c:ser>
          <c:idx val="1"/>
          <c:order val="1"/>
          <c:tx>
            <c:strRef>
              <c:f>Outlier!$K$4</c:f>
              <c:strCache>
                <c:ptCount val="1"/>
                <c:pt idx="0">
                  <c:v>Anamoly </c:v>
                </c:pt>
              </c:strCache>
            </c:strRef>
          </c:tx>
          <c:spPr>
            <a:ln w="25400" cap="rnd">
              <a:no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cap="rnd">
                <a:solidFill>
                  <a:schemeClr val="accent2"/>
                </a:solidFill>
                <a:round/>
              </a:ln>
              <a:effectLst>
                <a:outerShdw blurRad="57150" dist="19050" dir="5400000" algn="ctr" rotWithShape="0">
                  <a:srgbClr val="000000">
                    <a:alpha val="63000"/>
                  </a:srgbClr>
                </a:outerShdw>
              </a:effectLst>
            </c:spPr>
          </c:marker>
          <c:xVal>
            <c:numRef>
              <c:f>Outlier!$B$5:$B$1004</c:f>
              <c:numCache>
                <c:formatCode>General</c:formatCode>
                <c:ptCount val="100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0</c:v>
                </c:pt>
                <c:pt idx="25">
                  <c:v>1</c:v>
                </c:pt>
                <c:pt idx="26">
                  <c:v>2</c:v>
                </c:pt>
                <c:pt idx="27">
                  <c:v>3</c:v>
                </c:pt>
                <c:pt idx="28">
                  <c:v>4</c:v>
                </c:pt>
                <c:pt idx="29">
                  <c:v>6</c:v>
                </c:pt>
                <c:pt idx="30">
                  <c:v>7</c:v>
                </c:pt>
                <c:pt idx="31">
                  <c:v>8</c:v>
                </c:pt>
                <c:pt idx="32">
                  <c:v>9</c:v>
                </c:pt>
                <c:pt idx="33">
                  <c:v>10</c:v>
                </c:pt>
                <c:pt idx="34">
                  <c:v>11</c:v>
                </c:pt>
                <c:pt idx="35">
                  <c:v>12</c:v>
                </c:pt>
                <c:pt idx="36">
                  <c:v>13</c:v>
                </c:pt>
                <c:pt idx="37">
                  <c:v>14</c:v>
                </c:pt>
                <c:pt idx="38">
                  <c:v>15</c:v>
                </c:pt>
                <c:pt idx="39">
                  <c:v>16</c:v>
                </c:pt>
                <c:pt idx="40">
                  <c:v>17</c:v>
                </c:pt>
                <c:pt idx="41">
                  <c:v>18</c:v>
                </c:pt>
                <c:pt idx="42">
                  <c:v>19</c:v>
                </c:pt>
                <c:pt idx="43">
                  <c:v>20</c:v>
                </c:pt>
                <c:pt idx="44">
                  <c:v>21</c:v>
                </c:pt>
                <c:pt idx="45">
                  <c:v>22</c:v>
                </c:pt>
                <c:pt idx="46">
                  <c:v>23</c:v>
                </c:pt>
                <c:pt idx="47">
                  <c:v>0</c:v>
                </c:pt>
                <c:pt idx="48">
                  <c:v>1</c:v>
                </c:pt>
                <c:pt idx="49">
                  <c:v>4</c:v>
                </c:pt>
                <c:pt idx="50">
                  <c:v>5</c:v>
                </c:pt>
                <c:pt idx="51">
                  <c:v>6</c:v>
                </c:pt>
                <c:pt idx="52">
                  <c:v>7</c:v>
                </c:pt>
                <c:pt idx="53">
                  <c:v>8</c:v>
                </c:pt>
                <c:pt idx="54">
                  <c:v>9</c:v>
                </c:pt>
                <c:pt idx="55">
                  <c:v>10</c:v>
                </c:pt>
                <c:pt idx="56">
                  <c:v>11</c:v>
                </c:pt>
                <c:pt idx="57">
                  <c:v>12</c:v>
                </c:pt>
                <c:pt idx="58">
                  <c:v>13</c:v>
                </c:pt>
                <c:pt idx="59">
                  <c:v>14</c:v>
                </c:pt>
                <c:pt idx="60">
                  <c:v>15</c:v>
                </c:pt>
                <c:pt idx="61">
                  <c:v>16</c:v>
                </c:pt>
                <c:pt idx="62">
                  <c:v>17</c:v>
                </c:pt>
                <c:pt idx="63">
                  <c:v>18</c:v>
                </c:pt>
                <c:pt idx="64">
                  <c:v>19</c:v>
                </c:pt>
                <c:pt idx="65">
                  <c:v>20</c:v>
                </c:pt>
                <c:pt idx="66">
                  <c:v>21</c:v>
                </c:pt>
                <c:pt idx="67">
                  <c:v>22</c:v>
                </c:pt>
                <c:pt idx="68">
                  <c:v>23</c:v>
                </c:pt>
                <c:pt idx="69">
                  <c:v>0</c:v>
                </c:pt>
                <c:pt idx="70">
                  <c:v>1</c:v>
                </c:pt>
                <c:pt idx="71">
                  <c:v>2</c:v>
                </c:pt>
                <c:pt idx="72">
                  <c:v>4</c:v>
                </c:pt>
                <c:pt idx="73">
                  <c:v>5</c:v>
                </c:pt>
                <c:pt idx="74">
                  <c:v>6</c:v>
                </c:pt>
                <c:pt idx="75">
                  <c:v>7</c:v>
                </c:pt>
                <c:pt idx="76">
                  <c:v>8</c:v>
                </c:pt>
                <c:pt idx="77">
                  <c:v>9</c:v>
                </c:pt>
                <c:pt idx="78">
                  <c:v>10</c:v>
                </c:pt>
                <c:pt idx="79">
                  <c:v>11</c:v>
                </c:pt>
                <c:pt idx="80">
                  <c:v>12</c:v>
                </c:pt>
                <c:pt idx="81">
                  <c:v>13</c:v>
                </c:pt>
                <c:pt idx="82">
                  <c:v>14</c:v>
                </c:pt>
                <c:pt idx="83">
                  <c:v>15</c:v>
                </c:pt>
                <c:pt idx="84">
                  <c:v>16</c:v>
                </c:pt>
                <c:pt idx="85">
                  <c:v>17</c:v>
                </c:pt>
                <c:pt idx="86">
                  <c:v>18</c:v>
                </c:pt>
                <c:pt idx="87">
                  <c:v>19</c:v>
                </c:pt>
                <c:pt idx="88">
                  <c:v>20</c:v>
                </c:pt>
                <c:pt idx="89">
                  <c:v>21</c:v>
                </c:pt>
                <c:pt idx="90">
                  <c:v>22</c:v>
                </c:pt>
                <c:pt idx="91">
                  <c:v>23</c:v>
                </c:pt>
                <c:pt idx="92">
                  <c:v>0</c:v>
                </c:pt>
                <c:pt idx="93">
                  <c:v>1</c:v>
                </c:pt>
                <c:pt idx="94">
                  <c:v>2</c:v>
                </c:pt>
                <c:pt idx="95">
                  <c:v>4</c:v>
                </c:pt>
                <c:pt idx="96">
                  <c:v>5</c:v>
                </c:pt>
                <c:pt idx="97">
                  <c:v>6</c:v>
                </c:pt>
                <c:pt idx="98">
                  <c:v>7</c:v>
                </c:pt>
                <c:pt idx="99">
                  <c:v>8</c:v>
                </c:pt>
                <c:pt idx="100">
                  <c:v>9</c:v>
                </c:pt>
                <c:pt idx="101">
                  <c:v>10</c:v>
                </c:pt>
                <c:pt idx="102">
                  <c:v>11</c:v>
                </c:pt>
                <c:pt idx="103">
                  <c:v>12</c:v>
                </c:pt>
                <c:pt idx="104">
                  <c:v>13</c:v>
                </c:pt>
                <c:pt idx="105">
                  <c:v>14</c:v>
                </c:pt>
                <c:pt idx="106">
                  <c:v>15</c:v>
                </c:pt>
                <c:pt idx="107">
                  <c:v>16</c:v>
                </c:pt>
                <c:pt idx="108">
                  <c:v>17</c:v>
                </c:pt>
                <c:pt idx="109">
                  <c:v>18</c:v>
                </c:pt>
                <c:pt idx="110">
                  <c:v>19</c:v>
                </c:pt>
                <c:pt idx="111">
                  <c:v>20</c:v>
                </c:pt>
                <c:pt idx="112">
                  <c:v>21</c:v>
                </c:pt>
                <c:pt idx="113">
                  <c:v>22</c:v>
                </c:pt>
                <c:pt idx="114">
                  <c:v>23</c:v>
                </c:pt>
                <c:pt idx="115">
                  <c:v>0</c:v>
                </c:pt>
                <c:pt idx="116">
                  <c:v>1</c:v>
                </c:pt>
                <c:pt idx="117">
                  <c:v>2</c:v>
                </c:pt>
                <c:pt idx="118">
                  <c:v>4</c:v>
                </c:pt>
                <c:pt idx="119">
                  <c:v>5</c:v>
                </c:pt>
                <c:pt idx="120">
                  <c:v>6</c:v>
                </c:pt>
                <c:pt idx="121">
                  <c:v>7</c:v>
                </c:pt>
                <c:pt idx="122">
                  <c:v>8</c:v>
                </c:pt>
                <c:pt idx="123">
                  <c:v>9</c:v>
                </c:pt>
                <c:pt idx="124">
                  <c:v>10</c:v>
                </c:pt>
                <c:pt idx="125">
                  <c:v>11</c:v>
                </c:pt>
                <c:pt idx="126">
                  <c:v>12</c:v>
                </c:pt>
                <c:pt idx="127">
                  <c:v>13</c:v>
                </c:pt>
                <c:pt idx="128">
                  <c:v>14</c:v>
                </c:pt>
                <c:pt idx="129">
                  <c:v>15</c:v>
                </c:pt>
                <c:pt idx="130">
                  <c:v>16</c:v>
                </c:pt>
                <c:pt idx="131">
                  <c:v>17</c:v>
                </c:pt>
                <c:pt idx="132">
                  <c:v>18</c:v>
                </c:pt>
                <c:pt idx="133">
                  <c:v>19</c:v>
                </c:pt>
                <c:pt idx="134">
                  <c:v>20</c:v>
                </c:pt>
                <c:pt idx="135">
                  <c:v>21</c:v>
                </c:pt>
                <c:pt idx="136">
                  <c:v>22</c:v>
                </c:pt>
                <c:pt idx="137">
                  <c:v>23</c:v>
                </c:pt>
                <c:pt idx="138">
                  <c:v>0</c:v>
                </c:pt>
                <c:pt idx="139">
                  <c:v>1</c:v>
                </c:pt>
                <c:pt idx="140">
                  <c:v>2</c:v>
                </c:pt>
                <c:pt idx="141">
                  <c:v>4</c:v>
                </c:pt>
                <c:pt idx="142">
                  <c:v>5</c:v>
                </c:pt>
                <c:pt idx="143">
                  <c:v>6</c:v>
                </c:pt>
                <c:pt idx="144">
                  <c:v>7</c:v>
                </c:pt>
                <c:pt idx="145">
                  <c:v>8</c:v>
                </c:pt>
                <c:pt idx="146">
                  <c:v>9</c:v>
                </c:pt>
                <c:pt idx="147">
                  <c:v>10</c:v>
                </c:pt>
                <c:pt idx="148">
                  <c:v>11</c:v>
                </c:pt>
                <c:pt idx="149">
                  <c:v>12</c:v>
                </c:pt>
                <c:pt idx="150">
                  <c:v>13</c:v>
                </c:pt>
                <c:pt idx="151">
                  <c:v>14</c:v>
                </c:pt>
                <c:pt idx="152">
                  <c:v>15</c:v>
                </c:pt>
                <c:pt idx="153">
                  <c:v>16</c:v>
                </c:pt>
                <c:pt idx="154">
                  <c:v>17</c:v>
                </c:pt>
                <c:pt idx="155">
                  <c:v>18</c:v>
                </c:pt>
                <c:pt idx="156">
                  <c:v>19</c:v>
                </c:pt>
                <c:pt idx="157">
                  <c:v>20</c:v>
                </c:pt>
                <c:pt idx="158">
                  <c:v>21</c:v>
                </c:pt>
                <c:pt idx="159">
                  <c:v>22</c:v>
                </c:pt>
                <c:pt idx="160">
                  <c:v>23</c:v>
                </c:pt>
                <c:pt idx="161">
                  <c:v>0</c:v>
                </c:pt>
                <c:pt idx="162">
                  <c:v>1</c:v>
                </c:pt>
                <c:pt idx="163">
                  <c:v>2</c:v>
                </c:pt>
                <c:pt idx="164">
                  <c:v>3</c:v>
                </c:pt>
                <c:pt idx="165">
                  <c:v>4</c:v>
                </c:pt>
                <c:pt idx="166">
                  <c:v>5</c:v>
                </c:pt>
                <c:pt idx="167">
                  <c:v>6</c:v>
                </c:pt>
                <c:pt idx="168">
                  <c:v>7</c:v>
                </c:pt>
                <c:pt idx="169">
                  <c:v>8</c:v>
                </c:pt>
                <c:pt idx="170">
                  <c:v>9</c:v>
                </c:pt>
                <c:pt idx="171">
                  <c:v>10</c:v>
                </c:pt>
                <c:pt idx="172">
                  <c:v>11</c:v>
                </c:pt>
                <c:pt idx="173">
                  <c:v>12</c:v>
                </c:pt>
                <c:pt idx="174">
                  <c:v>13</c:v>
                </c:pt>
                <c:pt idx="175">
                  <c:v>14</c:v>
                </c:pt>
                <c:pt idx="176">
                  <c:v>15</c:v>
                </c:pt>
                <c:pt idx="177">
                  <c:v>16</c:v>
                </c:pt>
                <c:pt idx="178">
                  <c:v>17</c:v>
                </c:pt>
                <c:pt idx="179">
                  <c:v>18</c:v>
                </c:pt>
                <c:pt idx="180">
                  <c:v>19</c:v>
                </c:pt>
                <c:pt idx="181">
                  <c:v>20</c:v>
                </c:pt>
                <c:pt idx="182">
                  <c:v>21</c:v>
                </c:pt>
                <c:pt idx="183">
                  <c:v>22</c:v>
                </c:pt>
                <c:pt idx="184">
                  <c:v>23</c:v>
                </c:pt>
                <c:pt idx="185">
                  <c:v>0</c:v>
                </c:pt>
                <c:pt idx="186">
                  <c:v>1</c:v>
                </c:pt>
                <c:pt idx="187">
                  <c:v>2</c:v>
                </c:pt>
                <c:pt idx="188">
                  <c:v>3</c:v>
                </c:pt>
                <c:pt idx="189">
                  <c:v>4</c:v>
                </c:pt>
                <c:pt idx="190">
                  <c:v>5</c:v>
                </c:pt>
                <c:pt idx="191">
                  <c:v>6</c:v>
                </c:pt>
                <c:pt idx="192">
                  <c:v>7</c:v>
                </c:pt>
                <c:pt idx="193">
                  <c:v>8</c:v>
                </c:pt>
                <c:pt idx="194">
                  <c:v>9</c:v>
                </c:pt>
                <c:pt idx="195">
                  <c:v>10</c:v>
                </c:pt>
                <c:pt idx="196">
                  <c:v>11</c:v>
                </c:pt>
                <c:pt idx="197">
                  <c:v>12</c:v>
                </c:pt>
                <c:pt idx="198">
                  <c:v>13</c:v>
                </c:pt>
                <c:pt idx="199">
                  <c:v>14</c:v>
                </c:pt>
                <c:pt idx="200">
                  <c:v>15</c:v>
                </c:pt>
                <c:pt idx="201">
                  <c:v>16</c:v>
                </c:pt>
                <c:pt idx="202">
                  <c:v>17</c:v>
                </c:pt>
                <c:pt idx="203">
                  <c:v>18</c:v>
                </c:pt>
                <c:pt idx="204">
                  <c:v>19</c:v>
                </c:pt>
                <c:pt idx="205">
                  <c:v>20</c:v>
                </c:pt>
                <c:pt idx="206">
                  <c:v>21</c:v>
                </c:pt>
                <c:pt idx="207">
                  <c:v>22</c:v>
                </c:pt>
                <c:pt idx="208">
                  <c:v>23</c:v>
                </c:pt>
                <c:pt idx="209">
                  <c:v>0</c:v>
                </c:pt>
                <c:pt idx="210">
                  <c:v>1</c:v>
                </c:pt>
                <c:pt idx="211">
                  <c:v>2</c:v>
                </c:pt>
                <c:pt idx="212">
                  <c:v>3</c:v>
                </c:pt>
                <c:pt idx="213">
                  <c:v>4</c:v>
                </c:pt>
                <c:pt idx="214">
                  <c:v>5</c:v>
                </c:pt>
                <c:pt idx="215">
                  <c:v>6</c:v>
                </c:pt>
                <c:pt idx="216">
                  <c:v>7</c:v>
                </c:pt>
                <c:pt idx="217">
                  <c:v>8</c:v>
                </c:pt>
                <c:pt idx="218">
                  <c:v>9</c:v>
                </c:pt>
                <c:pt idx="219">
                  <c:v>10</c:v>
                </c:pt>
                <c:pt idx="220">
                  <c:v>11</c:v>
                </c:pt>
                <c:pt idx="221">
                  <c:v>12</c:v>
                </c:pt>
                <c:pt idx="222">
                  <c:v>13</c:v>
                </c:pt>
                <c:pt idx="223">
                  <c:v>14</c:v>
                </c:pt>
                <c:pt idx="224">
                  <c:v>15</c:v>
                </c:pt>
                <c:pt idx="225">
                  <c:v>16</c:v>
                </c:pt>
                <c:pt idx="226">
                  <c:v>17</c:v>
                </c:pt>
                <c:pt idx="227">
                  <c:v>18</c:v>
                </c:pt>
                <c:pt idx="228">
                  <c:v>19</c:v>
                </c:pt>
                <c:pt idx="229">
                  <c:v>20</c:v>
                </c:pt>
                <c:pt idx="230">
                  <c:v>21</c:v>
                </c:pt>
                <c:pt idx="231">
                  <c:v>22</c:v>
                </c:pt>
                <c:pt idx="232">
                  <c:v>23</c:v>
                </c:pt>
                <c:pt idx="233">
                  <c:v>0</c:v>
                </c:pt>
                <c:pt idx="234">
                  <c:v>1</c:v>
                </c:pt>
                <c:pt idx="235">
                  <c:v>2</c:v>
                </c:pt>
                <c:pt idx="236">
                  <c:v>5</c:v>
                </c:pt>
                <c:pt idx="237">
                  <c:v>6</c:v>
                </c:pt>
                <c:pt idx="238">
                  <c:v>7</c:v>
                </c:pt>
                <c:pt idx="239">
                  <c:v>8</c:v>
                </c:pt>
                <c:pt idx="240">
                  <c:v>9</c:v>
                </c:pt>
                <c:pt idx="241">
                  <c:v>10</c:v>
                </c:pt>
                <c:pt idx="242">
                  <c:v>11</c:v>
                </c:pt>
                <c:pt idx="243">
                  <c:v>12</c:v>
                </c:pt>
                <c:pt idx="244">
                  <c:v>13</c:v>
                </c:pt>
                <c:pt idx="245">
                  <c:v>14</c:v>
                </c:pt>
                <c:pt idx="246">
                  <c:v>15</c:v>
                </c:pt>
                <c:pt idx="247">
                  <c:v>16</c:v>
                </c:pt>
                <c:pt idx="248">
                  <c:v>17</c:v>
                </c:pt>
                <c:pt idx="249">
                  <c:v>18</c:v>
                </c:pt>
                <c:pt idx="250">
                  <c:v>19</c:v>
                </c:pt>
                <c:pt idx="251">
                  <c:v>20</c:v>
                </c:pt>
                <c:pt idx="252">
                  <c:v>21</c:v>
                </c:pt>
                <c:pt idx="253">
                  <c:v>22</c:v>
                </c:pt>
                <c:pt idx="254">
                  <c:v>23</c:v>
                </c:pt>
                <c:pt idx="255">
                  <c:v>0</c:v>
                </c:pt>
                <c:pt idx="256">
                  <c:v>1</c:v>
                </c:pt>
                <c:pt idx="257">
                  <c:v>2</c:v>
                </c:pt>
                <c:pt idx="258">
                  <c:v>5</c:v>
                </c:pt>
                <c:pt idx="259">
                  <c:v>6</c:v>
                </c:pt>
                <c:pt idx="260">
                  <c:v>7</c:v>
                </c:pt>
                <c:pt idx="261">
                  <c:v>8</c:v>
                </c:pt>
                <c:pt idx="262">
                  <c:v>9</c:v>
                </c:pt>
                <c:pt idx="263">
                  <c:v>10</c:v>
                </c:pt>
                <c:pt idx="264">
                  <c:v>11</c:v>
                </c:pt>
                <c:pt idx="265">
                  <c:v>12</c:v>
                </c:pt>
                <c:pt idx="266">
                  <c:v>13</c:v>
                </c:pt>
                <c:pt idx="267">
                  <c:v>14</c:v>
                </c:pt>
                <c:pt idx="268">
                  <c:v>15</c:v>
                </c:pt>
                <c:pt idx="269">
                  <c:v>16</c:v>
                </c:pt>
                <c:pt idx="270">
                  <c:v>17</c:v>
                </c:pt>
                <c:pt idx="271">
                  <c:v>18</c:v>
                </c:pt>
                <c:pt idx="272">
                  <c:v>19</c:v>
                </c:pt>
                <c:pt idx="273">
                  <c:v>20</c:v>
                </c:pt>
                <c:pt idx="274">
                  <c:v>21</c:v>
                </c:pt>
                <c:pt idx="275">
                  <c:v>22</c:v>
                </c:pt>
                <c:pt idx="276">
                  <c:v>23</c:v>
                </c:pt>
                <c:pt idx="277">
                  <c:v>0</c:v>
                </c:pt>
                <c:pt idx="278">
                  <c:v>1</c:v>
                </c:pt>
                <c:pt idx="279">
                  <c:v>2</c:v>
                </c:pt>
                <c:pt idx="280">
                  <c:v>3</c:v>
                </c:pt>
                <c:pt idx="281">
                  <c:v>4</c:v>
                </c:pt>
                <c:pt idx="282">
                  <c:v>5</c:v>
                </c:pt>
                <c:pt idx="283">
                  <c:v>6</c:v>
                </c:pt>
                <c:pt idx="284">
                  <c:v>7</c:v>
                </c:pt>
                <c:pt idx="285">
                  <c:v>8</c:v>
                </c:pt>
                <c:pt idx="286">
                  <c:v>9</c:v>
                </c:pt>
                <c:pt idx="287">
                  <c:v>10</c:v>
                </c:pt>
                <c:pt idx="288">
                  <c:v>11</c:v>
                </c:pt>
                <c:pt idx="289">
                  <c:v>12</c:v>
                </c:pt>
                <c:pt idx="290">
                  <c:v>13</c:v>
                </c:pt>
                <c:pt idx="291">
                  <c:v>14</c:v>
                </c:pt>
                <c:pt idx="292">
                  <c:v>15</c:v>
                </c:pt>
                <c:pt idx="293">
                  <c:v>16</c:v>
                </c:pt>
                <c:pt idx="294">
                  <c:v>17</c:v>
                </c:pt>
                <c:pt idx="295">
                  <c:v>18</c:v>
                </c:pt>
                <c:pt idx="296">
                  <c:v>19</c:v>
                </c:pt>
                <c:pt idx="297">
                  <c:v>20</c:v>
                </c:pt>
                <c:pt idx="298">
                  <c:v>21</c:v>
                </c:pt>
                <c:pt idx="299">
                  <c:v>22</c:v>
                </c:pt>
                <c:pt idx="300">
                  <c:v>23</c:v>
                </c:pt>
                <c:pt idx="301">
                  <c:v>0</c:v>
                </c:pt>
                <c:pt idx="302">
                  <c:v>1</c:v>
                </c:pt>
                <c:pt idx="303">
                  <c:v>2</c:v>
                </c:pt>
                <c:pt idx="304">
                  <c:v>3</c:v>
                </c:pt>
                <c:pt idx="305">
                  <c:v>5</c:v>
                </c:pt>
                <c:pt idx="306">
                  <c:v>6</c:v>
                </c:pt>
                <c:pt idx="307">
                  <c:v>7</c:v>
                </c:pt>
                <c:pt idx="308">
                  <c:v>8</c:v>
                </c:pt>
                <c:pt idx="309">
                  <c:v>9</c:v>
                </c:pt>
                <c:pt idx="310">
                  <c:v>10</c:v>
                </c:pt>
                <c:pt idx="311">
                  <c:v>11</c:v>
                </c:pt>
                <c:pt idx="312">
                  <c:v>12</c:v>
                </c:pt>
                <c:pt idx="313">
                  <c:v>13</c:v>
                </c:pt>
                <c:pt idx="314">
                  <c:v>14</c:v>
                </c:pt>
                <c:pt idx="315">
                  <c:v>15</c:v>
                </c:pt>
                <c:pt idx="316">
                  <c:v>16</c:v>
                </c:pt>
                <c:pt idx="317">
                  <c:v>17</c:v>
                </c:pt>
                <c:pt idx="318">
                  <c:v>18</c:v>
                </c:pt>
                <c:pt idx="319">
                  <c:v>19</c:v>
                </c:pt>
                <c:pt idx="320">
                  <c:v>20</c:v>
                </c:pt>
                <c:pt idx="321">
                  <c:v>21</c:v>
                </c:pt>
                <c:pt idx="322">
                  <c:v>22</c:v>
                </c:pt>
                <c:pt idx="323">
                  <c:v>23</c:v>
                </c:pt>
                <c:pt idx="324">
                  <c:v>0</c:v>
                </c:pt>
                <c:pt idx="325">
                  <c:v>1</c:v>
                </c:pt>
                <c:pt idx="326">
                  <c:v>2</c:v>
                </c:pt>
                <c:pt idx="327">
                  <c:v>3</c:v>
                </c:pt>
                <c:pt idx="328">
                  <c:v>4</c:v>
                </c:pt>
                <c:pt idx="329">
                  <c:v>5</c:v>
                </c:pt>
                <c:pt idx="330">
                  <c:v>6</c:v>
                </c:pt>
                <c:pt idx="331">
                  <c:v>7</c:v>
                </c:pt>
                <c:pt idx="332">
                  <c:v>8</c:v>
                </c:pt>
                <c:pt idx="333">
                  <c:v>9</c:v>
                </c:pt>
                <c:pt idx="334">
                  <c:v>10</c:v>
                </c:pt>
                <c:pt idx="335">
                  <c:v>11</c:v>
                </c:pt>
                <c:pt idx="336">
                  <c:v>12</c:v>
                </c:pt>
                <c:pt idx="337">
                  <c:v>13</c:v>
                </c:pt>
                <c:pt idx="338">
                  <c:v>14</c:v>
                </c:pt>
                <c:pt idx="339">
                  <c:v>15</c:v>
                </c:pt>
                <c:pt idx="340">
                  <c:v>16</c:v>
                </c:pt>
                <c:pt idx="341">
                  <c:v>17</c:v>
                </c:pt>
                <c:pt idx="342">
                  <c:v>18</c:v>
                </c:pt>
                <c:pt idx="343">
                  <c:v>19</c:v>
                </c:pt>
                <c:pt idx="344">
                  <c:v>20</c:v>
                </c:pt>
                <c:pt idx="345">
                  <c:v>21</c:v>
                </c:pt>
                <c:pt idx="346">
                  <c:v>22</c:v>
                </c:pt>
                <c:pt idx="347">
                  <c:v>23</c:v>
                </c:pt>
                <c:pt idx="348">
                  <c:v>0</c:v>
                </c:pt>
                <c:pt idx="349">
                  <c:v>1</c:v>
                </c:pt>
                <c:pt idx="350">
                  <c:v>2</c:v>
                </c:pt>
                <c:pt idx="351">
                  <c:v>3</c:v>
                </c:pt>
                <c:pt idx="352">
                  <c:v>4</c:v>
                </c:pt>
                <c:pt idx="353">
                  <c:v>5</c:v>
                </c:pt>
                <c:pt idx="354">
                  <c:v>6</c:v>
                </c:pt>
                <c:pt idx="355">
                  <c:v>7</c:v>
                </c:pt>
                <c:pt idx="356">
                  <c:v>8</c:v>
                </c:pt>
                <c:pt idx="357">
                  <c:v>9</c:v>
                </c:pt>
                <c:pt idx="358">
                  <c:v>10</c:v>
                </c:pt>
                <c:pt idx="359">
                  <c:v>11</c:v>
                </c:pt>
                <c:pt idx="360">
                  <c:v>12</c:v>
                </c:pt>
                <c:pt idx="361">
                  <c:v>13</c:v>
                </c:pt>
                <c:pt idx="362">
                  <c:v>14</c:v>
                </c:pt>
                <c:pt idx="363">
                  <c:v>15</c:v>
                </c:pt>
                <c:pt idx="364">
                  <c:v>16</c:v>
                </c:pt>
                <c:pt idx="365">
                  <c:v>17</c:v>
                </c:pt>
                <c:pt idx="366">
                  <c:v>18</c:v>
                </c:pt>
                <c:pt idx="367">
                  <c:v>19</c:v>
                </c:pt>
                <c:pt idx="368">
                  <c:v>20</c:v>
                </c:pt>
                <c:pt idx="369">
                  <c:v>21</c:v>
                </c:pt>
                <c:pt idx="370">
                  <c:v>22</c:v>
                </c:pt>
                <c:pt idx="371">
                  <c:v>23</c:v>
                </c:pt>
                <c:pt idx="372">
                  <c:v>0</c:v>
                </c:pt>
                <c:pt idx="373">
                  <c:v>1</c:v>
                </c:pt>
                <c:pt idx="374">
                  <c:v>2</c:v>
                </c:pt>
                <c:pt idx="375">
                  <c:v>3</c:v>
                </c:pt>
                <c:pt idx="376">
                  <c:v>4</c:v>
                </c:pt>
                <c:pt idx="377">
                  <c:v>5</c:v>
                </c:pt>
                <c:pt idx="378">
                  <c:v>6</c:v>
                </c:pt>
                <c:pt idx="379">
                  <c:v>7</c:v>
                </c:pt>
                <c:pt idx="380">
                  <c:v>8</c:v>
                </c:pt>
                <c:pt idx="381">
                  <c:v>9</c:v>
                </c:pt>
                <c:pt idx="382">
                  <c:v>10</c:v>
                </c:pt>
                <c:pt idx="383">
                  <c:v>11</c:v>
                </c:pt>
                <c:pt idx="384">
                  <c:v>12</c:v>
                </c:pt>
                <c:pt idx="385">
                  <c:v>13</c:v>
                </c:pt>
                <c:pt idx="386">
                  <c:v>14</c:v>
                </c:pt>
                <c:pt idx="387">
                  <c:v>15</c:v>
                </c:pt>
                <c:pt idx="388">
                  <c:v>16</c:v>
                </c:pt>
                <c:pt idx="389">
                  <c:v>17</c:v>
                </c:pt>
                <c:pt idx="390">
                  <c:v>18</c:v>
                </c:pt>
                <c:pt idx="391">
                  <c:v>19</c:v>
                </c:pt>
                <c:pt idx="392">
                  <c:v>20</c:v>
                </c:pt>
                <c:pt idx="393">
                  <c:v>21</c:v>
                </c:pt>
                <c:pt idx="394">
                  <c:v>22</c:v>
                </c:pt>
                <c:pt idx="395">
                  <c:v>23</c:v>
                </c:pt>
                <c:pt idx="396">
                  <c:v>12</c:v>
                </c:pt>
                <c:pt idx="397">
                  <c:v>13</c:v>
                </c:pt>
                <c:pt idx="398">
                  <c:v>14</c:v>
                </c:pt>
                <c:pt idx="399">
                  <c:v>15</c:v>
                </c:pt>
                <c:pt idx="400">
                  <c:v>16</c:v>
                </c:pt>
                <c:pt idx="401">
                  <c:v>17</c:v>
                </c:pt>
                <c:pt idx="402">
                  <c:v>18</c:v>
                </c:pt>
                <c:pt idx="403">
                  <c:v>19</c:v>
                </c:pt>
                <c:pt idx="404">
                  <c:v>20</c:v>
                </c:pt>
                <c:pt idx="405">
                  <c:v>21</c:v>
                </c:pt>
                <c:pt idx="406">
                  <c:v>22</c:v>
                </c:pt>
                <c:pt idx="407">
                  <c:v>23</c:v>
                </c:pt>
                <c:pt idx="408">
                  <c:v>0</c:v>
                </c:pt>
                <c:pt idx="409">
                  <c:v>1</c:v>
                </c:pt>
                <c:pt idx="410">
                  <c:v>2</c:v>
                </c:pt>
                <c:pt idx="411">
                  <c:v>4</c:v>
                </c:pt>
                <c:pt idx="412">
                  <c:v>5</c:v>
                </c:pt>
                <c:pt idx="413">
                  <c:v>6</c:v>
                </c:pt>
                <c:pt idx="414">
                  <c:v>7</c:v>
                </c:pt>
                <c:pt idx="415">
                  <c:v>8</c:v>
                </c:pt>
                <c:pt idx="416">
                  <c:v>9</c:v>
                </c:pt>
                <c:pt idx="417">
                  <c:v>10</c:v>
                </c:pt>
                <c:pt idx="418">
                  <c:v>11</c:v>
                </c:pt>
                <c:pt idx="419">
                  <c:v>12</c:v>
                </c:pt>
                <c:pt idx="420">
                  <c:v>13</c:v>
                </c:pt>
                <c:pt idx="421">
                  <c:v>14</c:v>
                </c:pt>
                <c:pt idx="422">
                  <c:v>15</c:v>
                </c:pt>
                <c:pt idx="423">
                  <c:v>16</c:v>
                </c:pt>
                <c:pt idx="424">
                  <c:v>17</c:v>
                </c:pt>
                <c:pt idx="425">
                  <c:v>18</c:v>
                </c:pt>
                <c:pt idx="426">
                  <c:v>19</c:v>
                </c:pt>
                <c:pt idx="427">
                  <c:v>20</c:v>
                </c:pt>
                <c:pt idx="428">
                  <c:v>21</c:v>
                </c:pt>
                <c:pt idx="429">
                  <c:v>22</c:v>
                </c:pt>
                <c:pt idx="430">
                  <c:v>23</c:v>
                </c:pt>
                <c:pt idx="431">
                  <c:v>0</c:v>
                </c:pt>
                <c:pt idx="432">
                  <c:v>1</c:v>
                </c:pt>
                <c:pt idx="433">
                  <c:v>2</c:v>
                </c:pt>
                <c:pt idx="434">
                  <c:v>3</c:v>
                </c:pt>
                <c:pt idx="435">
                  <c:v>4</c:v>
                </c:pt>
                <c:pt idx="436">
                  <c:v>5</c:v>
                </c:pt>
                <c:pt idx="437">
                  <c:v>6</c:v>
                </c:pt>
                <c:pt idx="438">
                  <c:v>7</c:v>
                </c:pt>
                <c:pt idx="439">
                  <c:v>8</c:v>
                </c:pt>
                <c:pt idx="440">
                  <c:v>9</c:v>
                </c:pt>
                <c:pt idx="441">
                  <c:v>10</c:v>
                </c:pt>
                <c:pt idx="442">
                  <c:v>11</c:v>
                </c:pt>
                <c:pt idx="443">
                  <c:v>12</c:v>
                </c:pt>
                <c:pt idx="444">
                  <c:v>13</c:v>
                </c:pt>
                <c:pt idx="445">
                  <c:v>14</c:v>
                </c:pt>
                <c:pt idx="446">
                  <c:v>15</c:v>
                </c:pt>
                <c:pt idx="447">
                  <c:v>16</c:v>
                </c:pt>
                <c:pt idx="448">
                  <c:v>17</c:v>
                </c:pt>
                <c:pt idx="449">
                  <c:v>18</c:v>
                </c:pt>
                <c:pt idx="450">
                  <c:v>19</c:v>
                </c:pt>
                <c:pt idx="451">
                  <c:v>20</c:v>
                </c:pt>
                <c:pt idx="452">
                  <c:v>21</c:v>
                </c:pt>
                <c:pt idx="453">
                  <c:v>22</c:v>
                </c:pt>
                <c:pt idx="454">
                  <c:v>23</c:v>
                </c:pt>
                <c:pt idx="455">
                  <c:v>0</c:v>
                </c:pt>
                <c:pt idx="456">
                  <c:v>1</c:v>
                </c:pt>
                <c:pt idx="457">
                  <c:v>2</c:v>
                </c:pt>
                <c:pt idx="458">
                  <c:v>3</c:v>
                </c:pt>
                <c:pt idx="459">
                  <c:v>4</c:v>
                </c:pt>
                <c:pt idx="460">
                  <c:v>5</c:v>
                </c:pt>
                <c:pt idx="461">
                  <c:v>6</c:v>
                </c:pt>
                <c:pt idx="462">
                  <c:v>7</c:v>
                </c:pt>
                <c:pt idx="463">
                  <c:v>8</c:v>
                </c:pt>
                <c:pt idx="464">
                  <c:v>9</c:v>
                </c:pt>
                <c:pt idx="465">
                  <c:v>10</c:v>
                </c:pt>
                <c:pt idx="466">
                  <c:v>11</c:v>
                </c:pt>
                <c:pt idx="467">
                  <c:v>12</c:v>
                </c:pt>
                <c:pt idx="468">
                  <c:v>13</c:v>
                </c:pt>
                <c:pt idx="469">
                  <c:v>14</c:v>
                </c:pt>
                <c:pt idx="470">
                  <c:v>15</c:v>
                </c:pt>
                <c:pt idx="471">
                  <c:v>16</c:v>
                </c:pt>
                <c:pt idx="472">
                  <c:v>17</c:v>
                </c:pt>
                <c:pt idx="473">
                  <c:v>18</c:v>
                </c:pt>
                <c:pt idx="474">
                  <c:v>19</c:v>
                </c:pt>
                <c:pt idx="475">
                  <c:v>20</c:v>
                </c:pt>
                <c:pt idx="476">
                  <c:v>21</c:v>
                </c:pt>
                <c:pt idx="477">
                  <c:v>22</c:v>
                </c:pt>
                <c:pt idx="478">
                  <c:v>23</c:v>
                </c:pt>
                <c:pt idx="479">
                  <c:v>0</c:v>
                </c:pt>
                <c:pt idx="480">
                  <c:v>1</c:v>
                </c:pt>
                <c:pt idx="481">
                  <c:v>2</c:v>
                </c:pt>
                <c:pt idx="482">
                  <c:v>3</c:v>
                </c:pt>
                <c:pt idx="483">
                  <c:v>4</c:v>
                </c:pt>
                <c:pt idx="484">
                  <c:v>6</c:v>
                </c:pt>
                <c:pt idx="485">
                  <c:v>7</c:v>
                </c:pt>
                <c:pt idx="486">
                  <c:v>8</c:v>
                </c:pt>
                <c:pt idx="487">
                  <c:v>9</c:v>
                </c:pt>
                <c:pt idx="488">
                  <c:v>10</c:v>
                </c:pt>
                <c:pt idx="489">
                  <c:v>11</c:v>
                </c:pt>
                <c:pt idx="490">
                  <c:v>12</c:v>
                </c:pt>
                <c:pt idx="491">
                  <c:v>13</c:v>
                </c:pt>
                <c:pt idx="492">
                  <c:v>14</c:v>
                </c:pt>
                <c:pt idx="493">
                  <c:v>15</c:v>
                </c:pt>
                <c:pt idx="494">
                  <c:v>16</c:v>
                </c:pt>
                <c:pt idx="495">
                  <c:v>17</c:v>
                </c:pt>
                <c:pt idx="496">
                  <c:v>18</c:v>
                </c:pt>
                <c:pt idx="497">
                  <c:v>19</c:v>
                </c:pt>
                <c:pt idx="498">
                  <c:v>20</c:v>
                </c:pt>
                <c:pt idx="499">
                  <c:v>21</c:v>
                </c:pt>
                <c:pt idx="500">
                  <c:v>22</c:v>
                </c:pt>
                <c:pt idx="501">
                  <c:v>23</c:v>
                </c:pt>
                <c:pt idx="502">
                  <c:v>0</c:v>
                </c:pt>
                <c:pt idx="503">
                  <c:v>1</c:v>
                </c:pt>
                <c:pt idx="504">
                  <c:v>2</c:v>
                </c:pt>
                <c:pt idx="505">
                  <c:v>3</c:v>
                </c:pt>
                <c:pt idx="506">
                  <c:v>5</c:v>
                </c:pt>
                <c:pt idx="507">
                  <c:v>6</c:v>
                </c:pt>
                <c:pt idx="508">
                  <c:v>7</c:v>
                </c:pt>
                <c:pt idx="509">
                  <c:v>8</c:v>
                </c:pt>
                <c:pt idx="510">
                  <c:v>9</c:v>
                </c:pt>
                <c:pt idx="511">
                  <c:v>10</c:v>
                </c:pt>
                <c:pt idx="512">
                  <c:v>11</c:v>
                </c:pt>
                <c:pt idx="513">
                  <c:v>12</c:v>
                </c:pt>
                <c:pt idx="514">
                  <c:v>13</c:v>
                </c:pt>
                <c:pt idx="515">
                  <c:v>14</c:v>
                </c:pt>
                <c:pt idx="516">
                  <c:v>15</c:v>
                </c:pt>
                <c:pt idx="517">
                  <c:v>16</c:v>
                </c:pt>
                <c:pt idx="518">
                  <c:v>17</c:v>
                </c:pt>
                <c:pt idx="519">
                  <c:v>18</c:v>
                </c:pt>
                <c:pt idx="520">
                  <c:v>19</c:v>
                </c:pt>
                <c:pt idx="521">
                  <c:v>20</c:v>
                </c:pt>
                <c:pt idx="522">
                  <c:v>21</c:v>
                </c:pt>
                <c:pt idx="523">
                  <c:v>22</c:v>
                </c:pt>
                <c:pt idx="524">
                  <c:v>23</c:v>
                </c:pt>
                <c:pt idx="525">
                  <c:v>0</c:v>
                </c:pt>
                <c:pt idx="526">
                  <c:v>1</c:v>
                </c:pt>
                <c:pt idx="527">
                  <c:v>3</c:v>
                </c:pt>
                <c:pt idx="528">
                  <c:v>4</c:v>
                </c:pt>
                <c:pt idx="529">
                  <c:v>5</c:v>
                </c:pt>
                <c:pt idx="530">
                  <c:v>6</c:v>
                </c:pt>
                <c:pt idx="531">
                  <c:v>7</c:v>
                </c:pt>
                <c:pt idx="532">
                  <c:v>8</c:v>
                </c:pt>
                <c:pt idx="533">
                  <c:v>9</c:v>
                </c:pt>
                <c:pt idx="534">
                  <c:v>10</c:v>
                </c:pt>
                <c:pt idx="535">
                  <c:v>11</c:v>
                </c:pt>
                <c:pt idx="536">
                  <c:v>12</c:v>
                </c:pt>
                <c:pt idx="537">
                  <c:v>13</c:v>
                </c:pt>
                <c:pt idx="538">
                  <c:v>14</c:v>
                </c:pt>
                <c:pt idx="539">
                  <c:v>15</c:v>
                </c:pt>
                <c:pt idx="540">
                  <c:v>16</c:v>
                </c:pt>
                <c:pt idx="541">
                  <c:v>17</c:v>
                </c:pt>
                <c:pt idx="542">
                  <c:v>18</c:v>
                </c:pt>
                <c:pt idx="543">
                  <c:v>19</c:v>
                </c:pt>
                <c:pt idx="544">
                  <c:v>20</c:v>
                </c:pt>
                <c:pt idx="545">
                  <c:v>21</c:v>
                </c:pt>
                <c:pt idx="546">
                  <c:v>22</c:v>
                </c:pt>
                <c:pt idx="547">
                  <c:v>23</c:v>
                </c:pt>
                <c:pt idx="548">
                  <c:v>0</c:v>
                </c:pt>
                <c:pt idx="549">
                  <c:v>1</c:v>
                </c:pt>
                <c:pt idx="550">
                  <c:v>2</c:v>
                </c:pt>
                <c:pt idx="551">
                  <c:v>4</c:v>
                </c:pt>
                <c:pt idx="552">
                  <c:v>5</c:v>
                </c:pt>
                <c:pt idx="553">
                  <c:v>6</c:v>
                </c:pt>
                <c:pt idx="554">
                  <c:v>7</c:v>
                </c:pt>
                <c:pt idx="555">
                  <c:v>8</c:v>
                </c:pt>
                <c:pt idx="556">
                  <c:v>9</c:v>
                </c:pt>
                <c:pt idx="557">
                  <c:v>10</c:v>
                </c:pt>
                <c:pt idx="558">
                  <c:v>11</c:v>
                </c:pt>
                <c:pt idx="559">
                  <c:v>12</c:v>
                </c:pt>
                <c:pt idx="560">
                  <c:v>13</c:v>
                </c:pt>
                <c:pt idx="561">
                  <c:v>14</c:v>
                </c:pt>
                <c:pt idx="562">
                  <c:v>15</c:v>
                </c:pt>
                <c:pt idx="563">
                  <c:v>16</c:v>
                </c:pt>
                <c:pt idx="564">
                  <c:v>17</c:v>
                </c:pt>
                <c:pt idx="565">
                  <c:v>18</c:v>
                </c:pt>
                <c:pt idx="566">
                  <c:v>19</c:v>
                </c:pt>
                <c:pt idx="567">
                  <c:v>20</c:v>
                </c:pt>
                <c:pt idx="568">
                  <c:v>21</c:v>
                </c:pt>
                <c:pt idx="569">
                  <c:v>22</c:v>
                </c:pt>
                <c:pt idx="570">
                  <c:v>23</c:v>
                </c:pt>
                <c:pt idx="571">
                  <c:v>0</c:v>
                </c:pt>
                <c:pt idx="572">
                  <c:v>1</c:v>
                </c:pt>
                <c:pt idx="573">
                  <c:v>2</c:v>
                </c:pt>
                <c:pt idx="574">
                  <c:v>5</c:v>
                </c:pt>
                <c:pt idx="575">
                  <c:v>6</c:v>
                </c:pt>
                <c:pt idx="576">
                  <c:v>7</c:v>
                </c:pt>
                <c:pt idx="577">
                  <c:v>8</c:v>
                </c:pt>
                <c:pt idx="578">
                  <c:v>9</c:v>
                </c:pt>
                <c:pt idx="579">
                  <c:v>10</c:v>
                </c:pt>
                <c:pt idx="580">
                  <c:v>11</c:v>
                </c:pt>
                <c:pt idx="581">
                  <c:v>12</c:v>
                </c:pt>
                <c:pt idx="582">
                  <c:v>13</c:v>
                </c:pt>
                <c:pt idx="583">
                  <c:v>14</c:v>
                </c:pt>
                <c:pt idx="584">
                  <c:v>15</c:v>
                </c:pt>
                <c:pt idx="585">
                  <c:v>16</c:v>
                </c:pt>
                <c:pt idx="586">
                  <c:v>17</c:v>
                </c:pt>
                <c:pt idx="587">
                  <c:v>16</c:v>
                </c:pt>
                <c:pt idx="588">
                  <c:v>17</c:v>
                </c:pt>
                <c:pt idx="589">
                  <c:v>18</c:v>
                </c:pt>
                <c:pt idx="590">
                  <c:v>19</c:v>
                </c:pt>
                <c:pt idx="591">
                  <c:v>20</c:v>
                </c:pt>
                <c:pt idx="592">
                  <c:v>21</c:v>
                </c:pt>
                <c:pt idx="593">
                  <c:v>22</c:v>
                </c:pt>
                <c:pt idx="594">
                  <c:v>23</c:v>
                </c:pt>
                <c:pt idx="595">
                  <c:v>0</c:v>
                </c:pt>
                <c:pt idx="596">
                  <c:v>1</c:v>
                </c:pt>
                <c:pt idx="597">
                  <c:v>2</c:v>
                </c:pt>
                <c:pt idx="598">
                  <c:v>3</c:v>
                </c:pt>
                <c:pt idx="599">
                  <c:v>5</c:v>
                </c:pt>
                <c:pt idx="600">
                  <c:v>6</c:v>
                </c:pt>
                <c:pt idx="601">
                  <c:v>7</c:v>
                </c:pt>
                <c:pt idx="602">
                  <c:v>8</c:v>
                </c:pt>
                <c:pt idx="603">
                  <c:v>9</c:v>
                </c:pt>
                <c:pt idx="604">
                  <c:v>10</c:v>
                </c:pt>
                <c:pt idx="605">
                  <c:v>11</c:v>
                </c:pt>
                <c:pt idx="606">
                  <c:v>12</c:v>
                </c:pt>
                <c:pt idx="607">
                  <c:v>13</c:v>
                </c:pt>
                <c:pt idx="608">
                  <c:v>14</c:v>
                </c:pt>
                <c:pt idx="609">
                  <c:v>15</c:v>
                </c:pt>
                <c:pt idx="610">
                  <c:v>16</c:v>
                </c:pt>
                <c:pt idx="611">
                  <c:v>17</c:v>
                </c:pt>
                <c:pt idx="612">
                  <c:v>18</c:v>
                </c:pt>
                <c:pt idx="613">
                  <c:v>19</c:v>
                </c:pt>
                <c:pt idx="614">
                  <c:v>20</c:v>
                </c:pt>
                <c:pt idx="615">
                  <c:v>21</c:v>
                </c:pt>
                <c:pt idx="616">
                  <c:v>22</c:v>
                </c:pt>
                <c:pt idx="617">
                  <c:v>23</c:v>
                </c:pt>
                <c:pt idx="618">
                  <c:v>0</c:v>
                </c:pt>
                <c:pt idx="619">
                  <c:v>1</c:v>
                </c:pt>
                <c:pt idx="620">
                  <c:v>2</c:v>
                </c:pt>
                <c:pt idx="621">
                  <c:v>3</c:v>
                </c:pt>
                <c:pt idx="622">
                  <c:v>4</c:v>
                </c:pt>
                <c:pt idx="623">
                  <c:v>6</c:v>
                </c:pt>
                <c:pt idx="624">
                  <c:v>7</c:v>
                </c:pt>
                <c:pt idx="625">
                  <c:v>8</c:v>
                </c:pt>
                <c:pt idx="626">
                  <c:v>9</c:v>
                </c:pt>
                <c:pt idx="627">
                  <c:v>10</c:v>
                </c:pt>
                <c:pt idx="628">
                  <c:v>11</c:v>
                </c:pt>
                <c:pt idx="629">
                  <c:v>12</c:v>
                </c:pt>
                <c:pt idx="630">
                  <c:v>13</c:v>
                </c:pt>
                <c:pt idx="631">
                  <c:v>14</c:v>
                </c:pt>
                <c:pt idx="632">
                  <c:v>15</c:v>
                </c:pt>
                <c:pt idx="633">
                  <c:v>16</c:v>
                </c:pt>
                <c:pt idx="634">
                  <c:v>17</c:v>
                </c:pt>
                <c:pt idx="635">
                  <c:v>18</c:v>
                </c:pt>
                <c:pt idx="636">
                  <c:v>19</c:v>
                </c:pt>
                <c:pt idx="637">
                  <c:v>20</c:v>
                </c:pt>
                <c:pt idx="638">
                  <c:v>21</c:v>
                </c:pt>
                <c:pt idx="639">
                  <c:v>22</c:v>
                </c:pt>
                <c:pt idx="640">
                  <c:v>23</c:v>
                </c:pt>
                <c:pt idx="641">
                  <c:v>0</c:v>
                </c:pt>
                <c:pt idx="642">
                  <c:v>1</c:v>
                </c:pt>
                <c:pt idx="643">
                  <c:v>2</c:v>
                </c:pt>
                <c:pt idx="644">
                  <c:v>3</c:v>
                </c:pt>
                <c:pt idx="645">
                  <c:v>4</c:v>
                </c:pt>
                <c:pt idx="646">
                  <c:v>5</c:v>
                </c:pt>
                <c:pt idx="647">
                  <c:v>7</c:v>
                </c:pt>
                <c:pt idx="648">
                  <c:v>8</c:v>
                </c:pt>
                <c:pt idx="649">
                  <c:v>9</c:v>
                </c:pt>
                <c:pt idx="650">
                  <c:v>10</c:v>
                </c:pt>
                <c:pt idx="651">
                  <c:v>11</c:v>
                </c:pt>
                <c:pt idx="652">
                  <c:v>12</c:v>
                </c:pt>
                <c:pt idx="653">
                  <c:v>13</c:v>
                </c:pt>
                <c:pt idx="654">
                  <c:v>14</c:v>
                </c:pt>
                <c:pt idx="655">
                  <c:v>15</c:v>
                </c:pt>
                <c:pt idx="656">
                  <c:v>16</c:v>
                </c:pt>
                <c:pt idx="657">
                  <c:v>17</c:v>
                </c:pt>
                <c:pt idx="658">
                  <c:v>18</c:v>
                </c:pt>
                <c:pt idx="659">
                  <c:v>19</c:v>
                </c:pt>
                <c:pt idx="660">
                  <c:v>20</c:v>
                </c:pt>
                <c:pt idx="661">
                  <c:v>21</c:v>
                </c:pt>
                <c:pt idx="662">
                  <c:v>22</c:v>
                </c:pt>
                <c:pt idx="663">
                  <c:v>23</c:v>
                </c:pt>
                <c:pt idx="664">
                  <c:v>0</c:v>
                </c:pt>
                <c:pt idx="665">
                  <c:v>1</c:v>
                </c:pt>
                <c:pt idx="666">
                  <c:v>2</c:v>
                </c:pt>
                <c:pt idx="667">
                  <c:v>3</c:v>
                </c:pt>
                <c:pt idx="668">
                  <c:v>4</c:v>
                </c:pt>
                <c:pt idx="669">
                  <c:v>5</c:v>
                </c:pt>
                <c:pt idx="670">
                  <c:v>6</c:v>
                </c:pt>
                <c:pt idx="671">
                  <c:v>7</c:v>
                </c:pt>
                <c:pt idx="672">
                  <c:v>8</c:v>
                </c:pt>
                <c:pt idx="673">
                  <c:v>9</c:v>
                </c:pt>
                <c:pt idx="674">
                  <c:v>10</c:v>
                </c:pt>
                <c:pt idx="675">
                  <c:v>11</c:v>
                </c:pt>
                <c:pt idx="676">
                  <c:v>12</c:v>
                </c:pt>
                <c:pt idx="677">
                  <c:v>13</c:v>
                </c:pt>
                <c:pt idx="678">
                  <c:v>14</c:v>
                </c:pt>
                <c:pt idx="679">
                  <c:v>15</c:v>
                </c:pt>
                <c:pt idx="680">
                  <c:v>16</c:v>
                </c:pt>
                <c:pt idx="681">
                  <c:v>17</c:v>
                </c:pt>
                <c:pt idx="682">
                  <c:v>18</c:v>
                </c:pt>
                <c:pt idx="683">
                  <c:v>19</c:v>
                </c:pt>
                <c:pt idx="684">
                  <c:v>20</c:v>
                </c:pt>
                <c:pt idx="685">
                  <c:v>21</c:v>
                </c:pt>
                <c:pt idx="686">
                  <c:v>22</c:v>
                </c:pt>
                <c:pt idx="687">
                  <c:v>23</c:v>
                </c:pt>
                <c:pt idx="688">
                  <c:v>0</c:v>
                </c:pt>
                <c:pt idx="689">
                  <c:v>1</c:v>
                </c:pt>
                <c:pt idx="690">
                  <c:v>2</c:v>
                </c:pt>
                <c:pt idx="691">
                  <c:v>3</c:v>
                </c:pt>
                <c:pt idx="692">
                  <c:v>5</c:v>
                </c:pt>
                <c:pt idx="693">
                  <c:v>6</c:v>
                </c:pt>
                <c:pt idx="694">
                  <c:v>7</c:v>
                </c:pt>
                <c:pt idx="695">
                  <c:v>8</c:v>
                </c:pt>
                <c:pt idx="696">
                  <c:v>9</c:v>
                </c:pt>
                <c:pt idx="697">
                  <c:v>10</c:v>
                </c:pt>
                <c:pt idx="698">
                  <c:v>11</c:v>
                </c:pt>
                <c:pt idx="699">
                  <c:v>12</c:v>
                </c:pt>
                <c:pt idx="700">
                  <c:v>13</c:v>
                </c:pt>
                <c:pt idx="701">
                  <c:v>14</c:v>
                </c:pt>
                <c:pt idx="702">
                  <c:v>15</c:v>
                </c:pt>
                <c:pt idx="703">
                  <c:v>16</c:v>
                </c:pt>
                <c:pt idx="704">
                  <c:v>17</c:v>
                </c:pt>
                <c:pt idx="705">
                  <c:v>18</c:v>
                </c:pt>
                <c:pt idx="706">
                  <c:v>19</c:v>
                </c:pt>
                <c:pt idx="707">
                  <c:v>20</c:v>
                </c:pt>
                <c:pt idx="708">
                  <c:v>21</c:v>
                </c:pt>
                <c:pt idx="709">
                  <c:v>22</c:v>
                </c:pt>
                <c:pt idx="710">
                  <c:v>23</c:v>
                </c:pt>
                <c:pt idx="711">
                  <c:v>0</c:v>
                </c:pt>
                <c:pt idx="712">
                  <c:v>1</c:v>
                </c:pt>
                <c:pt idx="713">
                  <c:v>2</c:v>
                </c:pt>
                <c:pt idx="714">
                  <c:v>3</c:v>
                </c:pt>
                <c:pt idx="715">
                  <c:v>4</c:v>
                </c:pt>
                <c:pt idx="716">
                  <c:v>5</c:v>
                </c:pt>
                <c:pt idx="717">
                  <c:v>6</c:v>
                </c:pt>
                <c:pt idx="718">
                  <c:v>7</c:v>
                </c:pt>
                <c:pt idx="719">
                  <c:v>8</c:v>
                </c:pt>
                <c:pt idx="720">
                  <c:v>9</c:v>
                </c:pt>
                <c:pt idx="721">
                  <c:v>10</c:v>
                </c:pt>
                <c:pt idx="722">
                  <c:v>11</c:v>
                </c:pt>
                <c:pt idx="723">
                  <c:v>12</c:v>
                </c:pt>
                <c:pt idx="724">
                  <c:v>13</c:v>
                </c:pt>
                <c:pt idx="725">
                  <c:v>14</c:v>
                </c:pt>
                <c:pt idx="726">
                  <c:v>15</c:v>
                </c:pt>
                <c:pt idx="727">
                  <c:v>16</c:v>
                </c:pt>
                <c:pt idx="728">
                  <c:v>17</c:v>
                </c:pt>
                <c:pt idx="729">
                  <c:v>18</c:v>
                </c:pt>
                <c:pt idx="730">
                  <c:v>19</c:v>
                </c:pt>
                <c:pt idx="731">
                  <c:v>20</c:v>
                </c:pt>
                <c:pt idx="732">
                  <c:v>21</c:v>
                </c:pt>
                <c:pt idx="733">
                  <c:v>22</c:v>
                </c:pt>
                <c:pt idx="734">
                  <c:v>23</c:v>
                </c:pt>
                <c:pt idx="735">
                  <c:v>0</c:v>
                </c:pt>
                <c:pt idx="736">
                  <c:v>1</c:v>
                </c:pt>
                <c:pt idx="737">
                  <c:v>2</c:v>
                </c:pt>
                <c:pt idx="738">
                  <c:v>3</c:v>
                </c:pt>
                <c:pt idx="739">
                  <c:v>5</c:v>
                </c:pt>
                <c:pt idx="740">
                  <c:v>6</c:v>
                </c:pt>
                <c:pt idx="741">
                  <c:v>7</c:v>
                </c:pt>
                <c:pt idx="742">
                  <c:v>8</c:v>
                </c:pt>
                <c:pt idx="743">
                  <c:v>9</c:v>
                </c:pt>
                <c:pt idx="744">
                  <c:v>10</c:v>
                </c:pt>
                <c:pt idx="745">
                  <c:v>11</c:v>
                </c:pt>
                <c:pt idx="746">
                  <c:v>12</c:v>
                </c:pt>
                <c:pt idx="747">
                  <c:v>13</c:v>
                </c:pt>
                <c:pt idx="748">
                  <c:v>14</c:v>
                </c:pt>
                <c:pt idx="749">
                  <c:v>15</c:v>
                </c:pt>
                <c:pt idx="750">
                  <c:v>16</c:v>
                </c:pt>
                <c:pt idx="751">
                  <c:v>17</c:v>
                </c:pt>
                <c:pt idx="752">
                  <c:v>18</c:v>
                </c:pt>
                <c:pt idx="753">
                  <c:v>19</c:v>
                </c:pt>
                <c:pt idx="754">
                  <c:v>20</c:v>
                </c:pt>
                <c:pt idx="755">
                  <c:v>21</c:v>
                </c:pt>
                <c:pt idx="756">
                  <c:v>22</c:v>
                </c:pt>
                <c:pt idx="757">
                  <c:v>23</c:v>
                </c:pt>
                <c:pt idx="758">
                  <c:v>0</c:v>
                </c:pt>
                <c:pt idx="759">
                  <c:v>1</c:v>
                </c:pt>
                <c:pt idx="760">
                  <c:v>2</c:v>
                </c:pt>
                <c:pt idx="761">
                  <c:v>3</c:v>
                </c:pt>
                <c:pt idx="762">
                  <c:v>5</c:v>
                </c:pt>
                <c:pt idx="763">
                  <c:v>6</c:v>
                </c:pt>
                <c:pt idx="764">
                  <c:v>7</c:v>
                </c:pt>
                <c:pt idx="765">
                  <c:v>8</c:v>
                </c:pt>
                <c:pt idx="766">
                  <c:v>9</c:v>
                </c:pt>
                <c:pt idx="767">
                  <c:v>10</c:v>
                </c:pt>
                <c:pt idx="768">
                  <c:v>11</c:v>
                </c:pt>
                <c:pt idx="769">
                  <c:v>12</c:v>
                </c:pt>
                <c:pt idx="770">
                  <c:v>13</c:v>
                </c:pt>
                <c:pt idx="771">
                  <c:v>14</c:v>
                </c:pt>
                <c:pt idx="772">
                  <c:v>15</c:v>
                </c:pt>
                <c:pt idx="773">
                  <c:v>16</c:v>
                </c:pt>
                <c:pt idx="774">
                  <c:v>17</c:v>
                </c:pt>
                <c:pt idx="775">
                  <c:v>18</c:v>
                </c:pt>
                <c:pt idx="776">
                  <c:v>19</c:v>
                </c:pt>
                <c:pt idx="777">
                  <c:v>20</c:v>
                </c:pt>
                <c:pt idx="778">
                  <c:v>21</c:v>
                </c:pt>
                <c:pt idx="779">
                  <c:v>22</c:v>
                </c:pt>
                <c:pt idx="780">
                  <c:v>23</c:v>
                </c:pt>
                <c:pt idx="781">
                  <c:v>0</c:v>
                </c:pt>
                <c:pt idx="782">
                  <c:v>1</c:v>
                </c:pt>
                <c:pt idx="783">
                  <c:v>2</c:v>
                </c:pt>
                <c:pt idx="784">
                  <c:v>3</c:v>
                </c:pt>
                <c:pt idx="785">
                  <c:v>4</c:v>
                </c:pt>
                <c:pt idx="786">
                  <c:v>5</c:v>
                </c:pt>
                <c:pt idx="787">
                  <c:v>6</c:v>
                </c:pt>
                <c:pt idx="788">
                  <c:v>7</c:v>
                </c:pt>
                <c:pt idx="789">
                  <c:v>8</c:v>
                </c:pt>
                <c:pt idx="790">
                  <c:v>9</c:v>
                </c:pt>
                <c:pt idx="791">
                  <c:v>10</c:v>
                </c:pt>
                <c:pt idx="792">
                  <c:v>11</c:v>
                </c:pt>
                <c:pt idx="793">
                  <c:v>12</c:v>
                </c:pt>
                <c:pt idx="794">
                  <c:v>13</c:v>
                </c:pt>
                <c:pt idx="795">
                  <c:v>14</c:v>
                </c:pt>
                <c:pt idx="796">
                  <c:v>15</c:v>
                </c:pt>
                <c:pt idx="797">
                  <c:v>16</c:v>
                </c:pt>
                <c:pt idx="798">
                  <c:v>17</c:v>
                </c:pt>
                <c:pt idx="799">
                  <c:v>18</c:v>
                </c:pt>
                <c:pt idx="800">
                  <c:v>19</c:v>
                </c:pt>
                <c:pt idx="801">
                  <c:v>20</c:v>
                </c:pt>
                <c:pt idx="802">
                  <c:v>21</c:v>
                </c:pt>
                <c:pt idx="803">
                  <c:v>22</c:v>
                </c:pt>
                <c:pt idx="804">
                  <c:v>23</c:v>
                </c:pt>
                <c:pt idx="805">
                  <c:v>0</c:v>
                </c:pt>
                <c:pt idx="806">
                  <c:v>1</c:v>
                </c:pt>
                <c:pt idx="807">
                  <c:v>2</c:v>
                </c:pt>
                <c:pt idx="808">
                  <c:v>3</c:v>
                </c:pt>
                <c:pt idx="809">
                  <c:v>4</c:v>
                </c:pt>
                <c:pt idx="810">
                  <c:v>5</c:v>
                </c:pt>
                <c:pt idx="811">
                  <c:v>6</c:v>
                </c:pt>
                <c:pt idx="812">
                  <c:v>7</c:v>
                </c:pt>
                <c:pt idx="813">
                  <c:v>8</c:v>
                </c:pt>
                <c:pt idx="814">
                  <c:v>9</c:v>
                </c:pt>
                <c:pt idx="815">
                  <c:v>10</c:v>
                </c:pt>
                <c:pt idx="816">
                  <c:v>11</c:v>
                </c:pt>
                <c:pt idx="817">
                  <c:v>12</c:v>
                </c:pt>
                <c:pt idx="818">
                  <c:v>13</c:v>
                </c:pt>
                <c:pt idx="819">
                  <c:v>14</c:v>
                </c:pt>
                <c:pt idx="820">
                  <c:v>15</c:v>
                </c:pt>
                <c:pt idx="821">
                  <c:v>16</c:v>
                </c:pt>
                <c:pt idx="822">
                  <c:v>17</c:v>
                </c:pt>
                <c:pt idx="823">
                  <c:v>18</c:v>
                </c:pt>
                <c:pt idx="824">
                  <c:v>19</c:v>
                </c:pt>
                <c:pt idx="825">
                  <c:v>20</c:v>
                </c:pt>
                <c:pt idx="826">
                  <c:v>21</c:v>
                </c:pt>
                <c:pt idx="827">
                  <c:v>22</c:v>
                </c:pt>
                <c:pt idx="828">
                  <c:v>23</c:v>
                </c:pt>
                <c:pt idx="829">
                  <c:v>0</c:v>
                </c:pt>
                <c:pt idx="830">
                  <c:v>1</c:v>
                </c:pt>
                <c:pt idx="831">
                  <c:v>2</c:v>
                </c:pt>
                <c:pt idx="832">
                  <c:v>3</c:v>
                </c:pt>
                <c:pt idx="833">
                  <c:v>4</c:v>
                </c:pt>
                <c:pt idx="834">
                  <c:v>5</c:v>
                </c:pt>
                <c:pt idx="835">
                  <c:v>6</c:v>
                </c:pt>
                <c:pt idx="836">
                  <c:v>7</c:v>
                </c:pt>
                <c:pt idx="837">
                  <c:v>8</c:v>
                </c:pt>
                <c:pt idx="838">
                  <c:v>9</c:v>
                </c:pt>
                <c:pt idx="839">
                  <c:v>10</c:v>
                </c:pt>
                <c:pt idx="840">
                  <c:v>11</c:v>
                </c:pt>
                <c:pt idx="841">
                  <c:v>12</c:v>
                </c:pt>
                <c:pt idx="842">
                  <c:v>13</c:v>
                </c:pt>
                <c:pt idx="843">
                  <c:v>14</c:v>
                </c:pt>
                <c:pt idx="844">
                  <c:v>15</c:v>
                </c:pt>
                <c:pt idx="845">
                  <c:v>16</c:v>
                </c:pt>
                <c:pt idx="846">
                  <c:v>17</c:v>
                </c:pt>
                <c:pt idx="847">
                  <c:v>18</c:v>
                </c:pt>
                <c:pt idx="848">
                  <c:v>19</c:v>
                </c:pt>
                <c:pt idx="849">
                  <c:v>20</c:v>
                </c:pt>
                <c:pt idx="850">
                  <c:v>21</c:v>
                </c:pt>
                <c:pt idx="851">
                  <c:v>22</c:v>
                </c:pt>
                <c:pt idx="852">
                  <c:v>23</c:v>
                </c:pt>
                <c:pt idx="853">
                  <c:v>0</c:v>
                </c:pt>
                <c:pt idx="854">
                  <c:v>1</c:v>
                </c:pt>
                <c:pt idx="855">
                  <c:v>2</c:v>
                </c:pt>
                <c:pt idx="856">
                  <c:v>3</c:v>
                </c:pt>
                <c:pt idx="857">
                  <c:v>4</c:v>
                </c:pt>
                <c:pt idx="858">
                  <c:v>5</c:v>
                </c:pt>
                <c:pt idx="859">
                  <c:v>6</c:v>
                </c:pt>
                <c:pt idx="860">
                  <c:v>7</c:v>
                </c:pt>
                <c:pt idx="861">
                  <c:v>8</c:v>
                </c:pt>
                <c:pt idx="862">
                  <c:v>9</c:v>
                </c:pt>
                <c:pt idx="863">
                  <c:v>10</c:v>
                </c:pt>
                <c:pt idx="864">
                  <c:v>11</c:v>
                </c:pt>
                <c:pt idx="865">
                  <c:v>12</c:v>
                </c:pt>
                <c:pt idx="866">
                  <c:v>13</c:v>
                </c:pt>
                <c:pt idx="867">
                  <c:v>14</c:v>
                </c:pt>
                <c:pt idx="868">
                  <c:v>15</c:v>
                </c:pt>
                <c:pt idx="869">
                  <c:v>16</c:v>
                </c:pt>
                <c:pt idx="870">
                  <c:v>17</c:v>
                </c:pt>
                <c:pt idx="871">
                  <c:v>18</c:v>
                </c:pt>
                <c:pt idx="872">
                  <c:v>19</c:v>
                </c:pt>
                <c:pt idx="873">
                  <c:v>20</c:v>
                </c:pt>
                <c:pt idx="874">
                  <c:v>21</c:v>
                </c:pt>
                <c:pt idx="875">
                  <c:v>22</c:v>
                </c:pt>
                <c:pt idx="876">
                  <c:v>23</c:v>
                </c:pt>
                <c:pt idx="877">
                  <c:v>0</c:v>
                </c:pt>
                <c:pt idx="878">
                  <c:v>1</c:v>
                </c:pt>
                <c:pt idx="879">
                  <c:v>2</c:v>
                </c:pt>
                <c:pt idx="880">
                  <c:v>3</c:v>
                </c:pt>
                <c:pt idx="881">
                  <c:v>5</c:v>
                </c:pt>
                <c:pt idx="882">
                  <c:v>6</c:v>
                </c:pt>
                <c:pt idx="883">
                  <c:v>7</c:v>
                </c:pt>
                <c:pt idx="884">
                  <c:v>8</c:v>
                </c:pt>
                <c:pt idx="885">
                  <c:v>9</c:v>
                </c:pt>
                <c:pt idx="886">
                  <c:v>10</c:v>
                </c:pt>
                <c:pt idx="887">
                  <c:v>11</c:v>
                </c:pt>
                <c:pt idx="888">
                  <c:v>12</c:v>
                </c:pt>
                <c:pt idx="889">
                  <c:v>13</c:v>
                </c:pt>
                <c:pt idx="890">
                  <c:v>14</c:v>
                </c:pt>
                <c:pt idx="891">
                  <c:v>15</c:v>
                </c:pt>
                <c:pt idx="892">
                  <c:v>16</c:v>
                </c:pt>
                <c:pt idx="893">
                  <c:v>17</c:v>
                </c:pt>
                <c:pt idx="894">
                  <c:v>18</c:v>
                </c:pt>
                <c:pt idx="895">
                  <c:v>19</c:v>
                </c:pt>
                <c:pt idx="896">
                  <c:v>20</c:v>
                </c:pt>
                <c:pt idx="897">
                  <c:v>21</c:v>
                </c:pt>
                <c:pt idx="898">
                  <c:v>22</c:v>
                </c:pt>
                <c:pt idx="899">
                  <c:v>23</c:v>
                </c:pt>
                <c:pt idx="900">
                  <c:v>0</c:v>
                </c:pt>
                <c:pt idx="901">
                  <c:v>1</c:v>
                </c:pt>
                <c:pt idx="902">
                  <c:v>2</c:v>
                </c:pt>
                <c:pt idx="903">
                  <c:v>4</c:v>
                </c:pt>
                <c:pt idx="904">
                  <c:v>5</c:v>
                </c:pt>
                <c:pt idx="905">
                  <c:v>6</c:v>
                </c:pt>
                <c:pt idx="906">
                  <c:v>7</c:v>
                </c:pt>
                <c:pt idx="907">
                  <c:v>8</c:v>
                </c:pt>
                <c:pt idx="908">
                  <c:v>9</c:v>
                </c:pt>
                <c:pt idx="909">
                  <c:v>10</c:v>
                </c:pt>
                <c:pt idx="910">
                  <c:v>11</c:v>
                </c:pt>
                <c:pt idx="911">
                  <c:v>12</c:v>
                </c:pt>
                <c:pt idx="912">
                  <c:v>13</c:v>
                </c:pt>
                <c:pt idx="913">
                  <c:v>14</c:v>
                </c:pt>
                <c:pt idx="914">
                  <c:v>15</c:v>
                </c:pt>
                <c:pt idx="915">
                  <c:v>16</c:v>
                </c:pt>
                <c:pt idx="916">
                  <c:v>17</c:v>
                </c:pt>
                <c:pt idx="917">
                  <c:v>18</c:v>
                </c:pt>
                <c:pt idx="918">
                  <c:v>19</c:v>
                </c:pt>
                <c:pt idx="919">
                  <c:v>20</c:v>
                </c:pt>
                <c:pt idx="920">
                  <c:v>21</c:v>
                </c:pt>
                <c:pt idx="921">
                  <c:v>22</c:v>
                </c:pt>
                <c:pt idx="922">
                  <c:v>23</c:v>
                </c:pt>
                <c:pt idx="923">
                  <c:v>0</c:v>
                </c:pt>
                <c:pt idx="924">
                  <c:v>1</c:v>
                </c:pt>
                <c:pt idx="925">
                  <c:v>2</c:v>
                </c:pt>
                <c:pt idx="926">
                  <c:v>5</c:v>
                </c:pt>
                <c:pt idx="927">
                  <c:v>6</c:v>
                </c:pt>
                <c:pt idx="928">
                  <c:v>7</c:v>
                </c:pt>
                <c:pt idx="929">
                  <c:v>8</c:v>
                </c:pt>
                <c:pt idx="930">
                  <c:v>9</c:v>
                </c:pt>
                <c:pt idx="931">
                  <c:v>10</c:v>
                </c:pt>
                <c:pt idx="932">
                  <c:v>11</c:v>
                </c:pt>
                <c:pt idx="933">
                  <c:v>12</c:v>
                </c:pt>
                <c:pt idx="934">
                  <c:v>13</c:v>
                </c:pt>
                <c:pt idx="935">
                  <c:v>14</c:v>
                </c:pt>
                <c:pt idx="936">
                  <c:v>15</c:v>
                </c:pt>
                <c:pt idx="937">
                  <c:v>16</c:v>
                </c:pt>
                <c:pt idx="938">
                  <c:v>17</c:v>
                </c:pt>
                <c:pt idx="939">
                  <c:v>18</c:v>
                </c:pt>
                <c:pt idx="940">
                  <c:v>19</c:v>
                </c:pt>
                <c:pt idx="941">
                  <c:v>20</c:v>
                </c:pt>
                <c:pt idx="942">
                  <c:v>21</c:v>
                </c:pt>
                <c:pt idx="943">
                  <c:v>22</c:v>
                </c:pt>
                <c:pt idx="944">
                  <c:v>23</c:v>
                </c:pt>
                <c:pt idx="945">
                  <c:v>0</c:v>
                </c:pt>
                <c:pt idx="946">
                  <c:v>1</c:v>
                </c:pt>
                <c:pt idx="947">
                  <c:v>2</c:v>
                </c:pt>
                <c:pt idx="948">
                  <c:v>3</c:v>
                </c:pt>
                <c:pt idx="949">
                  <c:v>4</c:v>
                </c:pt>
                <c:pt idx="950">
                  <c:v>5</c:v>
                </c:pt>
                <c:pt idx="951">
                  <c:v>6</c:v>
                </c:pt>
                <c:pt idx="952">
                  <c:v>7</c:v>
                </c:pt>
                <c:pt idx="953">
                  <c:v>8</c:v>
                </c:pt>
                <c:pt idx="954">
                  <c:v>9</c:v>
                </c:pt>
                <c:pt idx="955">
                  <c:v>10</c:v>
                </c:pt>
                <c:pt idx="956">
                  <c:v>11</c:v>
                </c:pt>
                <c:pt idx="957">
                  <c:v>12</c:v>
                </c:pt>
                <c:pt idx="958">
                  <c:v>13</c:v>
                </c:pt>
                <c:pt idx="959">
                  <c:v>14</c:v>
                </c:pt>
                <c:pt idx="960">
                  <c:v>15</c:v>
                </c:pt>
                <c:pt idx="961">
                  <c:v>16</c:v>
                </c:pt>
                <c:pt idx="962">
                  <c:v>17</c:v>
                </c:pt>
                <c:pt idx="963">
                  <c:v>18</c:v>
                </c:pt>
                <c:pt idx="964">
                  <c:v>19</c:v>
                </c:pt>
                <c:pt idx="965">
                  <c:v>20</c:v>
                </c:pt>
                <c:pt idx="966">
                  <c:v>21</c:v>
                </c:pt>
                <c:pt idx="967">
                  <c:v>22</c:v>
                </c:pt>
                <c:pt idx="968">
                  <c:v>23</c:v>
                </c:pt>
                <c:pt idx="969">
                  <c:v>0</c:v>
                </c:pt>
                <c:pt idx="970">
                  <c:v>1</c:v>
                </c:pt>
                <c:pt idx="971">
                  <c:v>2</c:v>
                </c:pt>
                <c:pt idx="972">
                  <c:v>3</c:v>
                </c:pt>
                <c:pt idx="973">
                  <c:v>4</c:v>
                </c:pt>
                <c:pt idx="974">
                  <c:v>6</c:v>
                </c:pt>
                <c:pt idx="975">
                  <c:v>7</c:v>
                </c:pt>
                <c:pt idx="976">
                  <c:v>8</c:v>
                </c:pt>
                <c:pt idx="977">
                  <c:v>9</c:v>
                </c:pt>
                <c:pt idx="978">
                  <c:v>10</c:v>
                </c:pt>
                <c:pt idx="979">
                  <c:v>11</c:v>
                </c:pt>
                <c:pt idx="980">
                  <c:v>12</c:v>
                </c:pt>
                <c:pt idx="981">
                  <c:v>13</c:v>
                </c:pt>
                <c:pt idx="982">
                  <c:v>14</c:v>
                </c:pt>
                <c:pt idx="983">
                  <c:v>15</c:v>
                </c:pt>
                <c:pt idx="984">
                  <c:v>16</c:v>
                </c:pt>
                <c:pt idx="985">
                  <c:v>17</c:v>
                </c:pt>
                <c:pt idx="986">
                  <c:v>18</c:v>
                </c:pt>
                <c:pt idx="987">
                  <c:v>19</c:v>
                </c:pt>
                <c:pt idx="988">
                  <c:v>20</c:v>
                </c:pt>
                <c:pt idx="989">
                  <c:v>21</c:v>
                </c:pt>
                <c:pt idx="990">
                  <c:v>22</c:v>
                </c:pt>
                <c:pt idx="991">
                  <c:v>23</c:v>
                </c:pt>
                <c:pt idx="992">
                  <c:v>0</c:v>
                </c:pt>
                <c:pt idx="993">
                  <c:v>1</c:v>
                </c:pt>
                <c:pt idx="994">
                  <c:v>2</c:v>
                </c:pt>
                <c:pt idx="995">
                  <c:v>3</c:v>
                </c:pt>
                <c:pt idx="996">
                  <c:v>4</c:v>
                </c:pt>
                <c:pt idx="997">
                  <c:v>5</c:v>
                </c:pt>
                <c:pt idx="998">
                  <c:v>6</c:v>
                </c:pt>
                <c:pt idx="999">
                  <c:v>7</c:v>
                </c:pt>
              </c:numCache>
            </c:numRef>
          </c:xVal>
          <c:yVal>
            <c:numRef>
              <c:f>Outlier!$K$5:$K$1004</c:f>
              <c:numCache>
                <c:formatCode>General</c:formatCode>
                <c:ptCount val="1000"/>
                <c:pt idx="0">
                  <c:v>#N/A</c:v>
                </c:pt>
                <c:pt idx="1">
                  <c:v>40</c:v>
                </c:pt>
                <c:pt idx="2">
                  <c:v>32</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9</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pt idx="201">
                  <c:v>#N/A</c:v>
                </c:pt>
                <c:pt idx="202">
                  <c:v>#N/A</c:v>
                </c:pt>
                <c:pt idx="203">
                  <c:v>#N/A</c:v>
                </c:pt>
                <c:pt idx="204">
                  <c:v>#N/A</c:v>
                </c:pt>
                <c:pt idx="205">
                  <c:v>#N/A</c:v>
                </c:pt>
                <c:pt idx="206">
                  <c:v>#N/A</c:v>
                </c:pt>
                <c:pt idx="207">
                  <c:v>#N/A</c:v>
                </c:pt>
                <c:pt idx="208">
                  <c:v>#N/A</c:v>
                </c:pt>
                <c:pt idx="209">
                  <c:v>#N/A</c:v>
                </c:pt>
                <c:pt idx="210">
                  <c:v>#N/A</c:v>
                </c:pt>
                <c:pt idx="211">
                  <c:v>#N/A</c:v>
                </c:pt>
                <c:pt idx="212">
                  <c:v>#N/A</c:v>
                </c:pt>
                <c:pt idx="213">
                  <c:v>#N/A</c:v>
                </c:pt>
                <c:pt idx="214">
                  <c:v>#N/A</c:v>
                </c:pt>
                <c:pt idx="215">
                  <c:v>#N/A</c:v>
                </c:pt>
                <c:pt idx="216">
                  <c:v>#N/A</c:v>
                </c:pt>
                <c:pt idx="217">
                  <c:v>#N/A</c:v>
                </c:pt>
                <c:pt idx="218">
                  <c:v>#N/A</c:v>
                </c:pt>
                <c:pt idx="219">
                  <c:v>#N/A</c:v>
                </c:pt>
                <c:pt idx="220">
                  <c:v>#N/A</c:v>
                </c:pt>
                <c:pt idx="221">
                  <c:v>#N/A</c:v>
                </c:pt>
                <c:pt idx="222">
                  <c:v>#N/A</c:v>
                </c:pt>
                <c:pt idx="223">
                  <c:v>#N/A</c:v>
                </c:pt>
                <c:pt idx="224">
                  <c:v>#N/A</c:v>
                </c:pt>
                <c:pt idx="225">
                  <c:v>#N/A</c:v>
                </c:pt>
                <c:pt idx="226">
                  <c:v>#N/A</c:v>
                </c:pt>
                <c:pt idx="227">
                  <c:v>#N/A</c:v>
                </c:pt>
                <c:pt idx="228">
                  <c:v>#N/A</c:v>
                </c:pt>
                <c:pt idx="229">
                  <c:v>#N/A</c:v>
                </c:pt>
                <c:pt idx="230">
                  <c:v>#N/A</c:v>
                </c:pt>
                <c:pt idx="231">
                  <c:v>#N/A</c:v>
                </c:pt>
                <c:pt idx="232">
                  <c:v>#N/A</c:v>
                </c:pt>
                <c:pt idx="233">
                  <c:v>#N/A</c:v>
                </c:pt>
                <c:pt idx="234">
                  <c:v>#N/A</c:v>
                </c:pt>
                <c:pt idx="235">
                  <c:v>#N/A</c:v>
                </c:pt>
                <c:pt idx="236">
                  <c:v>#N/A</c:v>
                </c:pt>
                <c:pt idx="237">
                  <c:v>#N/A</c:v>
                </c:pt>
                <c:pt idx="238">
                  <c:v>#N/A</c:v>
                </c:pt>
                <c:pt idx="239">
                  <c:v>#N/A</c:v>
                </c:pt>
                <c:pt idx="240">
                  <c:v>#N/A</c:v>
                </c:pt>
                <c:pt idx="241">
                  <c:v>#N/A</c:v>
                </c:pt>
                <c:pt idx="242">
                  <c:v>#N/A</c:v>
                </c:pt>
                <c:pt idx="243">
                  <c:v>#N/A</c:v>
                </c:pt>
                <c:pt idx="244">
                  <c:v>#N/A</c:v>
                </c:pt>
                <c:pt idx="245">
                  <c:v>#N/A</c:v>
                </c:pt>
                <c:pt idx="246">
                  <c:v>#N/A</c:v>
                </c:pt>
                <c:pt idx="247">
                  <c:v>#N/A</c:v>
                </c:pt>
                <c:pt idx="248">
                  <c:v>#N/A</c:v>
                </c:pt>
                <c:pt idx="249">
                  <c:v>#N/A</c:v>
                </c:pt>
                <c:pt idx="250">
                  <c:v>#N/A</c:v>
                </c:pt>
                <c:pt idx="251">
                  <c:v>#N/A</c:v>
                </c:pt>
                <c:pt idx="252">
                  <c:v>#N/A</c:v>
                </c:pt>
                <c:pt idx="253">
                  <c:v>#N/A</c:v>
                </c:pt>
                <c:pt idx="254">
                  <c:v>#N/A</c:v>
                </c:pt>
                <c:pt idx="255">
                  <c:v>#N/A</c:v>
                </c:pt>
                <c:pt idx="256">
                  <c:v>#N/A</c:v>
                </c:pt>
                <c:pt idx="257">
                  <c:v>#N/A</c:v>
                </c:pt>
                <c:pt idx="258">
                  <c:v>#N/A</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39</c:v>
                </c:pt>
                <c:pt idx="349">
                  <c:v>#N/A</c:v>
                </c:pt>
                <c:pt idx="350">
                  <c:v>#N/A</c:v>
                </c:pt>
                <c:pt idx="351">
                  <c:v>15</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3</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59</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152</c:v>
                </c:pt>
                <c:pt idx="451">
                  <c:v>126</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225</c:v>
                </c:pt>
                <c:pt idx="566">
                  <c:v>#N/A</c:v>
                </c:pt>
                <c:pt idx="567">
                  <c:v>119</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36</c:v>
                </c:pt>
                <c:pt idx="586">
                  <c:v>26</c:v>
                </c:pt>
                <c:pt idx="587">
                  <c:v>24</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39</c:v>
                </c:pt>
                <c:pt idx="782">
                  <c:v>#N/A</c:v>
                </c:pt>
                <c:pt idx="783">
                  <c:v>#N/A</c:v>
                </c:pt>
                <c:pt idx="784">
                  <c:v>#N/A</c:v>
                </c:pt>
                <c:pt idx="785">
                  <c:v>8</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59</c:v>
                </c:pt>
                <c:pt idx="805">
                  <c:v>39</c:v>
                </c:pt>
                <c:pt idx="806">
                  <c:v>44</c:v>
                </c:pt>
                <c:pt idx="807">
                  <c:v>#N/A</c:v>
                </c:pt>
                <c:pt idx="808">
                  <c:v>#N/A</c:v>
                </c:pt>
                <c:pt idx="809">
                  <c:v>#N/A</c:v>
                </c:pt>
                <c:pt idx="810">
                  <c:v>#N/A</c:v>
                </c:pt>
                <c:pt idx="811">
                  <c:v>#N/A</c:v>
                </c:pt>
                <c:pt idx="812">
                  <c:v>#N/A</c:v>
                </c:pt>
                <c:pt idx="813">
                  <c:v>#N/A</c:v>
                </c:pt>
                <c:pt idx="814">
                  <c:v>#N/A</c:v>
                </c:pt>
                <c:pt idx="815">
                  <c:v>89</c:v>
                </c:pt>
                <c:pt idx="816">
                  <c:v>117</c:v>
                </c:pt>
                <c:pt idx="817">
                  <c:v>174</c:v>
                </c:pt>
                <c:pt idx="818">
                  <c:v>182</c:v>
                </c:pt>
                <c:pt idx="819">
                  <c:v>161</c:v>
                </c:pt>
                <c:pt idx="820">
                  <c:v>182</c:v>
                </c:pt>
                <c:pt idx="821">
                  <c:v>157</c:v>
                </c:pt>
                <c:pt idx="822">
                  <c:v>#N/A</c:v>
                </c:pt>
                <c:pt idx="823">
                  <c:v>#N/A</c:v>
                </c:pt>
                <c:pt idx="824">
                  <c:v>21</c:v>
                </c:pt>
                <c:pt idx="825">
                  <c:v>#N/A</c:v>
                </c:pt>
                <c:pt idx="826">
                  <c:v>#N/A</c:v>
                </c:pt>
                <c:pt idx="827">
                  <c:v>62</c:v>
                </c:pt>
                <c:pt idx="828">
                  <c:v>#N/A</c:v>
                </c:pt>
                <c:pt idx="829">
                  <c:v>#N/A</c:v>
                </c:pt>
                <c:pt idx="830">
                  <c:v>#N/A</c:v>
                </c:pt>
                <c:pt idx="831">
                  <c:v>#N/A</c:v>
                </c:pt>
                <c:pt idx="832">
                  <c:v>#N/A</c:v>
                </c:pt>
                <c:pt idx="833">
                  <c:v>#N/A</c:v>
                </c:pt>
                <c:pt idx="834">
                  <c:v>10</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78</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83</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53</c:v>
                </c:pt>
                <c:pt idx="945">
                  <c:v>#N/A</c:v>
                </c:pt>
                <c:pt idx="946">
                  <c:v>#N/A</c:v>
                </c:pt>
                <c:pt idx="947">
                  <c:v>#N/A</c:v>
                </c:pt>
                <c:pt idx="948">
                  <c:v>#N/A</c:v>
                </c:pt>
                <c:pt idx="949">
                  <c:v>#N/A</c:v>
                </c:pt>
                <c:pt idx="950">
                  <c:v>#N/A</c:v>
                </c:pt>
                <c:pt idx="951">
                  <c:v>#N/A</c:v>
                </c:pt>
                <c:pt idx="952">
                  <c:v>#N/A</c:v>
                </c:pt>
                <c:pt idx="953">
                  <c:v>#N/A</c:v>
                </c:pt>
                <c:pt idx="954">
                  <c:v>#N/A</c:v>
                </c:pt>
                <c:pt idx="955">
                  <c:v>#N/A</c:v>
                </c:pt>
                <c:pt idx="956">
                  <c:v>114</c:v>
                </c:pt>
                <c:pt idx="957">
                  <c:v>#N/A</c:v>
                </c:pt>
                <c:pt idx="958">
                  <c:v>#N/A</c:v>
                </c:pt>
                <c:pt idx="959">
                  <c:v>#N/A</c:v>
                </c:pt>
                <c:pt idx="960">
                  <c:v>174</c:v>
                </c:pt>
                <c:pt idx="961">
                  <c:v>145</c:v>
                </c:pt>
                <c:pt idx="962">
                  <c:v>#N/A</c:v>
                </c:pt>
                <c:pt idx="963">
                  <c:v>#N/A</c:v>
                </c:pt>
                <c:pt idx="964">
                  <c:v>#N/A</c:v>
                </c:pt>
                <c:pt idx="965">
                  <c:v>#N/A</c:v>
                </c:pt>
                <c:pt idx="966">
                  <c:v>#N/A</c:v>
                </c:pt>
                <c:pt idx="967">
                  <c:v>#N/A</c:v>
                </c:pt>
                <c:pt idx="968">
                  <c:v>#N/A</c:v>
                </c:pt>
                <c:pt idx="969">
                  <c:v>39</c:v>
                </c:pt>
                <c:pt idx="970">
                  <c:v>#N/A</c:v>
                </c:pt>
                <c:pt idx="971">
                  <c:v>#N/A</c:v>
                </c:pt>
                <c:pt idx="972">
                  <c:v>#N/A</c:v>
                </c:pt>
                <c:pt idx="973">
                  <c:v>#N/A</c:v>
                </c:pt>
                <c:pt idx="974">
                  <c:v>#N/A</c:v>
                </c:pt>
                <c:pt idx="975">
                  <c:v>#N/A</c:v>
                </c:pt>
                <c:pt idx="976">
                  <c:v>#N/A</c:v>
                </c:pt>
                <c:pt idx="977">
                  <c:v>#N/A</c:v>
                </c:pt>
                <c:pt idx="978">
                  <c:v>105</c:v>
                </c:pt>
                <c:pt idx="979">
                  <c:v>112</c:v>
                </c:pt>
                <c:pt idx="980">
                  <c:v>152</c:v>
                </c:pt>
                <c:pt idx="981">
                  <c:v>154</c:v>
                </c:pt>
                <c:pt idx="982">
                  <c:v>161</c:v>
                </c:pt>
                <c:pt idx="983">
                  <c:v>162</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numCache>
            </c:numRef>
          </c:yVal>
          <c:smooth val="0"/>
          <c:extLst>
            <c:ext xmlns:c16="http://schemas.microsoft.com/office/drawing/2014/chart" uri="{C3380CC4-5D6E-409C-BE32-E72D297353CC}">
              <c16:uniqueId val="{00000001-BB37-4B77-A875-7AA405014464}"/>
            </c:ext>
          </c:extLst>
        </c:ser>
        <c:dLbls>
          <c:showLegendKey val="0"/>
          <c:showVal val="0"/>
          <c:showCatName val="0"/>
          <c:showSerName val="0"/>
          <c:showPercent val="0"/>
          <c:showBubbleSize val="0"/>
        </c:dLbls>
        <c:axId val="924886560"/>
        <c:axId val="924892320"/>
      </c:scatterChart>
      <c:valAx>
        <c:axId val="924886560"/>
        <c:scaling>
          <c:orientation val="minMax"/>
        </c:scaling>
        <c:delete val="0"/>
        <c:axPos val="b"/>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924892320"/>
        <c:crosses val="autoZero"/>
        <c:crossBetween val="midCat"/>
      </c:valAx>
      <c:valAx>
        <c:axId val="924892320"/>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924886560"/>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8">
  <cs:axisTitle>
    <cs:lnRef idx="0"/>
    <cs:fillRef idx="0"/>
    <cs:effectRef idx="0"/>
    <cs:fontRef idx="minor">
      <a:schemeClr val="lt1">
        <a:lumMod val="75000"/>
      </a:schemeClr>
    </cs:fontRef>
    <cs:defRPr sz="1197" b="1" kern="1200" cap="all"/>
  </cs:axisTitle>
  <cs:categoryAxis>
    <cs:lnRef idx="0"/>
    <cs:fillRef idx="0"/>
    <cs:effectRef idx="0"/>
    <cs:fontRef idx="minor">
      <a:schemeClr val="lt1">
        <a:lumMod val="75000"/>
      </a:schemeClr>
    </cs:fontRef>
    <cs:spPr>
      <a:ln w="9525" cap="flat" cmpd="sng" algn="ctr">
        <a:solidFill>
          <a:schemeClr val="lt1">
            <a:lumMod val="50000"/>
          </a:schemeClr>
        </a:solidFill>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7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7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75000"/>
      </a:schemeClr>
    </cs:fontRef>
    <cs:spPr>
      <a:ln w="9525" cap="flat" cmpd="sng" algn="ctr">
        <a:solidFill>
          <a:schemeClr val="lt1">
            <a:lumMod val="50000"/>
          </a:schemeClr>
        </a:solidFill>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lt1">
        <a:lumMod val="7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75000"/>
      </a:schemeClr>
    </cs:fontRef>
    <cs:spPr>
      <a:ln w="9525" cap="flat" cmpd="sng" algn="ctr">
        <a:solidFill>
          <a:schemeClr val="lt1">
            <a:lumMod val="50000"/>
          </a:schemeClr>
        </a:solidFill>
      </a:ln>
    </cs:spPr>
    <cs:defRPr sz="1197" kern="12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4498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 Excel-based analysis of hourly bike rental data, ending in a dashboard for management. The data covers 1 January to 14 February 2011.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roadmap. We start with the data and how it was prepared, then look at demand patterns, weather, forecasting and anomalies, and finish with the dashboard and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aim is practical: understand when and why rentals go up or down, so bikes can be in the right place. The analysis uses 1,000 hourly records over 45 days, with 13 variables per record.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1 holds the date, calendar and weather type. Dataset 2 holds temperature, humidity and rider counts. They were matched on the serial number to make Dataset A. Dataset 3 (390 rows) was then appended to give Dataset B, with 1,000 rows. Everything after this slide uses Dataset B.</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variables fall into four groups: date and time, calendar, weather, and rider counts. Weather measurements are stored on a 0 to 1 scale, so a temperature of 0.25 is a relative value, not degrees Celsius.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rentals across the 1,000 hours were 58,304, an average of 58.3 per hour. The busiest single hour was 8 AM on 20 January with 249 rentals. Registered riders made 53,383 of the rentals and casual riders 4,921.</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 is low overnight, climbs sharply from 6 AM to a first peak at 8 AM, stays steady through the afternoon and peaks again at 5 PM. The two orange bars are the commuting peaks.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Afternoon is the biggest block of the day with 23,308 rentals, about 40% of the total. Night is tiny at 1,841. Casual riders behave differently from registered riders: their rentals peak around midday and the early afternoon, while registered riders follow the commute.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Thursday, Tuesday and Friday are the strongest days. Saturday and Sunday, shown in yellow, are noticeably lower. I used the average per hour rather than totals, because the dataset has different numbers of recorded hours for each weekday.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cell is the average number of rentals for that weekday and hour. Monday to Friday show two dark bands at 8 AM and 5 to 6 PM, which is commuting. Saturday and Sunday have no sharp peaks, just a broad plateau from about 11 AM to 4 PM.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 weather averages 61.7 rentals an hour and light rain 58.6, so light rain hardly matters. Heavy rain drops to 33.2. The thunderstorm bar is based on one single hour, so I would not draw conclusions from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Grouping the hours into bands shows the direction clearly. Hours in the warmest band average about 73 rentals against about 50 in the coolest. Dry hours average 83 against about 43 when humidity is above 0.8. The correlations are modest, and the data only covers January and early February, so the temperature range is narrow.</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February looks busier per hour than January, but it only covers two weeks, and the early weeks of the year are all winter. Holiday hours average 41.7 against 58.7 on other days, but there is only one holiday in the sample, 17 January.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uses the Forecast Sheet feature in Excel on the daily average rentals per hour. The forecast is a gentle rise from about 61 to 64. The grey lines show the confidence range, which widens to roughly 32 to 96 by 26 February. That width is a reminder that 45 days is a short history.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 hour, I took the average and standard deviation of that hour of the day, and flagged any record more than two standard deviations away. That gave 36 unusually high and 6 unusually low hours. The strongest flag is 4 AM on 5 February, but with only 8 rentals; the Sunday 6 February afternoon is a more meaningful spike.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management-facing layer of the workbook. The top row has KPI cards. Slicers and a date timeline let anyone filter the charts. A second section further down the sheet holds the forecast and the anomaly chart. The diagram is a simplified layout of the real sheet.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to remember. Demand follows commute times. Registered riders are the core. Weekdays are busier. Heavy rain is the weather that really hurts. And dry, warmer hours are busier.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actions that follow directly from the findings: be ready before the peaks, use the weather forecast, target casual riders at midday, and keep the forecast and anomaly checks updated.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the main patterns, the dashboard that shows them, and the honest limits. The data is short and from winter only, so the next step would be a full year of data to confirm seasonality.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the main patterns, the dashboard that shows them, and the honest limits. The data is short and from winter only, so the next step would be a full year of data to confirm seasonality.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5539866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A4A47"/>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143000"/>
            <a:ext cx="5120640" cy="192024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3" name="Text 0"/>
          <p:cNvSpPr/>
          <p:nvPr/>
        </p:nvSpPr>
        <p:spPr>
          <a:xfrm>
            <a:off x="457200" y="4828032"/>
            <a:ext cx="3657600" cy="228600"/>
          </a:xfrm>
          <a:prstGeom prst="rect">
            <a:avLst/>
          </a:prstGeom>
          <a:noFill/>
          <a:ln/>
        </p:spPr>
        <p:txBody>
          <a:bodyPr wrap="square" lIns="0" tIns="0" rIns="0" bIns="0" rtlCol="0" anchor="ctr"/>
          <a:lstStyle/>
          <a:p>
            <a:pPr marL="0" indent="0">
              <a:buNone/>
            </a:pPr>
            <a:r>
              <a:rPr lang="en-US" sz="1000" dirty="0">
                <a:solidFill>
                  <a:srgbClr val="6B7B79"/>
                </a:solidFill>
              </a:rPr>
              <a:t>Bike Rental Demand Analysis</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B79"/>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rgbClr val="0A4A47"/>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59436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B79"/>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https://www.pexels.com/search/abstract%20background/"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hyperlink" Target="https://www.rawpixel.com/search/plain%20background"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hyperlink" Target="https://www.rawpixel.com/search/plain%20background"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hyperlink" Target="https://www.rawpixel.com/search/plain%20background" TargetMode="Externa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hyperlink" Target="https://www.rawpixel.com/search/plain%20background"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chart" Target="../charts/chart1.xml"/><Relationship Id="rId4" Type="http://schemas.openxmlformats.org/officeDocument/2006/relationships/hyperlink" Target="https://www.rawpixel.com/search/plain%20background"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chart" Target="../charts/chart2.xml"/><Relationship Id="rId4" Type="http://schemas.openxmlformats.org/officeDocument/2006/relationships/hyperlink" Target="https://www.rawpixel.com/search/plain%20background"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hyperlink" Target="https://www.rawpixel.com/search/plain%20background"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chart" Target="../charts/chart5.xml"/><Relationship Id="rId4" Type="http://schemas.openxmlformats.org/officeDocument/2006/relationships/hyperlink" Target="https://www.rawpixel.com/search/plain%20background"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hyperlink" Target="https://www.rawpixel.com/search/plain%20background"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chart" Target="../charts/chart6.xml"/><Relationship Id="rId4" Type="http://schemas.openxmlformats.org/officeDocument/2006/relationships/hyperlink" Target="https://www.rawpixel.com/search/plain%20background"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chart" Target="../charts/chart8.xml"/><Relationship Id="rId5" Type="http://schemas.openxmlformats.org/officeDocument/2006/relationships/chart" Target="../charts/chart7.xml"/><Relationship Id="rId4" Type="http://schemas.openxmlformats.org/officeDocument/2006/relationships/hyperlink" Target="https://www.rawpixel.com/search/plain%20background"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chart" Target="../charts/chart10.xml"/><Relationship Id="rId5" Type="http://schemas.openxmlformats.org/officeDocument/2006/relationships/chart" Target="../charts/chart9.xml"/><Relationship Id="rId4" Type="http://schemas.openxmlformats.org/officeDocument/2006/relationships/hyperlink" Target="https://www.rawpixel.com/search/plain%20background"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chart" Target="../charts/chart11.xml"/><Relationship Id="rId4" Type="http://schemas.openxmlformats.org/officeDocument/2006/relationships/hyperlink" Target="https://www.rawpixel.com/search/plain%20background"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chart" Target="../charts/chart13.xml"/><Relationship Id="rId5" Type="http://schemas.openxmlformats.org/officeDocument/2006/relationships/chart" Target="../charts/chart12.xml"/><Relationship Id="rId4" Type="http://schemas.openxmlformats.org/officeDocument/2006/relationships/hyperlink" Target="https://www.rawpixel.com/search/plain%20background"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hyperlink" Target="https://www.rawpixel.com/search/plain%20background" TargetMode="External"/></Relationships>
</file>

<file path=ppt/slides/_rels/slide1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hyperlink" Target="https://www.rawpixel.com/search/plain%20background" TargetMode="External"/><Relationship Id="rId9" Type="http://schemas.openxmlformats.org/officeDocument/2006/relationships/image" Target="../media/image13.png"/></Relationships>
</file>

<file path=ppt/slides/_rels/slide1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3.png"/><Relationship Id="rId7"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2.png"/><Relationship Id="rId4" Type="http://schemas.openxmlformats.org/officeDocument/2006/relationships/hyperlink" Target="https://www.rawpixel.com/search/plain%20background"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hyperlink" Target="https://www.rawpixel.com/search/plain%20background"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hyperlink" Target="https://www.pexels.com/search/abstract%20background/"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4B561296-CCE1-FBC9-4CA9-27925777E80D}"/>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0" y="7620"/>
            <a:ext cx="9296399" cy="5288280"/>
          </a:xfrm>
          <a:prstGeom prst="rect">
            <a:avLst/>
          </a:prstGeom>
        </p:spPr>
      </p:pic>
      <p:sp>
        <p:nvSpPr>
          <p:cNvPr id="2" name="Text 0"/>
          <p:cNvSpPr txBox="1"/>
          <p:nvPr/>
        </p:nvSpPr>
        <p:spPr>
          <a:xfrm>
            <a:off x="548640" y="640080"/>
            <a:ext cx="5303520" cy="320040"/>
          </a:xfrm>
          <a:prstGeom prst="rect">
            <a:avLst/>
          </a:prstGeom>
          <a:noFill/>
          <a:ln/>
        </p:spPr>
        <p:txBody>
          <a:bodyPr wrap="square" lIns="0" tIns="0" rIns="0" bIns="0" rtlCol="0" anchor="ctr"/>
          <a:lstStyle/>
          <a:p>
            <a:pPr marL="0" indent="0">
              <a:buNone/>
            </a:pPr>
            <a:endParaRPr lang="en-US" sz="1200" dirty="0"/>
          </a:p>
        </p:txBody>
      </p:sp>
      <p:sp>
        <p:nvSpPr>
          <p:cNvPr id="3" name="Text 0"/>
          <p:cNvSpPr>
            <a:spLocks noGrp="1"/>
          </p:cNvSpPr>
          <p:nvPr>
            <p:ph type="title" idx="100" hasCustomPrompt="1"/>
          </p:nvPr>
        </p:nvSpPr>
        <p:spPr>
          <a:xfrm>
            <a:off x="548640" y="449580"/>
            <a:ext cx="5775960" cy="647700"/>
          </a:xfrm>
          <a:prstGeom prst="rect">
            <a:avLst/>
          </a:prstGeom>
          <a:noFill/>
          <a:ln/>
        </p:spPr>
        <p:txBody>
          <a:bodyPr wrap="square" lIns="0" tIns="0" rIns="0" bIns="0" rtlCol="0" anchor="t"/>
          <a:lstStyle/>
          <a:p>
            <a:r>
              <a:rPr lang="en-US" sz="3600" b="1" dirty="0">
                <a:solidFill>
                  <a:schemeClr val="tx1"/>
                </a:solidFill>
              </a:rPr>
              <a:t>Bike Rental Demand Analysis</a:t>
            </a:r>
            <a:br>
              <a:rPr lang="en-US" sz="3600" b="1" dirty="0">
                <a:solidFill>
                  <a:schemeClr val="bg1"/>
                </a:solidFill>
              </a:rPr>
            </a:br>
            <a:br>
              <a:rPr lang="en-US" sz="3600" b="1" dirty="0">
                <a:solidFill>
                  <a:schemeClr val="bg1"/>
                </a:solidFill>
              </a:rPr>
            </a:br>
            <a:r>
              <a:rPr lang="en-US" sz="2000" b="1" dirty="0">
                <a:solidFill>
                  <a:schemeClr val="tx1"/>
                </a:solidFill>
              </a:rPr>
              <a:t>NextHikes IT Solutions</a:t>
            </a:r>
            <a:br>
              <a:rPr lang="en-US" sz="3600" dirty="0"/>
            </a:br>
            <a:endParaRPr lang="en-US" sz="3600" dirty="0"/>
          </a:p>
        </p:txBody>
      </p:sp>
      <p:sp>
        <p:nvSpPr>
          <p:cNvPr id="5" name="Text 3"/>
          <p:cNvSpPr txBox="1"/>
          <p:nvPr/>
        </p:nvSpPr>
        <p:spPr>
          <a:xfrm>
            <a:off x="548640" y="4114800"/>
            <a:ext cx="5120640" cy="320040"/>
          </a:xfrm>
          <a:prstGeom prst="rect">
            <a:avLst/>
          </a:prstGeom>
          <a:noFill/>
          <a:ln/>
        </p:spPr>
        <p:txBody>
          <a:bodyPr wrap="square" lIns="0" tIns="0" rIns="0" bIns="0" rtlCol="0" anchor="ctr"/>
          <a:lstStyle/>
          <a:p>
            <a:pPr marL="0" indent="0">
              <a:buNone/>
            </a:pPr>
            <a:r>
              <a:rPr lang="en-US" sz="1400" b="1" dirty="0">
                <a:solidFill>
                  <a:schemeClr val="bg1"/>
                </a:solidFill>
              </a:rPr>
              <a:t>Presented by Anushri Thakur</a:t>
            </a:r>
            <a:endParaRPr lang="en-US" sz="1400" dirty="0">
              <a:solidFill>
                <a:schemeClr val="bg1"/>
              </a:solidFill>
            </a:endParaRPr>
          </a:p>
        </p:txBody>
      </p:sp>
      <p:sp>
        <p:nvSpPr>
          <p:cNvPr id="6" name="hero circle"/>
          <p:cNvSpPr/>
          <p:nvPr/>
        </p:nvSpPr>
        <p:spPr>
          <a:xfrm>
            <a:off x="5943600" y="822960"/>
            <a:ext cx="2926080" cy="2926080"/>
          </a:xfrm>
          <a:prstGeom prst="ellipse">
            <a:avLst/>
          </a:prstGeom>
          <a:solidFill>
            <a:schemeClr val="accent1"/>
          </a:solidFill>
          <a:ln w="12700">
            <a:solidFill>
              <a:schemeClr val="accent1"/>
            </a:solidFill>
            <a:prstDash val="solid"/>
          </a:ln>
        </p:spPr>
      </p:sp>
      <p:sp>
        <p:nvSpPr>
          <p:cNvPr id="7" name="hero circle coral"/>
          <p:cNvSpPr/>
          <p:nvPr/>
        </p:nvSpPr>
        <p:spPr>
          <a:xfrm>
            <a:off x="5577840" y="3200400"/>
            <a:ext cx="1188720" cy="1188720"/>
          </a:xfrm>
          <a:prstGeom prst="ellipse">
            <a:avLst/>
          </a:prstGeom>
          <a:solidFill>
            <a:schemeClr val="accent2"/>
          </a:solidFill>
          <a:ln w="12700">
            <a:solidFill>
              <a:schemeClr val="accent2"/>
            </a:solidFill>
            <a:prstDash val="solid"/>
          </a:ln>
        </p:spPr>
      </p:sp>
      <p:sp>
        <p:nvSpPr>
          <p:cNvPr id="8" name="hero circle amber"/>
          <p:cNvSpPr/>
          <p:nvPr/>
        </p:nvSpPr>
        <p:spPr>
          <a:xfrm>
            <a:off x="8229600" y="3840480"/>
            <a:ext cx="548640" cy="548640"/>
          </a:xfrm>
          <a:prstGeom prst="ellipse">
            <a:avLst/>
          </a:prstGeom>
          <a:solidFill>
            <a:schemeClr val="accent3"/>
          </a:solidFill>
          <a:ln w="12700">
            <a:solidFill>
              <a:schemeClr val="accent3"/>
            </a:solidFill>
            <a:prstDash val="solid"/>
          </a:ln>
        </p:spPr>
      </p:sp>
      <p:pic>
        <p:nvPicPr>
          <p:cNvPr id="9" name="hero icon" descr="Bicycle icon"/>
          <p:cNvPicPr>
            <a:picLocks noChangeAspect="1"/>
          </p:cNvPicPr>
          <p:nvPr/>
        </p:nvPicPr>
        <p:blipFill>
          <a:blip r:embed="rId5"/>
          <a:stretch>
            <a:fillRect/>
          </a:stretch>
        </p:blipFill>
        <p:spPr>
          <a:xfrm>
            <a:off x="6583680" y="1463040"/>
            <a:ext cx="1645920" cy="1645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42" name="Picture 41">
            <a:extLst>
              <a:ext uri="{FF2B5EF4-FFF2-40B4-BE49-F238E27FC236}">
                <a16:creationId xmlns:a16="http://schemas.microsoft.com/office/drawing/2014/main" id="{0F028487-4BF2-A3B6-E36D-39CBA694A769}"/>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0" y="7620"/>
            <a:ext cx="9143999" cy="5143500"/>
          </a:xfrm>
          <a:prstGeom prst="rect">
            <a:avLst/>
          </a:prstGeom>
        </p:spPr>
      </p:pic>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3000" b="1" dirty="0">
                <a:solidFill>
                  <a:schemeClr val="tx2"/>
                </a:solidFill>
              </a:rPr>
              <a:t>What this presentation covers</a:t>
            </a:r>
            <a:endParaRPr lang="en-US" sz="3000" dirty="0"/>
          </a:p>
        </p:txBody>
      </p:sp>
      <p:sp>
        <p:nvSpPr>
          <p:cNvPr id="3" name="agenda card 1"/>
          <p:cNvSpPr/>
          <p:nvPr/>
        </p:nvSpPr>
        <p:spPr>
          <a:xfrm>
            <a:off x="457200" y="1234440"/>
            <a:ext cx="2560320" cy="1463040"/>
          </a:xfrm>
          <a:prstGeom prst="roundRect">
            <a:avLst>
              <a:gd name="adj" fmla="val 5000"/>
            </a:avLst>
          </a:prstGeom>
          <a:solidFill>
            <a:schemeClr val="bg2"/>
          </a:solidFill>
          <a:ln w="12700">
            <a:solidFill>
              <a:schemeClr val="bg2"/>
            </a:solidFill>
            <a:prstDash val="solid"/>
          </a:ln>
        </p:spPr>
      </p:sp>
      <p:sp>
        <p:nvSpPr>
          <p:cNvPr id="4" name="number bg 1"/>
          <p:cNvSpPr/>
          <p:nvPr/>
        </p:nvSpPr>
        <p:spPr>
          <a:xfrm>
            <a:off x="640080" y="1417320"/>
            <a:ext cx="457200" cy="457200"/>
          </a:xfrm>
          <a:prstGeom prst="ellipse">
            <a:avLst/>
          </a:prstGeom>
          <a:solidFill>
            <a:schemeClr val="accent1"/>
          </a:solidFill>
          <a:ln w="12700">
            <a:solidFill>
              <a:schemeClr val="bg2"/>
            </a:solidFill>
            <a:prstDash val="solid"/>
          </a:ln>
        </p:spPr>
      </p:sp>
      <p:sp>
        <p:nvSpPr>
          <p:cNvPr id="5" name="Text 3"/>
          <p:cNvSpPr txBox="1"/>
          <p:nvPr/>
        </p:nvSpPr>
        <p:spPr>
          <a:xfrm>
            <a:off x="640080" y="14173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Text 4"/>
          <p:cNvSpPr txBox="1"/>
          <p:nvPr/>
        </p:nvSpPr>
        <p:spPr>
          <a:xfrm>
            <a:off x="640080" y="1947672"/>
            <a:ext cx="2194560" cy="320040"/>
          </a:xfrm>
          <a:prstGeom prst="rect">
            <a:avLst/>
          </a:prstGeom>
          <a:noFill/>
          <a:ln/>
        </p:spPr>
        <p:txBody>
          <a:bodyPr wrap="square" lIns="0" tIns="0" rIns="0" bIns="0" rtlCol="0" anchor="ctr"/>
          <a:lstStyle/>
          <a:p>
            <a:pPr marL="0" indent="0">
              <a:buNone/>
            </a:pPr>
            <a:r>
              <a:rPr lang="en-US" sz="1600" b="1" dirty="0">
                <a:solidFill>
                  <a:schemeClr val="tx2"/>
                </a:solidFill>
              </a:rPr>
              <a:t>Objective and data</a:t>
            </a:r>
            <a:endParaRPr lang="en-US" sz="1600" dirty="0"/>
          </a:p>
        </p:txBody>
      </p:sp>
      <p:sp>
        <p:nvSpPr>
          <p:cNvPr id="7" name="Text 5"/>
          <p:cNvSpPr txBox="1"/>
          <p:nvPr/>
        </p:nvSpPr>
        <p:spPr>
          <a:xfrm>
            <a:off x="640080" y="2267712"/>
            <a:ext cx="2194560" cy="320040"/>
          </a:xfrm>
          <a:prstGeom prst="rect">
            <a:avLst/>
          </a:prstGeom>
          <a:noFill/>
          <a:ln/>
        </p:spPr>
        <p:txBody>
          <a:bodyPr wrap="square" lIns="0" tIns="0" rIns="0" bIns="0" rtlCol="0" anchor="ctr"/>
          <a:lstStyle/>
          <a:p>
            <a:pPr marL="0" indent="0">
              <a:buNone/>
            </a:pPr>
            <a:r>
              <a:rPr lang="en-US" sz="1400" dirty="0">
                <a:solidFill>
                  <a:schemeClr val="tx1"/>
                </a:solidFill>
              </a:rPr>
              <a:t>Goal, sources, cleaning</a:t>
            </a:r>
            <a:endParaRPr lang="en-US" sz="1400" dirty="0"/>
          </a:p>
        </p:txBody>
      </p:sp>
      <p:sp>
        <p:nvSpPr>
          <p:cNvPr id="8" name="agenda card 2"/>
          <p:cNvSpPr/>
          <p:nvPr/>
        </p:nvSpPr>
        <p:spPr>
          <a:xfrm>
            <a:off x="3291840" y="1234440"/>
            <a:ext cx="2560320" cy="1463040"/>
          </a:xfrm>
          <a:prstGeom prst="roundRect">
            <a:avLst>
              <a:gd name="adj" fmla="val 5000"/>
            </a:avLst>
          </a:prstGeom>
          <a:solidFill>
            <a:schemeClr val="bg2"/>
          </a:solidFill>
          <a:ln w="12700">
            <a:solidFill>
              <a:schemeClr val="bg2"/>
            </a:solidFill>
            <a:prstDash val="solid"/>
          </a:ln>
        </p:spPr>
      </p:sp>
      <p:sp>
        <p:nvSpPr>
          <p:cNvPr id="9" name="number bg 2"/>
          <p:cNvSpPr/>
          <p:nvPr/>
        </p:nvSpPr>
        <p:spPr>
          <a:xfrm>
            <a:off x="3474720" y="1417320"/>
            <a:ext cx="457200" cy="457200"/>
          </a:xfrm>
          <a:prstGeom prst="ellipse">
            <a:avLst/>
          </a:prstGeom>
          <a:solidFill>
            <a:schemeClr val="accent2"/>
          </a:solidFill>
          <a:ln w="12700">
            <a:solidFill>
              <a:schemeClr val="bg2"/>
            </a:solidFill>
            <a:prstDash val="solid"/>
          </a:ln>
        </p:spPr>
      </p:sp>
      <p:sp>
        <p:nvSpPr>
          <p:cNvPr id="10" name="Text 8"/>
          <p:cNvSpPr txBox="1"/>
          <p:nvPr/>
        </p:nvSpPr>
        <p:spPr>
          <a:xfrm>
            <a:off x="3474720" y="14173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9"/>
          <p:cNvSpPr txBox="1"/>
          <p:nvPr/>
        </p:nvSpPr>
        <p:spPr>
          <a:xfrm>
            <a:off x="3474720" y="1947672"/>
            <a:ext cx="2194560" cy="320040"/>
          </a:xfrm>
          <a:prstGeom prst="rect">
            <a:avLst/>
          </a:prstGeom>
          <a:noFill/>
          <a:ln/>
        </p:spPr>
        <p:txBody>
          <a:bodyPr wrap="square" lIns="0" tIns="0" rIns="0" bIns="0" rtlCol="0" anchor="ctr"/>
          <a:lstStyle/>
          <a:p>
            <a:pPr marL="0" indent="0">
              <a:buNone/>
            </a:pPr>
            <a:r>
              <a:rPr lang="en-US" sz="1600" b="1" dirty="0">
                <a:solidFill>
                  <a:schemeClr val="tx2"/>
                </a:solidFill>
              </a:rPr>
              <a:t>Dataset overview</a:t>
            </a:r>
            <a:endParaRPr lang="en-US" sz="1600" dirty="0"/>
          </a:p>
        </p:txBody>
      </p:sp>
      <p:sp>
        <p:nvSpPr>
          <p:cNvPr id="12" name="Text 10"/>
          <p:cNvSpPr txBox="1"/>
          <p:nvPr/>
        </p:nvSpPr>
        <p:spPr>
          <a:xfrm>
            <a:off x="3474720" y="2267712"/>
            <a:ext cx="2194560" cy="320040"/>
          </a:xfrm>
          <a:prstGeom prst="rect">
            <a:avLst/>
          </a:prstGeom>
          <a:noFill/>
          <a:ln/>
        </p:spPr>
        <p:txBody>
          <a:bodyPr wrap="square" lIns="0" tIns="0" rIns="0" bIns="0" rtlCol="0" anchor="ctr"/>
          <a:lstStyle/>
          <a:p>
            <a:pPr marL="0" indent="0">
              <a:buNone/>
            </a:pPr>
            <a:r>
              <a:rPr lang="en-US" sz="1400" dirty="0">
                <a:solidFill>
                  <a:schemeClr val="tx1"/>
                </a:solidFill>
              </a:rPr>
              <a:t>Variables and KPIs</a:t>
            </a:r>
            <a:endParaRPr lang="en-US" sz="1400" dirty="0"/>
          </a:p>
        </p:txBody>
      </p:sp>
      <p:sp>
        <p:nvSpPr>
          <p:cNvPr id="13" name="agenda card 3"/>
          <p:cNvSpPr/>
          <p:nvPr/>
        </p:nvSpPr>
        <p:spPr>
          <a:xfrm>
            <a:off x="6126480" y="1234440"/>
            <a:ext cx="2560320" cy="1463040"/>
          </a:xfrm>
          <a:prstGeom prst="roundRect">
            <a:avLst>
              <a:gd name="adj" fmla="val 5000"/>
            </a:avLst>
          </a:prstGeom>
          <a:solidFill>
            <a:schemeClr val="bg2"/>
          </a:solidFill>
          <a:ln w="12700">
            <a:solidFill>
              <a:schemeClr val="bg2"/>
            </a:solidFill>
            <a:prstDash val="solid"/>
          </a:ln>
        </p:spPr>
      </p:sp>
      <p:sp>
        <p:nvSpPr>
          <p:cNvPr id="14" name="number bg 3"/>
          <p:cNvSpPr/>
          <p:nvPr/>
        </p:nvSpPr>
        <p:spPr>
          <a:xfrm>
            <a:off x="6309360" y="1417320"/>
            <a:ext cx="457200" cy="457200"/>
          </a:xfrm>
          <a:prstGeom prst="ellipse">
            <a:avLst/>
          </a:prstGeom>
          <a:solidFill>
            <a:schemeClr val="accent1"/>
          </a:solidFill>
          <a:ln w="12700">
            <a:solidFill>
              <a:schemeClr val="bg2"/>
            </a:solidFill>
            <a:prstDash val="solid"/>
          </a:ln>
        </p:spPr>
      </p:sp>
      <p:sp>
        <p:nvSpPr>
          <p:cNvPr id="15" name="Text 13"/>
          <p:cNvSpPr txBox="1"/>
          <p:nvPr/>
        </p:nvSpPr>
        <p:spPr>
          <a:xfrm>
            <a:off x="6309360" y="14173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6" name="Text 14"/>
          <p:cNvSpPr txBox="1"/>
          <p:nvPr/>
        </p:nvSpPr>
        <p:spPr>
          <a:xfrm>
            <a:off x="6309360" y="1947672"/>
            <a:ext cx="2194560" cy="320040"/>
          </a:xfrm>
          <a:prstGeom prst="rect">
            <a:avLst/>
          </a:prstGeom>
          <a:noFill/>
          <a:ln/>
        </p:spPr>
        <p:txBody>
          <a:bodyPr wrap="square" lIns="0" tIns="0" rIns="0" bIns="0" rtlCol="0" anchor="ctr"/>
          <a:lstStyle/>
          <a:p>
            <a:pPr marL="0" indent="0">
              <a:buNone/>
            </a:pPr>
            <a:r>
              <a:rPr lang="en-US" sz="1600" b="1" dirty="0">
                <a:solidFill>
                  <a:schemeClr val="tx2"/>
                </a:solidFill>
              </a:rPr>
              <a:t>Demand patterns</a:t>
            </a:r>
            <a:endParaRPr lang="en-US" sz="1600" dirty="0"/>
          </a:p>
        </p:txBody>
      </p:sp>
      <p:sp>
        <p:nvSpPr>
          <p:cNvPr id="17" name="Text 15"/>
          <p:cNvSpPr txBox="1"/>
          <p:nvPr/>
        </p:nvSpPr>
        <p:spPr>
          <a:xfrm>
            <a:off x="6309360" y="2267712"/>
            <a:ext cx="2194560" cy="320040"/>
          </a:xfrm>
          <a:prstGeom prst="rect">
            <a:avLst/>
          </a:prstGeom>
          <a:noFill/>
          <a:ln/>
        </p:spPr>
        <p:txBody>
          <a:bodyPr wrap="square" lIns="0" tIns="0" rIns="0" bIns="0" rtlCol="0" anchor="ctr"/>
          <a:lstStyle/>
          <a:p>
            <a:pPr marL="0" indent="0">
              <a:buNone/>
            </a:pPr>
            <a:r>
              <a:rPr lang="en-US" sz="1400" dirty="0">
                <a:solidFill>
                  <a:schemeClr val="tx1"/>
                </a:solidFill>
              </a:rPr>
              <a:t>Hour, weekday, time of day</a:t>
            </a:r>
            <a:endParaRPr lang="en-US" sz="1400" dirty="0"/>
          </a:p>
        </p:txBody>
      </p:sp>
      <p:sp>
        <p:nvSpPr>
          <p:cNvPr id="18" name="agenda card 4"/>
          <p:cNvSpPr/>
          <p:nvPr/>
        </p:nvSpPr>
        <p:spPr>
          <a:xfrm>
            <a:off x="457200" y="2926080"/>
            <a:ext cx="2560320" cy="1463040"/>
          </a:xfrm>
          <a:prstGeom prst="roundRect">
            <a:avLst>
              <a:gd name="adj" fmla="val 5000"/>
            </a:avLst>
          </a:prstGeom>
          <a:solidFill>
            <a:schemeClr val="bg2"/>
          </a:solidFill>
          <a:ln w="12700">
            <a:solidFill>
              <a:schemeClr val="bg2"/>
            </a:solidFill>
            <a:prstDash val="solid"/>
          </a:ln>
        </p:spPr>
      </p:sp>
      <p:sp>
        <p:nvSpPr>
          <p:cNvPr id="19" name="number bg 4"/>
          <p:cNvSpPr/>
          <p:nvPr/>
        </p:nvSpPr>
        <p:spPr>
          <a:xfrm>
            <a:off x="640080" y="3108960"/>
            <a:ext cx="457200" cy="457200"/>
          </a:xfrm>
          <a:prstGeom prst="ellipse">
            <a:avLst/>
          </a:prstGeom>
          <a:solidFill>
            <a:schemeClr val="accent2"/>
          </a:solidFill>
          <a:ln w="12700">
            <a:solidFill>
              <a:schemeClr val="bg2"/>
            </a:solidFill>
            <a:prstDash val="solid"/>
          </a:ln>
        </p:spPr>
      </p:sp>
      <p:sp>
        <p:nvSpPr>
          <p:cNvPr id="20" name="Text 18"/>
          <p:cNvSpPr txBox="1"/>
          <p:nvPr/>
        </p:nvSpPr>
        <p:spPr>
          <a:xfrm>
            <a:off x="640080" y="310896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1" name="Text 19"/>
          <p:cNvSpPr txBox="1"/>
          <p:nvPr/>
        </p:nvSpPr>
        <p:spPr>
          <a:xfrm>
            <a:off x="640080" y="3639312"/>
            <a:ext cx="2194560" cy="320040"/>
          </a:xfrm>
          <a:prstGeom prst="rect">
            <a:avLst/>
          </a:prstGeom>
          <a:noFill/>
          <a:ln/>
        </p:spPr>
        <p:txBody>
          <a:bodyPr wrap="square" lIns="0" tIns="0" rIns="0" bIns="0" rtlCol="0" anchor="ctr"/>
          <a:lstStyle/>
          <a:p>
            <a:pPr marL="0" indent="0">
              <a:buNone/>
            </a:pPr>
            <a:r>
              <a:rPr lang="en-US" sz="1600" b="1" dirty="0">
                <a:solidFill>
                  <a:schemeClr val="tx2"/>
                </a:solidFill>
              </a:rPr>
              <a:t>Weather impact</a:t>
            </a:r>
            <a:endParaRPr lang="en-US" sz="1600" dirty="0"/>
          </a:p>
        </p:txBody>
      </p:sp>
      <p:sp>
        <p:nvSpPr>
          <p:cNvPr id="22" name="Text 20"/>
          <p:cNvSpPr txBox="1"/>
          <p:nvPr/>
        </p:nvSpPr>
        <p:spPr>
          <a:xfrm>
            <a:off x="640080" y="3959352"/>
            <a:ext cx="2194560" cy="320040"/>
          </a:xfrm>
          <a:prstGeom prst="rect">
            <a:avLst/>
          </a:prstGeom>
          <a:noFill/>
          <a:ln/>
        </p:spPr>
        <p:txBody>
          <a:bodyPr wrap="square" lIns="0" tIns="0" rIns="0" bIns="0" rtlCol="0" anchor="ctr"/>
          <a:lstStyle/>
          <a:p>
            <a:pPr marL="0" indent="0">
              <a:buNone/>
            </a:pPr>
            <a:r>
              <a:rPr lang="en-US" sz="1400" dirty="0">
                <a:solidFill>
                  <a:schemeClr val="tx1"/>
                </a:solidFill>
              </a:rPr>
              <a:t>Rain, temperature, humidity</a:t>
            </a:r>
            <a:endParaRPr lang="en-US" sz="1400" dirty="0"/>
          </a:p>
        </p:txBody>
      </p:sp>
      <p:sp>
        <p:nvSpPr>
          <p:cNvPr id="23" name="agenda card 5"/>
          <p:cNvSpPr/>
          <p:nvPr/>
        </p:nvSpPr>
        <p:spPr>
          <a:xfrm>
            <a:off x="3291840" y="2926080"/>
            <a:ext cx="2560320" cy="1463040"/>
          </a:xfrm>
          <a:prstGeom prst="roundRect">
            <a:avLst>
              <a:gd name="adj" fmla="val 5000"/>
            </a:avLst>
          </a:prstGeom>
          <a:solidFill>
            <a:schemeClr val="bg2"/>
          </a:solidFill>
          <a:ln w="12700">
            <a:solidFill>
              <a:schemeClr val="bg2"/>
            </a:solidFill>
            <a:prstDash val="solid"/>
          </a:ln>
        </p:spPr>
      </p:sp>
      <p:sp>
        <p:nvSpPr>
          <p:cNvPr id="24" name="number bg 5"/>
          <p:cNvSpPr/>
          <p:nvPr/>
        </p:nvSpPr>
        <p:spPr>
          <a:xfrm>
            <a:off x="3474720" y="3108960"/>
            <a:ext cx="457200" cy="457200"/>
          </a:xfrm>
          <a:prstGeom prst="ellipse">
            <a:avLst/>
          </a:prstGeom>
          <a:solidFill>
            <a:schemeClr val="accent1"/>
          </a:solidFill>
          <a:ln w="12700">
            <a:solidFill>
              <a:schemeClr val="bg2"/>
            </a:solidFill>
            <a:prstDash val="solid"/>
          </a:ln>
        </p:spPr>
      </p:sp>
      <p:sp>
        <p:nvSpPr>
          <p:cNvPr id="25" name="Text 23"/>
          <p:cNvSpPr txBox="1"/>
          <p:nvPr/>
        </p:nvSpPr>
        <p:spPr>
          <a:xfrm>
            <a:off x="3474720" y="310896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6" name="Text 24"/>
          <p:cNvSpPr txBox="1"/>
          <p:nvPr/>
        </p:nvSpPr>
        <p:spPr>
          <a:xfrm>
            <a:off x="3474720" y="3639312"/>
            <a:ext cx="2194560" cy="320040"/>
          </a:xfrm>
          <a:prstGeom prst="rect">
            <a:avLst/>
          </a:prstGeom>
          <a:noFill/>
          <a:ln/>
        </p:spPr>
        <p:txBody>
          <a:bodyPr wrap="square" lIns="0" tIns="0" rIns="0" bIns="0" rtlCol="0" anchor="ctr"/>
          <a:lstStyle/>
          <a:p>
            <a:pPr marL="0" indent="0">
              <a:buNone/>
            </a:pPr>
            <a:r>
              <a:rPr lang="en-US" sz="1600" b="1" dirty="0">
                <a:solidFill>
                  <a:schemeClr val="tx2"/>
                </a:solidFill>
              </a:rPr>
              <a:t>Forecast and anomalies</a:t>
            </a:r>
            <a:endParaRPr lang="en-US" sz="1600" dirty="0"/>
          </a:p>
        </p:txBody>
      </p:sp>
      <p:sp>
        <p:nvSpPr>
          <p:cNvPr id="27" name="Text 25"/>
          <p:cNvSpPr txBox="1"/>
          <p:nvPr/>
        </p:nvSpPr>
        <p:spPr>
          <a:xfrm>
            <a:off x="3474720" y="3959352"/>
            <a:ext cx="2194560" cy="320040"/>
          </a:xfrm>
          <a:prstGeom prst="rect">
            <a:avLst/>
          </a:prstGeom>
          <a:noFill/>
          <a:ln/>
        </p:spPr>
        <p:txBody>
          <a:bodyPr wrap="square" lIns="0" tIns="0" rIns="0" bIns="0" rtlCol="0" anchor="ctr"/>
          <a:lstStyle/>
          <a:p>
            <a:pPr marL="0" indent="0">
              <a:buNone/>
            </a:pPr>
            <a:r>
              <a:rPr lang="en-US" sz="1400" dirty="0">
                <a:solidFill>
                  <a:schemeClr val="tx1"/>
                </a:solidFill>
              </a:rPr>
              <a:t>Next 12 days, unusual hours</a:t>
            </a:r>
            <a:endParaRPr lang="en-US" sz="1400" dirty="0"/>
          </a:p>
        </p:txBody>
      </p:sp>
      <p:sp>
        <p:nvSpPr>
          <p:cNvPr id="28" name="agenda card 6"/>
          <p:cNvSpPr/>
          <p:nvPr/>
        </p:nvSpPr>
        <p:spPr>
          <a:xfrm>
            <a:off x="6126480" y="2926080"/>
            <a:ext cx="2560320" cy="1463040"/>
          </a:xfrm>
          <a:prstGeom prst="roundRect">
            <a:avLst>
              <a:gd name="adj" fmla="val 5000"/>
            </a:avLst>
          </a:prstGeom>
          <a:solidFill>
            <a:schemeClr val="bg2"/>
          </a:solidFill>
          <a:ln w="12700">
            <a:solidFill>
              <a:schemeClr val="bg2"/>
            </a:solidFill>
            <a:prstDash val="solid"/>
          </a:ln>
        </p:spPr>
      </p:sp>
      <p:sp>
        <p:nvSpPr>
          <p:cNvPr id="29" name="number bg 6"/>
          <p:cNvSpPr/>
          <p:nvPr/>
        </p:nvSpPr>
        <p:spPr>
          <a:xfrm>
            <a:off x="6309360" y="3108960"/>
            <a:ext cx="457200" cy="457200"/>
          </a:xfrm>
          <a:prstGeom prst="ellipse">
            <a:avLst/>
          </a:prstGeom>
          <a:solidFill>
            <a:schemeClr val="accent2"/>
          </a:solidFill>
          <a:ln w="12700">
            <a:solidFill>
              <a:schemeClr val="bg2"/>
            </a:solidFill>
            <a:prstDash val="solid"/>
          </a:ln>
        </p:spPr>
      </p:sp>
      <p:sp>
        <p:nvSpPr>
          <p:cNvPr id="30" name="Text 28"/>
          <p:cNvSpPr txBox="1"/>
          <p:nvPr/>
        </p:nvSpPr>
        <p:spPr>
          <a:xfrm>
            <a:off x="6309360" y="310896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31" name="Text 29"/>
          <p:cNvSpPr txBox="1"/>
          <p:nvPr/>
        </p:nvSpPr>
        <p:spPr>
          <a:xfrm>
            <a:off x="6309360" y="3639312"/>
            <a:ext cx="2194560" cy="320040"/>
          </a:xfrm>
          <a:prstGeom prst="rect">
            <a:avLst/>
          </a:prstGeom>
          <a:noFill/>
          <a:ln/>
        </p:spPr>
        <p:txBody>
          <a:bodyPr wrap="square" lIns="0" tIns="0" rIns="0" bIns="0" rtlCol="0" anchor="ctr"/>
          <a:lstStyle/>
          <a:p>
            <a:pPr marL="0" indent="0">
              <a:buNone/>
            </a:pPr>
            <a:r>
              <a:rPr lang="en-US" sz="1600" b="1" dirty="0">
                <a:solidFill>
                  <a:schemeClr val="tx2"/>
                </a:solidFill>
              </a:rPr>
              <a:t>Dashboard and actions</a:t>
            </a:r>
            <a:endParaRPr lang="en-US" sz="1600" dirty="0"/>
          </a:p>
        </p:txBody>
      </p:sp>
      <p:sp>
        <p:nvSpPr>
          <p:cNvPr id="32" name="Text 30"/>
          <p:cNvSpPr txBox="1"/>
          <p:nvPr/>
        </p:nvSpPr>
        <p:spPr>
          <a:xfrm>
            <a:off x="6309360" y="3959352"/>
            <a:ext cx="2194560" cy="320040"/>
          </a:xfrm>
          <a:prstGeom prst="rect">
            <a:avLst/>
          </a:prstGeom>
          <a:noFill/>
          <a:ln/>
        </p:spPr>
        <p:txBody>
          <a:bodyPr wrap="square" lIns="0" tIns="0" rIns="0" bIns="0" rtlCol="0" anchor="ctr"/>
          <a:lstStyle/>
          <a:p>
            <a:pPr marL="0" indent="0">
              <a:buNone/>
            </a:pPr>
            <a:r>
              <a:rPr lang="en-US" sz="1400" dirty="0">
                <a:solidFill>
                  <a:schemeClr val="tx1"/>
                </a:solidFill>
              </a:rPr>
              <a:t>Findings, next steps</a:t>
            </a:r>
            <a:endParaRPr lang="en-US" sz="1400" dirty="0"/>
          </a:p>
        </p:txBody>
      </p:sp>
      <p:sp>
        <p:nvSpPr>
          <p:cNvPr id="33"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B79"/>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87D511B7-2447-A57C-17B6-D92497AC2E39}"/>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7620" y="0"/>
            <a:ext cx="9143999" cy="5143500"/>
          </a:xfrm>
          <a:prstGeom prst="rect">
            <a:avLst/>
          </a:prstGeom>
        </p:spPr>
      </p:pic>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3000" b="1" dirty="0">
                <a:solidFill>
                  <a:schemeClr val="tx2"/>
                </a:solidFill>
              </a:rPr>
              <a:t>Project objective</a:t>
            </a:r>
            <a:endParaRPr lang="en-US" sz="3000" dirty="0"/>
          </a:p>
        </p:txBody>
      </p:sp>
      <p:sp>
        <p:nvSpPr>
          <p:cNvPr id="3" name="takeaway"/>
          <p:cNvSpPr txBox="1"/>
          <p:nvPr/>
        </p:nvSpPr>
        <p:spPr>
          <a:xfrm>
            <a:off x="457200" y="896112"/>
            <a:ext cx="8229600" cy="365760"/>
          </a:xfrm>
          <a:prstGeom prst="rect">
            <a:avLst/>
          </a:prstGeom>
          <a:noFill/>
          <a:ln/>
        </p:spPr>
        <p:txBody>
          <a:bodyPr wrap="square" lIns="0" tIns="0" rIns="0" bIns="0" rtlCol="0" anchor="ctr"/>
          <a:lstStyle/>
          <a:p>
            <a:pPr marL="0" indent="0">
              <a:buNone/>
            </a:pPr>
            <a:r>
              <a:rPr lang="en-US" sz="1400" dirty="0">
                <a:solidFill>
                  <a:schemeClr val="tx1"/>
                </a:solidFill>
              </a:rPr>
              <a:t>Turn hourly rental records into decisions about bike availability.</a:t>
            </a:r>
            <a:endParaRPr lang="en-US" sz="1400" dirty="0"/>
          </a:p>
        </p:txBody>
      </p:sp>
      <p:sp>
        <p:nvSpPr>
          <p:cNvPr id="4" name="icon bg Find when demand peaks during the day and week"/>
          <p:cNvSpPr/>
          <p:nvPr/>
        </p:nvSpPr>
        <p:spPr>
          <a:xfrm>
            <a:off x="457200" y="1508760"/>
            <a:ext cx="548640" cy="548640"/>
          </a:xfrm>
          <a:prstGeom prst="ellipse">
            <a:avLst/>
          </a:prstGeom>
          <a:solidFill>
            <a:srgbClr val="0E7C7B"/>
          </a:solidFill>
          <a:ln w="12700">
            <a:solidFill>
              <a:srgbClr val="0E7C7B"/>
            </a:solidFill>
            <a:prstDash val="solid"/>
          </a:ln>
        </p:spPr>
      </p:sp>
      <p:pic>
        <p:nvPicPr>
          <p:cNvPr id="5" name="icon Find when demand peaks during the day and week" descr="Find when demand peaks during the day and week"/>
          <p:cNvPicPr>
            <a:picLocks noChangeAspect="1"/>
          </p:cNvPicPr>
          <p:nvPr/>
        </p:nvPicPr>
        <p:blipFill>
          <a:blip r:embed="rId5"/>
          <a:stretch>
            <a:fillRect/>
          </a:stretch>
        </p:blipFill>
        <p:spPr>
          <a:xfrm>
            <a:off x="594360" y="1645920"/>
            <a:ext cx="274320" cy="274320"/>
          </a:xfrm>
          <a:prstGeom prst="rect">
            <a:avLst/>
          </a:prstGeom>
        </p:spPr>
      </p:pic>
      <p:sp>
        <p:nvSpPr>
          <p:cNvPr id="6" name="Text 3"/>
          <p:cNvSpPr txBox="1"/>
          <p:nvPr/>
        </p:nvSpPr>
        <p:spPr>
          <a:xfrm>
            <a:off x="1188720" y="1508760"/>
            <a:ext cx="4206240" cy="548640"/>
          </a:xfrm>
          <a:prstGeom prst="rect">
            <a:avLst/>
          </a:prstGeom>
          <a:noFill/>
          <a:ln/>
        </p:spPr>
        <p:txBody>
          <a:bodyPr wrap="square" lIns="0" tIns="0" rIns="0" bIns="0" rtlCol="0" anchor="ctr"/>
          <a:lstStyle/>
          <a:p>
            <a:pPr marL="0" indent="0">
              <a:buNone/>
            </a:pPr>
            <a:r>
              <a:rPr lang="en-US" sz="1500" dirty="0">
                <a:solidFill>
                  <a:schemeClr val="tx1"/>
                </a:solidFill>
              </a:rPr>
              <a:t>Find when demand peaks during the day and week</a:t>
            </a:r>
            <a:endParaRPr lang="en-US" sz="1500" dirty="0"/>
          </a:p>
        </p:txBody>
      </p:sp>
      <p:sp>
        <p:nvSpPr>
          <p:cNvPr id="7" name="icon bg Measure how weather, temperature and humidity change demand"/>
          <p:cNvSpPr/>
          <p:nvPr/>
        </p:nvSpPr>
        <p:spPr>
          <a:xfrm>
            <a:off x="457200" y="2286000"/>
            <a:ext cx="548640" cy="548640"/>
          </a:xfrm>
          <a:prstGeom prst="ellipse">
            <a:avLst/>
          </a:prstGeom>
          <a:solidFill>
            <a:srgbClr val="F26B4F"/>
          </a:solidFill>
          <a:ln w="12700">
            <a:solidFill>
              <a:srgbClr val="F26B4F"/>
            </a:solidFill>
            <a:prstDash val="solid"/>
          </a:ln>
        </p:spPr>
      </p:sp>
      <p:pic>
        <p:nvPicPr>
          <p:cNvPr id="8" name="icon Measure how weather, temperature and humidity change demand" descr="Measure how weather, temperature and humidity change demand"/>
          <p:cNvPicPr>
            <a:picLocks noChangeAspect="1"/>
          </p:cNvPicPr>
          <p:nvPr/>
        </p:nvPicPr>
        <p:blipFill>
          <a:blip r:embed="rId6"/>
          <a:stretch>
            <a:fillRect/>
          </a:stretch>
        </p:blipFill>
        <p:spPr>
          <a:xfrm>
            <a:off x="594360" y="2423160"/>
            <a:ext cx="274320" cy="274320"/>
          </a:xfrm>
          <a:prstGeom prst="rect">
            <a:avLst/>
          </a:prstGeom>
        </p:spPr>
      </p:pic>
      <p:sp>
        <p:nvSpPr>
          <p:cNvPr id="9" name="Text 5"/>
          <p:cNvSpPr txBox="1"/>
          <p:nvPr/>
        </p:nvSpPr>
        <p:spPr>
          <a:xfrm>
            <a:off x="1188720" y="2286000"/>
            <a:ext cx="4206240" cy="548640"/>
          </a:xfrm>
          <a:prstGeom prst="rect">
            <a:avLst/>
          </a:prstGeom>
          <a:noFill/>
          <a:ln/>
        </p:spPr>
        <p:txBody>
          <a:bodyPr wrap="square" lIns="0" tIns="0" rIns="0" bIns="0" rtlCol="0" anchor="ctr"/>
          <a:lstStyle/>
          <a:p>
            <a:pPr marL="0" indent="0">
              <a:buNone/>
            </a:pPr>
            <a:r>
              <a:rPr lang="en-US" sz="1500" dirty="0">
                <a:solidFill>
                  <a:schemeClr val="tx1"/>
                </a:solidFill>
              </a:rPr>
              <a:t>Measure how weather, temperature and humidity change demand</a:t>
            </a:r>
            <a:endParaRPr lang="en-US" sz="1500" dirty="0"/>
          </a:p>
        </p:txBody>
      </p:sp>
      <p:sp>
        <p:nvSpPr>
          <p:cNvPr id="10" name="icon bg Forecast short-term demand and flag unusual hours"/>
          <p:cNvSpPr/>
          <p:nvPr/>
        </p:nvSpPr>
        <p:spPr>
          <a:xfrm>
            <a:off x="457200" y="3063240"/>
            <a:ext cx="548640" cy="548640"/>
          </a:xfrm>
          <a:prstGeom prst="ellipse">
            <a:avLst/>
          </a:prstGeom>
          <a:solidFill>
            <a:srgbClr val="0E7C7B"/>
          </a:solidFill>
          <a:ln w="12700">
            <a:solidFill>
              <a:srgbClr val="0E7C7B"/>
            </a:solidFill>
            <a:prstDash val="solid"/>
          </a:ln>
        </p:spPr>
      </p:sp>
      <p:pic>
        <p:nvPicPr>
          <p:cNvPr id="11" name="icon Forecast short-term demand and flag unusual hours" descr="Forecast short-term demand and flag unusual hours"/>
          <p:cNvPicPr>
            <a:picLocks noChangeAspect="1"/>
          </p:cNvPicPr>
          <p:nvPr/>
        </p:nvPicPr>
        <p:blipFill>
          <a:blip r:embed="rId7"/>
          <a:stretch>
            <a:fillRect/>
          </a:stretch>
        </p:blipFill>
        <p:spPr>
          <a:xfrm>
            <a:off x="594360" y="3200400"/>
            <a:ext cx="274320" cy="274320"/>
          </a:xfrm>
          <a:prstGeom prst="rect">
            <a:avLst/>
          </a:prstGeom>
        </p:spPr>
      </p:pic>
      <p:sp>
        <p:nvSpPr>
          <p:cNvPr id="12" name="Text 7"/>
          <p:cNvSpPr txBox="1"/>
          <p:nvPr/>
        </p:nvSpPr>
        <p:spPr>
          <a:xfrm>
            <a:off x="1188720" y="3063240"/>
            <a:ext cx="4206240" cy="548640"/>
          </a:xfrm>
          <a:prstGeom prst="rect">
            <a:avLst/>
          </a:prstGeom>
          <a:noFill/>
          <a:ln/>
        </p:spPr>
        <p:txBody>
          <a:bodyPr wrap="square" lIns="0" tIns="0" rIns="0" bIns="0" rtlCol="0" anchor="ctr"/>
          <a:lstStyle/>
          <a:p>
            <a:pPr marL="0" indent="0">
              <a:buNone/>
            </a:pPr>
            <a:r>
              <a:rPr lang="en-US" sz="1500" dirty="0">
                <a:solidFill>
                  <a:schemeClr val="tx1"/>
                </a:solidFill>
              </a:rPr>
              <a:t>Forecast short-term demand and flag unusual hours</a:t>
            </a:r>
            <a:endParaRPr lang="en-US" sz="1500" dirty="0"/>
          </a:p>
        </p:txBody>
      </p:sp>
      <p:sp>
        <p:nvSpPr>
          <p:cNvPr id="13" name="icon bg Package the results in an interactive dashboard"/>
          <p:cNvSpPr/>
          <p:nvPr/>
        </p:nvSpPr>
        <p:spPr>
          <a:xfrm>
            <a:off x="457200" y="3840480"/>
            <a:ext cx="548640" cy="548640"/>
          </a:xfrm>
          <a:prstGeom prst="ellipse">
            <a:avLst/>
          </a:prstGeom>
          <a:solidFill>
            <a:srgbClr val="F26B4F"/>
          </a:solidFill>
          <a:ln w="12700">
            <a:solidFill>
              <a:srgbClr val="F26B4F"/>
            </a:solidFill>
            <a:prstDash val="solid"/>
          </a:ln>
        </p:spPr>
      </p:sp>
      <p:pic>
        <p:nvPicPr>
          <p:cNvPr id="14" name="icon Package the results in an interactive dashboard" descr="Package the results in an interactive dashboard"/>
          <p:cNvPicPr>
            <a:picLocks noChangeAspect="1"/>
          </p:cNvPicPr>
          <p:nvPr/>
        </p:nvPicPr>
        <p:blipFill>
          <a:blip r:embed="rId8"/>
          <a:stretch>
            <a:fillRect/>
          </a:stretch>
        </p:blipFill>
        <p:spPr>
          <a:xfrm>
            <a:off x="594360" y="3977640"/>
            <a:ext cx="274320" cy="274320"/>
          </a:xfrm>
          <a:prstGeom prst="rect">
            <a:avLst/>
          </a:prstGeom>
        </p:spPr>
      </p:pic>
      <p:sp>
        <p:nvSpPr>
          <p:cNvPr id="15" name="Text 9"/>
          <p:cNvSpPr txBox="1"/>
          <p:nvPr/>
        </p:nvSpPr>
        <p:spPr>
          <a:xfrm>
            <a:off x="1188720" y="3840480"/>
            <a:ext cx="4206240" cy="548640"/>
          </a:xfrm>
          <a:prstGeom prst="rect">
            <a:avLst/>
          </a:prstGeom>
          <a:noFill/>
          <a:ln/>
        </p:spPr>
        <p:txBody>
          <a:bodyPr wrap="square" lIns="0" tIns="0" rIns="0" bIns="0" rtlCol="0" anchor="ctr"/>
          <a:lstStyle/>
          <a:p>
            <a:pPr marL="0" indent="0">
              <a:buNone/>
            </a:pPr>
            <a:r>
              <a:rPr lang="en-US" sz="1500" dirty="0">
                <a:solidFill>
                  <a:schemeClr val="tx1"/>
                </a:solidFill>
              </a:rPr>
              <a:t>Package the results in an interactive dashboard</a:t>
            </a:r>
            <a:endParaRPr lang="en-US" sz="1500" dirty="0"/>
          </a:p>
        </p:txBody>
      </p:sp>
      <p:sp>
        <p:nvSpPr>
          <p:cNvPr id="16" name="stat tile 1"/>
          <p:cNvSpPr/>
          <p:nvPr/>
        </p:nvSpPr>
        <p:spPr>
          <a:xfrm>
            <a:off x="5852160" y="1508760"/>
            <a:ext cx="2834640" cy="868680"/>
          </a:xfrm>
          <a:prstGeom prst="roundRect">
            <a:avLst>
              <a:gd name="adj" fmla="val 8421"/>
            </a:avLst>
          </a:prstGeom>
          <a:solidFill>
            <a:schemeClr val="bg2"/>
          </a:solidFill>
          <a:ln w="12700">
            <a:solidFill>
              <a:schemeClr val="bg2"/>
            </a:solidFill>
            <a:prstDash val="solid"/>
          </a:ln>
        </p:spPr>
      </p:sp>
      <p:sp>
        <p:nvSpPr>
          <p:cNvPr id="17" name="Text 11"/>
          <p:cNvSpPr txBox="1"/>
          <p:nvPr/>
        </p:nvSpPr>
        <p:spPr>
          <a:xfrm>
            <a:off x="5989320" y="1508760"/>
            <a:ext cx="1097280" cy="868680"/>
          </a:xfrm>
          <a:prstGeom prst="rect">
            <a:avLst/>
          </a:prstGeom>
          <a:noFill/>
          <a:ln/>
        </p:spPr>
        <p:txBody>
          <a:bodyPr wrap="square" lIns="0" tIns="0" rIns="0" bIns="0" rtlCol="0" anchor="ctr"/>
          <a:lstStyle/>
          <a:p>
            <a:pPr marL="0" indent="0">
              <a:buNone/>
            </a:pPr>
            <a:r>
              <a:rPr lang="en-US" sz="2800" b="1" dirty="0">
                <a:solidFill>
                  <a:schemeClr val="accent1"/>
                </a:solidFill>
              </a:rPr>
              <a:t>1,000</a:t>
            </a:r>
            <a:endParaRPr lang="en-US" sz="2800" dirty="0"/>
          </a:p>
        </p:txBody>
      </p:sp>
      <p:sp>
        <p:nvSpPr>
          <p:cNvPr id="18" name="Text 12"/>
          <p:cNvSpPr txBox="1"/>
          <p:nvPr/>
        </p:nvSpPr>
        <p:spPr>
          <a:xfrm>
            <a:off x="7086600" y="1508760"/>
            <a:ext cx="1508760" cy="868680"/>
          </a:xfrm>
          <a:prstGeom prst="rect">
            <a:avLst/>
          </a:prstGeom>
          <a:noFill/>
          <a:ln/>
        </p:spPr>
        <p:txBody>
          <a:bodyPr wrap="square" lIns="0" tIns="0" rIns="0" bIns="0" rtlCol="0" anchor="ctr"/>
          <a:lstStyle/>
          <a:p>
            <a:pPr marL="0" indent="0">
              <a:buNone/>
            </a:pPr>
            <a:r>
              <a:rPr lang="en-US" sz="1300" dirty="0">
                <a:solidFill>
                  <a:schemeClr val="tx1"/>
                </a:solidFill>
              </a:rPr>
              <a:t>hourly records</a:t>
            </a:r>
            <a:endParaRPr lang="en-US" sz="1300" dirty="0"/>
          </a:p>
        </p:txBody>
      </p:sp>
      <p:sp>
        <p:nvSpPr>
          <p:cNvPr id="19" name="stat tile 2"/>
          <p:cNvSpPr/>
          <p:nvPr/>
        </p:nvSpPr>
        <p:spPr>
          <a:xfrm>
            <a:off x="5852160" y="2560320"/>
            <a:ext cx="2834640" cy="868680"/>
          </a:xfrm>
          <a:prstGeom prst="roundRect">
            <a:avLst>
              <a:gd name="adj" fmla="val 8421"/>
            </a:avLst>
          </a:prstGeom>
          <a:solidFill>
            <a:schemeClr val="bg2"/>
          </a:solidFill>
          <a:ln w="12700">
            <a:solidFill>
              <a:schemeClr val="bg2"/>
            </a:solidFill>
            <a:prstDash val="solid"/>
          </a:ln>
        </p:spPr>
      </p:sp>
      <p:sp>
        <p:nvSpPr>
          <p:cNvPr id="20" name="Text 14"/>
          <p:cNvSpPr txBox="1"/>
          <p:nvPr/>
        </p:nvSpPr>
        <p:spPr>
          <a:xfrm>
            <a:off x="5989320" y="2560320"/>
            <a:ext cx="1097280" cy="868680"/>
          </a:xfrm>
          <a:prstGeom prst="rect">
            <a:avLst/>
          </a:prstGeom>
          <a:noFill/>
          <a:ln/>
        </p:spPr>
        <p:txBody>
          <a:bodyPr wrap="square" lIns="0" tIns="0" rIns="0" bIns="0" rtlCol="0" anchor="ctr"/>
          <a:lstStyle/>
          <a:p>
            <a:pPr marL="0" indent="0">
              <a:buNone/>
            </a:pPr>
            <a:r>
              <a:rPr lang="en-US" sz="2800" b="1" dirty="0">
                <a:solidFill>
                  <a:schemeClr val="accent1"/>
                </a:solidFill>
              </a:rPr>
              <a:t>45</a:t>
            </a:r>
            <a:endParaRPr lang="en-US" sz="2800" dirty="0"/>
          </a:p>
        </p:txBody>
      </p:sp>
      <p:sp>
        <p:nvSpPr>
          <p:cNvPr id="21" name="Text 15"/>
          <p:cNvSpPr txBox="1"/>
          <p:nvPr/>
        </p:nvSpPr>
        <p:spPr>
          <a:xfrm>
            <a:off x="7086600" y="2560320"/>
            <a:ext cx="1508760" cy="868680"/>
          </a:xfrm>
          <a:prstGeom prst="rect">
            <a:avLst/>
          </a:prstGeom>
          <a:noFill/>
          <a:ln/>
        </p:spPr>
        <p:txBody>
          <a:bodyPr wrap="square" lIns="0" tIns="0" rIns="0" bIns="0" rtlCol="0" anchor="ctr"/>
          <a:lstStyle/>
          <a:p>
            <a:pPr marL="0" indent="0">
              <a:buNone/>
            </a:pPr>
            <a:r>
              <a:rPr lang="en-US" sz="1300" dirty="0">
                <a:solidFill>
                  <a:schemeClr val="tx1"/>
                </a:solidFill>
              </a:rPr>
              <a:t>days covered (1 Jan to 14 Feb 2011)</a:t>
            </a:r>
            <a:endParaRPr lang="en-US" sz="1300" dirty="0"/>
          </a:p>
        </p:txBody>
      </p:sp>
      <p:sp>
        <p:nvSpPr>
          <p:cNvPr id="22" name="stat tile 3"/>
          <p:cNvSpPr/>
          <p:nvPr/>
        </p:nvSpPr>
        <p:spPr>
          <a:xfrm>
            <a:off x="5852160" y="3611880"/>
            <a:ext cx="2834640" cy="868680"/>
          </a:xfrm>
          <a:prstGeom prst="roundRect">
            <a:avLst>
              <a:gd name="adj" fmla="val 8421"/>
            </a:avLst>
          </a:prstGeom>
          <a:solidFill>
            <a:schemeClr val="bg2"/>
          </a:solidFill>
          <a:ln w="12700">
            <a:solidFill>
              <a:schemeClr val="bg2"/>
            </a:solidFill>
            <a:prstDash val="solid"/>
          </a:ln>
        </p:spPr>
      </p:sp>
      <p:sp>
        <p:nvSpPr>
          <p:cNvPr id="23" name="Text 17"/>
          <p:cNvSpPr txBox="1"/>
          <p:nvPr/>
        </p:nvSpPr>
        <p:spPr>
          <a:xfrm>
            <a:off x="5989320" y="3611880"/>
            <a:ext cx="1097280" cy="868680"/>
          </a:xfrm>
          <a:prstGeom prst="rect">
            <a:avLst/>
          </a:prstGeom>
          <a:noFill/>
          <a:ln/>
        </p:spPr>
        <p:txBody>
          <a:bodyPr wrap="square" lIns="0" tIns="0" rIns="0" bIns="0" rtlCol="0" anchor="ctr"/>
          <a:lstStyle/>
          <a:p>
            <a:pPr marL="0" indent="0">
              <a:buNone/>
            </a:pPr>
            <a:r>
              <a:rPr lang="en-US" sz="2800" b="1" dirty="0">
                <a:solidFill>
                  <a:schemeClr val="accent1"/>
                </a:solidFill>
              </a:rPr>
              <a:t>13</a:t>
            </a:r>
            <a:endParaRPr lang="en-US" sz="2800" dirty="0"/>
          </a:p>
        </p:txBody>
      </p:sp>
      <p:sp>
        <p:nvSpPr>
          <p:cNvPr id="24" name="Text 18"/>
          <p:cNvSpPr txBox="1"/>
          <p:nvPr/>
        </p:nvSpPr>
        <p:spPr>
          <a:xfrm>
            <a:off x="7086600" y="3611880"/>
            <a:ext cx="1508760" cy="868680"/>
          </a:xfrm>
          <a:prstGeom prst="rect">
            <a:avLst/>
          </a:prstGeom>
          <a:noFill/>
          <a:ln/>
        </p:spPr>
        <p:txBody>
          <a:bodyPr wrap="square" lIns="0" tIns="0" rIns="0" bIns="0" rtlCol="0" anchor="ctr"/>
          <a:lstStyle/>
          <a:p>
            <a:pPr marL="0" indent="0">
              <a:buNone/>
            </a:pPr>
            <a:r>
              <a:rPr lang="en-US" sz="1300" dirty="0">
                <a:solidFill>
                  <a:schemeClr val="tx1"/>
                </a:solidFill>
              </a:rPr>
              <a:t>variables for each record</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B79"/>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65BCDC29-46F5-EC70-D5D9-D642FAABF8A6}"/>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0" y="7620"/>
            <a:ext cx="9143999" cy="5143500"/>
          </a:xfrm>
          <a:prstGeom prst="rect">
            <a:avLst/>
          </a:prstGeom>
        </p:spPr>
      </p:pic>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3000" b="1" dirty="0">
                <a:solidFill>
                  <a:schemeClr val="tx2"/>
                </a:solidFill>
              </a:rPr>
              <a:t>Data sources and workflow</a:t>
            </a:r>
            <a:endParaRPr lang="en-US" sz="3000" dirty="0"/>
          </a:p>
        </p:txBody>
      </p:sp>
      <p:sp>
        <p:nvSpPr>
          <p:cNvPr id="3" name="takeaway"/>
          <p:cNvSpPr txBox="1"/>
          <p:nvPr/>
        </p:nvSpPr>
        <p:spPr>
          <a:xfrm>
            <a:off x="457200" y="896112"/>
            <a:ext cx="8229600" cy="365760"/>
          </a:xfrm>
          <a:prstGeom prst="rect">
            <a:avLst/>
          </a:prstGeom>
          <a:noFill/>
          <a:ln/>
        </p:spPr>
        <p:txBody>
          <a:bodyPr wrap="square" lIns="0" tIns="0" rIns="0" bIns="0" rtlCol="0" anchor="ctr"/>
          <a:lstStyle/>
          <a:p>
            <a:pPr marL="0" indent="0">
              <a:buNone/>
            </a:pPr>
            <a:r>
              <a:rPr lang="en-US" sz="1400" dirty="0">
                <a:solidFill>
                  <a:schemeClr val="tx1"/>
                </a:solidFill>
              </a:rPr>
              <a:t>Three raw files were combined into one 1,000-row analysis dataset.</a:t>
            </a:r>
            <a:endParaRPr lang="en-US" sz="1400" dirty="0"/>
          </a:p>
        </p:txBody>
      </p:sp>
      <p:sp>
        <p:nvSpPr>
          <p:cNvPr id="4" name="flow box Dataset 1 | 610 rows"/>
          <p:cNvSpPr/>
          <p:nvPr/>
        </p:nvSpPr>
        <p:spPr>
          <a:xfrm>
            <a:off x="457200" y="1463040"/>
            <a:ext cx="1920240" cy="868680"/>
          </a:xfrm>
          <a:prstGeom prst="roundRect">
            <a:avLst>
              <a:gd name="adj" fmla="val 8421"/>
            </a:avLst>
          </a:prstGeom>
          <a:solidFill>
            <a:schemeClr val="bg2"/>
          </a:solidFill>
          <a:ln w="12700">
            <a:solidFill>
              <a:schemeClr val="bg2"/>
            </a:solidFill>
            <a:prstDash val="solid"/>
          </a:ln>
        </p:spPr>
      </p:sp>
      <p:sp>
        <p:nvSpPr>
          <p:cNvPr id="5" name="Text 3"/>
          <p:cNvSpPr txBox="1"/>
          <p:nvPr/>
        </p:nvSpPr>
        <p:spPr>
          <a:xfrm>
            <a:off x="548640" y="1463040"/>
            <a:ext cx="1737360" cy="868680"/>
          </a:xfrm>
          <a:prstGeom prst="rect">
            <a:avLst/>
          </a:prstGeom>
          <a:noFill/>
          <a:ln/>
        </p:spPr>
        <p:txBody>
          <a:bodyPr wrap="square" lIns="0" tIns="0" rIns="0" bIns="0" rtlCol="0" anchor="ctr"/>
          <a:lstStyle/>
          <a:p>
            <a:pPr marL="0" indent="0">
              <a:buNone/>
            </a:pPr>
            <a:r>
              <a:rPr lang="en-US" sz="1400" b="1" dirty="0">
                <a:solidFill>
                  <a:schemeClr val="tx1"/>
                </a:solidFill>
              </a:rPr>
              <a:t>Dataset 1 | 610 rows</a:t>
            </a:r>
            <a:endParaRPr lang="en-US" sz="1400" dirty="0"/>
          </a:p>
          <a:p>
            <a:pPr marL="0" indent="0">
              <a:buNone/>
            </a:pPr>
            <a:r>
              <a:rPr lang="en-US" sz="1200" dirty="0">
                <a:solidFill>
                  <a:schemeClr val="tx1"/>
                </a:solidFill>
              </a:rPr>
              <a:t>date, calendar, weather type</a:t>
            </a:r>
            <a:endParaRPr lang="en-US" sz="1400" dirty="0"/>
          </a:p>
        </p:txBody>
      </p:sp>
      <p:sp>
        <p:nvSpPr>
          <p:cNvPr id="6" name="flow box Dataset 2 | 610 rows"/>
          <p:cNvSpPr/>
          <p:nvPr/>
        </p:nvSpPr>
        <p:spPr>
          <a:xfrm>
            <a:off x="457200" y="2468880"/>
            <a:ext cx="1920240" cy="868680"/>
          </a:xfrm>
          <a:prstGeom prst="roundRect">
            <a:avLst>
              <a:gd name="adj" fmla="val 8421"/>
            </a:avLst>
          </a:prstGeom>
          <a:solidFill>
            <a:schemeClr val="bg2"/>
          </a:solidFill>
          <a:ln w="12700">
            <a:solidFill>
              <a:schemeClr val="bg2"/>
            </a:solidFill>
            <a:prstDash val="solid"/>
          </a:ln>
        </p:spPr>
      </p:sp>
      <p:sp>
        <p:nvSpPr>
          <p:cNvPr id="7" name="Text 5"/>
          <p:cNvSpPr txBox="1"/>
          <p:nvPr/>
        </p:nvSpPr>
        <p:spPr>
          <a:xfrm>
            <a:off x="548640" y="2468880"/>
            <a:ext cx="1737360" cy="868680"/>
          </a:xfrm>
          <a:prstGeom prst="rect">
            <a:avLst/>
          </a:prstGeom>
          <a:noFill/>
          <a:ln/>
        </p:spPr>
        <p:txBody>
          <a:bodyPr wrap="square" lIns="0" tIns="0" rIns="0" bIns="0" rtlCol="0" anchor="ctr"/>
          <a:lstStyle/>
          <a:p>
            <a:pPr marL="0" indent="0">
              <a:buNone/>
            </a:pPr>
            <a:r>
              <a:rPr lang="en-US" sz="1400" b="1" dirty="0">
                <a:solidFill>
                  <a:schemeClr val="tx1"/>
                </a:solidFill>
              </a:rPr>
              <a:t>Dataset 2 | 610 rows</a:t>
            </a:r>
            <a:endParaRPr lang="en-US" sz="1400" dirty="0"/>
          </a:p>
          <a:p>
            <a:pPr marL="0" indent="0">
              <a:buNone/>
            </a:pPr>
            <a:r>
              <a:rPr lang="en-US" sz="1200" dirty="0">
                <a:solidFill>
                  <a:schemeClr val="tx1"/>
                </a:solidFill>
              </a:rPr>
              <a:t>temperature, humidity, riders</a:t>
            </a:r>
            <a:endParaRPr lang="en-US" sz="1400" dirty="0"/>
          </a:p>
        </p:txBody>
      </p:sp>
      <p:sp>
        <p:nvSpPr>
          <p:cNvPr id="8" name="flow box Dataset A"/>
          <p:cNvSpPr/>
          <p:nvPr/>
        </p:nvSpPr>
        <p:spPr>
          <a:xfrm>
            <a:off x="2834640" y="1783080"/>
            <a:ext cx="1554480" cy="1234440"/>
          </a:xfrm>
          <a:prstGeom prst="roundRect">
            <a:avLst>
              <a:gd name="adj" fmla="val 5926"/>
            </a:avLst>
          </a:prstGeom>
          <a:solidFill>
            <a:schemeClr val="accent1"/>
          </a:solidFill>
          <a:ln w="12700">
            <a:solidFill>
              <a:schemeClr val="accent1"/>
            </a:solidFill>
            <a:prstDash val="solid"/>
          </a:ln>
        </p:spPr>
      </p:sp>
      <p:sp>
        <p:nvSpPr>
          <p:cNvPr id="9" name="Text 7"/>
          <p:cNvSpPr txBox="1"/>
          <p:nvPr/>
        </p:nvSpPr>
        <p:spPr>
          <a:xfrm>
            <a:off x="2926080" y="1783080"/>
            <a:ext cx="1371600" cy="1234440"/>
          </a:xfrm>
          <a:prstGeom prst="rect">
            <a:avLst/>
          </a:prstGeom>
          <a:noFill/>
          <a:ln/>
        </p:spPr>
        <p:txBody>
          <a:bodyPr wrap="square" lIns="0" tIns="0" rIns="0" bIns="0" rtlCol="0" anchor="ctr"/>
          <a:lstStyle/>
          <a:p>
            <a:pPr marL="0" indent="0">
              <a:buNone/>
            </a:pPr>
            <a:r>
              <a:rPr lang="en-US" sz="1400" b="1" dirty="0">
                <a:solidFill>
                  <a:schemeClr val="bg1"/>
                </a:solidFill>
              </a:rPr>
              <a:t>Dataset A</a:t>
            </a:r>
            <a:endParaRPr lang="en-US" sz="1400" dirty="0"/>
          </a:p>
          <a:p>
            <a:pPr marL="0" indent="0">
              <a:buNone/>
            </a:pPr>
            <a:r>
              <a:rPr lang="en-US" sz="1200" dirty="0">
                <a:solidFill>
                  <a:schemeClr val="bg1"/>
                </a:solidFill>
              </a:rPr>
              <a:t>610 rows, matched on S.No.</a:t>
            </a:r>
            <a:endParaRPr lang="en-US" sz="1400" dirty="0"/>
          </a:p>
        </p:txBody>
      </p:sp>
      <p:sp>
        <p:nvSpPr>
          <p:cNvPr id="10" name="flow box Dataset B"/>
          <p:cNvSpPr/>
          <p:nvPr/>
        </p:nvSpPr>
        <p:spPr>
          <a:xfrm>
            <a:off x="4846320" y="1783080"/>
            <a:ext cx="1554480" cy="1234440"/>
          </a:xfrm>
          <a:prstGeom prst="roundRect">
            <a:avLst>
              <a:gd name="adj" fmla="val 5926"/>
            </a:avLst>
          </a:prstGeom>
          <a:solidFill>
            <a:schemeClr val="accent1"/>
          </a:solidFill>
          <a:ln w="12700">
            <a:solidFill>
              <a:schemeClr val="accent1"/>
            </a:solidFill>
            <a:prstDash val="solid"/>
          </a:ln>
        </p:spPr>
      </p:sp>
      <p:sp>
        <p:nvSpPr>
          <p:cNvPr id="11" name="Text 9"/>
          <p:cNvSpPr txBox="1"/>
          <p:nvPr/>
        </p:nvSpPr>
        <p:spPr>
          <a:xfrm>
            <a:off x="4937760" y="1783080"/>
            <a:ext cx="1371600" cy="1234440"/>
          </a:xfrm>
          <a:prstGeom prst="rect">
            <a:avLst/>
          </a:prstGeom>
          <a:noFill/>
          <a:ln/>
        </p:spPr>
        <p:txBody>
          <a:bodyPr wrap="square" lIns="0" tIns="0" rIns="0" bIns="0" rtlCol="0" anchor="ctr"/>
          <a:lstStyle/>
          <a:p>
            <a:pPr marL="0" indent="0">
              <a:buNone/>
            </a:pPr>
            <a:r>
              <a:rPr lang="en-US" sz="1400" b="1" dirty="0">
                <a:solidFill>
                  <a:schemeClr val="bg1"/>
                </a:solidFill>
              </a:rPr>
              <a:t>Dataset B</a:t>
            </a:r>
            <a:endParaRPr lang="en-US" sz="1400" dirty="0"/>
          </a:p>
          <a:p>
            <a:pPr marL="0" indent="0">
              <a:buNone/>
            </a:pPr>
            <a:r>
              <a:rPr lang="en-US" sz="1200" dirty="0">
                <a:solidFill>
                  <a:schemeClr val="bg1"/>
                </a:solidFill>
              </a:rPr>
              <a:t>1,000 rows, used for all analysis</a:t>
            </a:r>
            <a:endParaRPr lang="en-US" sz="1400" dirty="0"/>
          </a:p>
        </p:txBody>
      </p:sp>
      <p:sp>
        <p:nvSpPr>
          <p:cNvPr id="12" name="flow box Analysis"/>
          <p:cNvSpPr/>
          <p:nvPr/>
        </p:nvSpPr>
        <p:spPr>
          <a:xfrm>
            <a:off x="6858000" y="1783080"/>
            <a:ext cx="1828800" cy="1234440"/>
          </a:xfrm>
          <a:prstGeom prst="roundRect">
            <a:avLst>
              <a:gd name="adj" fmla="val 5926"/>
            </a:avLst>
          </a:prstGeom>
          <a:solidFill>
            <a:schemeClr val="accent2"/>
          </a:solidFill>
          <a:ln w="12700">
            <a:solidFill>
              <a:schemeClr val="accent2"/>
            </a:solidFill>
            <a:prstDash val="solid"/>
          </a:ln>
        </p:spPr>
      </p:sp>
      <p:sp>
        <p:nvSpPr>
          <p:cNvPr id="13" name="Text 11"/>
          <p:cNvSpPr txBox="1"/>
          <p:nvPr/>
        </p:nvSpPr>
        <p:spPr>
          <a:xfrm>
            <a:off x="6949440" y="1783080"/>
            <a:ext cx="1645920" cy="1234440"/>
          </a:xfrm>
          <a:prstGeom prst="rect">
            <a:avLst/>
          </a:prstGeom>
          <a:noFill/>
          <a:ln/>
        </p:spPr>
        <p:txBody>
          <a:bodyPr wrap="square" lIns="0" tIns="0" rIns="0" bIns="0" rtlCol="0" anchor="ctr"/>
          <a:lstStyle/>
          <a:p>
            <a:pPr marL="0" indent="0">
              <a:buNone/>
            </a:pPr>
            <a:r>
              <a:rPr lang="en-US" sz="1400" b="1" dirty="0">
                <a:solidFill>
                  <a:schemeClr val="bg1"/>
                </a:solidFill>
              </a:rPr>
              <a:t>Analysis</a:t>
            </a:r>
            <a:endParaRPr lang="en-US" sz="1400" dirty="0"/>
          </a:p>
          <a:p>
            <a:pPr marL="0" indent="0">
              <a:buNone/>
            </a:pPr>
            <a:r>
              <a:rPr lang="en-US" sz="1200" dirty="0">
                <a:solidFill>
                  <a:schemeClr val="bg1"/>
                </a:solidFill>
              </a:rPr>
              <a:t>pivots, charts, forecast, dashboard</a:t>
            </a:r>
            <a:endParaRPr lang="en-US" sz="1400" dirty="0"/>
          </a:p>
        </p:txBody>
      </p:sp>
      <p:sp>
        <p:nvSpPr>
          <p:cNvPr id="14" name="flow box Dataset 3 | 390 rows"/>
          <p:cNvSpPr/>
          <p:nvPr/>
        </p:nvSpPr>
        <p:spPr>
          <a:xfrm>
            <a:off x="4480560" y="3520440"/>
            <a:ext cx="2286000" cy="685800"/>
          </a:xfrm>
          <a:prstGeom prst="roundRect">
            <a:avLst>
              <a:gd name="adj" fmla="val 10667"/>
            </a:avLst>
          </a:prstGeom>
          <a:solidFill>
            <a:schemeClr val="bg2"/>
          </a:solidFill>
          <a:ln w="12700">
            <a:solidFill>
              <a:schemeClr val="bg2"/>
            </a:solidFill>
            <a:prstDash val="solid"/>
          </a:ln>
        </p:spPr>
      </p:sp>
      <p:sp>
        <p:nvSpPr>
          <p:cNvPr id="15" name="Text 13"/>
          <p:cNvSpPr txBox="1"/>
          <p:nvPr/>
        </p:nvSpPr>
        <p:spPr>
          <a:xfrm>
            <a:off x="4572000" y="3520440"/>
            <a:ext cx="2103120" cy="685800"/>
          </a:xfrm>
          <a:prstGeom prst="rect">
            <a:avLst/>
          </a:prstGeom>
          <a:noFill/>
          <a:ln/>
        </p:spPr>
        <p:txBody>
          <a:bodyPr wrap="square" lIns="0" tIns="0" rIns="0" bIns="0" rtlCol="0" anchor="ctr"/>
          <a:lstStyle/>
          <a:p>
            <a:pPr marL="0" indent="0">
              <a:buNone/>
            </a:pPr>
            <a:r>
              <a:rPr lang="en-US" sz="1400" b="1" dirty="0">
                <a:solidFill>
                  <a:schemeClr val="tx1"/>
                </a:solidFill>
              </a:rPr>
              <a:t>Dataset 3 | 390 rows</a:t>
            </a:r>
            <a:endParaRPr lang="en-US" sz="1400" dirty="0"/>
          </a:p>
          <a:p>
            <a:pPr marL="0" indent="0">
              <a:buNone/>
            </a:pPr>
            <a:r>
              <a:rPr lang="en-US" sz="1200" dirty="0">
                <a:solidFill>
                  <a:schemeClr val="tx1"/>
                </a:solidFill>
              </a:rPr>
              <a:t>appended to Dataset A</a:t>
            </a:r>
            <a:endParaRPr lang="en-US" sz="1400" dirty="0"/>
          </a:p>
        </p:txBody>
      </p:sp>
      <p:sp>
        <p:nvSpPr>
          <p:cNvPr id="16" name="arrow 0"/>
          <p:cNvSpPr/>
          <p:nvPr/>
        </p:nvSpPr>
        <p:spPr>
          <a:xfrm>
            <a:off x="2423160" y="2057400"/>
            <a:ext cx="365760" cy="274320"/>
          </a:xfrm>
          <a:prstGeom prst="rightArrow">
            <a:avLst/>
          </a:prstGeom>
          <a:solidFill>
            <a:schemeClr val="accent6"/>
          </a:solidFill>
          <a:ln w="12700">
            <a:solidFill>
              <a:schemeClr val="accent6"/>
            </a:solidFill>
            <a:prstDash val="solid"/>
          </a:ln>
        </p:spPr>
      </p:sp>
      <p:sp>
        <p:nvSpPr>
          <p:cNvPr id="17" name="arrow 1"/>
          <p:cNvSpPr/>
          <p:nvPr/>
        </p:nvSpPr>
        <p:spPr>
          <a:xfrm>
            <a:off x="4434840" y="2057400"/>
            <a:ext cx="365760" cy="274320"/>
          </a:xfrm>
          <a:prstGeom prst="rightArrow">
            <a:avLst/>
          </a:prstGeom>
          <a:solidFill>
            <a:schemeClr val="accent6"/>
          </a:solidFill>
          <a:ln w="12700">
            <a:solidFill>
              <a:schemeClr val="accent6"/>
            </a:solidFill>
            <a:prstDash val="solid"/>
          </a:ln>
        </p:spPr>
      </p:sp>
      <p:sp>
        <p:nvSpPr>
          <p:cNvPr id="18" name="arrow 2"/>
          <p:cNvSpPr/>
          <p:nvPr/>
        </p:nvSpPr>
        <p:spPr>
          <a:xfrm>
            <a:off x="6446520" y="2057400"/>
            <a:ext cx="365760" cy="274320"/>
          </a:xfrm>
          <a:prstGeom prst="rightArrow">
            <a:avLst/>
          </a:prstGeom>
          <a:solidFill>
            <a:schemeClr val="accent6"/>
          </a:solidFill>
          <a:ln w="12700">
            <a:solidFill>
              <a:schemeClr val="accent6"/>
            </a:solidFill>
            <a:prstDash val="solid"/>
          </a:ln>
        </p:spPr>
      </p:sp>
      <p:sp>
        <p:nvSpPr>
          <p:cNvPr id="19" name="arrow up"/>
          <p:cNvSpPr/>
          <p:nvPr/>
        </p:nvSpPr>
        <p:spPr>
          <a:xfrm>
            <a:off x="5486400" y="3108960"/>
            <a:ext cx="274320" cy="365760"/>
          </a:xfrm>
          <a:prstGeom prst="upArrow">
            <a:avLst/>
          </a:prstGeom>
          <a:solidFill>
            <a:schemeClr val="accent6"/>
          </a:solidFill>
          <a:ln w="12700">
            <a:solidFill>
              <a:schemeClr val="accent6"/>
            </a:solidFill>
            <a:prstDash val="solid"/>
          </a:ln>
        </p:spPr>
      </p:sp>
      <p:sp>
        <p:nvSpPr>
          <p:cNvPr id="20" name="Text 18"/>
          <p:cNvSpPr txBox="1"/>
          <p:nvPr/>
        </p:nvSpPr>
        <p:spPr>
          <a:xfrm>
            <a:off x="457200" y="3657600"/>
            <a:ext cx="2011680" cy="274320"/>
          </a:xfrm>
          <a:prstGeom prst="rect">
            <a:avLst/>
          </a:prstGeom>
          <a:noFill/>
          <a:ln/>
        </p:spPr>
        <p:txBody>
          <a:bodyPr wrap="square" lIns="0" tIns="0" rIns="0" bIns="0" rtlCol="0" anchor="ctr"/>
          <a:lstStyle/>
          <a:p>
            <a:pPr marL="0" indent="0">
              <a:buNone/>
            </a:pPr>
            <a:r>
              <a:rPr lang="en-US" sz="1400" b="1" dirty="0">
                <a:solidFill>
                  <a:schemeClr val="tx2"/>
                </a:solidFill>
              </a:rPr>
              <a:t>Excel tools used</a:t>
            </a:r>
            <a:endParaRPr lang="en-US" sz="1400" dirty="0"/>
          </a:p>
        </p:txBody>
      </p:sp>
      <p:sp>
        <p:nvSpPr>
          <p:cNvPr id="21" name="chip Lookups"/>
          <p:cNvSpPr/>
          <p:nvPr/>
        </p:nvSpPr>
        <p:spPr>
          <a:xfrm>
            <a:off x="457200" y="4023360"/>
            <a:ext cx="1188720" cy="292608"/>
          </a:xfrm>
          <a:prstGeom prst="roundRect">
            <a:avLst>
              <a:gd name="adj" fmla="val 50000"/>
            </a:avLst>
          </a:prstGeom>
          <a:solidFill>
            <a:schemeClr val="bg2"/>
          </a:solidFill>
          <a:ln w="9525">
            <a:solidFill>
              <a:schemeClr val="accent4"/>
            </a:solidFill>
            <a:prstDash val="solid"/>
          </a:ln>
        </p:spPr>
      </p:sp>
      <p:sp>
        <p:nvSpPr>
          <p:cNvPr id="22" name="Text 20"/>
          <p:cNvSpPr txBox="1"/>
          <p:nvPr/>
        </p:nvSpPr>
        <p:spPr>
          <a:xfrm>
            <a:off x="457200" y="4023360"/>
            <a:ext cx="1188720" cy="292608"/>
          </a:xfrm>
          <a:prstGeom prst="rect">
            <a:avLst/>
          </a:prstGeom>
          <a:noFill/>
          <a:ln/>
        </p:spPr>
        <p:txBody>
          <a:bodyPr wrap="square" lIns="0" tIns="0" rIns="0" bIns="0" rtlCol="0" anchor="ctr"/>
          <a:lstStyle/>
          <a:p>
            <a:pPr marL="0" indent="0" algn="ctr">
              <a:buNone/>
            </a:pPr>
            <a:r>
              <a:rPr lang="en-US" sz="1100" dirty="0">
                <a:solidFill>
                  <a:schemeClr val="tx2"/>
                </a:solidFill>
              </a:rPr>
              <a:t>Lookups</a:t>
            </a:r>
            <a:endParaRPr lang="en-US" sz="1100" dirty="0"/>
          </a:p>
        </p:txBody>
      </p:sp>
      <p:sp>
        <p:nvSpPr>
          <p:cNvPr id="23" name="chip Pivot tables"/>
          <p:cNvSpPr/>
          <p:nvPr/>
        </p:nvSpPr>
        <p:spPr>
          <a:xfrm>
            <a:off x="1737360" y="4023360"/>
            <a:ext cx="1188720" cy="292608"/>
          </a:xfrm>
          <a:prstGeom prst="roundRect">
            <a:avLst>
              <a:gd name="adj" fmla="val 50000"/>
            </a:avLst>
          </a:prstGeom>
          <a:solidFill>
            <a:schemeClr val="bg2"/>
          </a:solidFill>
          <a:ln w="9525">
            <a:solidFill>
              <a:schemeClr val="accent4"/>
            </a:solidFill>
            <a:prstDash val="solid"/>
          </a:ln>
        </p:spPr>
      </p:sp>
      <p:sp>
        <p:nvSpPr>
          <p:cNvPr id="24" name="Text 22"/>
          <p:cNvSpPr txBox="1"/>
          <p:nvPr/>
        </p:nvSpPr>
        <p:spPr>
          <a:xfrm>
            <a:off x="1737360" y="4023360"/>
            <a:ext cx="1188720" cy="292608"/>
          </a:xfrm>
          <a:prstGeom prst="rect">
            <a:avLst/>
          </a:prstGeom>
          <a:noFill/>
          <a:ln/>
        </p:spPr>
        <p:txBody>
          <a:bodyPr wrap="square" lIns="0" tIns="0" rIns="0" bIns="0" rtlCol="0" anchor="ctr"/>
          <a:lstStyle/>
          <a:p>
            <a:pPr marL="0" indent="0" algn="ctr">
              <a:buNone/>
            </a:pPr>
            <a:r>
              <a:rPr lang="en-US" sz="1100" dirty="0">
                <a:solidFill>
                  <a:schemeClr val="tx2"/>
                </a:solidFill>
              </a:rPr>
              <a:t>Pivot tables</a:t>
            </a:r>
            <a:endParaRPr lang="en-US" sz="1100" dirty="0"/>
          </a:p>
        </p:txBody>
      </p:sp>
      <p:sp>
        <p:nvSpPr>
          <p:cNvPr id="25" name="chip Charts"/>
          <p:cNvSpPr/>
          <p:nvPr/>
        </p:nvSpPr>
        <p:spPr>
          <a:xfrm>
            <a:off x="3017520" y="4023360"/>
            <a:ext cx="1188720" cy="292608"/>
          </a:xfrm>
          <a:prstGeom prst="roundRect">
            <a:avLst>
              <a:gd name="adj" fmla="val 50000"/>
            </a:avLst>
          </a:prstGeom>
          <a:solidFill>
            <a:schemeClr val="bg2"/>
          </a:solidFill>
          <a:ln w="9525">
            <a:solidFill>
              <a:schemeClr val="accent4"/>
            </a:solidFill>
            <a:prstDash val="solid"/>
          </a:ln>
        </p:spPr>
      </p:sp>
      <p:sp>
        <p:nvSpPr>
          <p:cNvPr id="26" name="Text 24"/>
          <p:cNvSpPr txBox="1"/>
          <p:nvPr/>
        </p:nvSpPr>
        <p:spPr>
          <a:xfrm>
            <a:off x="3017520" y="4023360"/>
            <a:ext cx="1188720" cy="292608"/>
          </a:xfrm>
          <a:prstGeom prst="rect">
            <a:avLst/>
          </a:prstGeom>
          <a:noFill/>
          <a:ln/>
        </p:spPr>
        <p:txBody>
          <a:bodyPr wrap="square" lIns="0" tIns="0" rIns="0" bIns="0" rtlCol="0" anchor="ctr"/>
          <a:lstStyle/>
          <a:p>
            <a:pPr marL="0" indent="0" algn="ctr">
              <a:buNone/>
            </a:pPr>
            <a:r>
              <a:rPr lang="en-US" sz="1100" dirty="0">
                <a:solidFill>
                  <a:schemeClr val="tx2"/>
                </a:solidFill>
              </a:rPr>
              <a:t>Charts</a:t>
            </a:r>
            <a:endParaRPr lang="en-US" sz="1100" dirty="0"/>
          </a:p>
        </p:txBody>
      </p:sp>
      <p:sp>
        <p:nvSpPr>
          <p:cNvPr id="27" name="chip Forecast Sheet"/>
          <p:cNvSpPr/>
          <p:nvPr/>
        </p:nvSpPr>
        <p:spPr>
          <a:xfrm>
            <a:off x="457200" y="4389120"/>
            <a:ext cx="1188720" cy="292608"/>
          </a:xfrm>
          <a:prstGeom prst="roundRect">
            <a:avLst>
              <a:gd name="adj" fmla="val 50000"/>
            </a:avLst>
          </a:prstGeom>
          <a:solidFill>
            <a:schemeClr val="bg2"/>
          </a:solidFill>
          <a:ln w="9525">
            <a:solidFill>
              <a:schemeClr val="accent4"/>
            </a:solidFill>
            <a:prstDash val="solid"/>
          </a:ln>
        </p:spPr>
      </p:sp>
      <p:sp>
        <p:nvSpPr>
          <p:cNvPr id="28" name="Text 26"/>
          <p:cNvSpPr txBox="1"/>
          <p:nvPr/>
        </p:nvSpPr>
        <p:spPr>
          <a:xfrm>
            <a:off x="457200" y="4389120"/>
            <a:ext cx="1188720" cy="292608"/>
          </a:xfrm>
          <a:prstGeom prst="rect">
            <a:avLst/>
          </a:prstGeom>
          <a:noFill/>
          <a:ln/>
        </p:spPr>
        <p:txBody>
          <a:bodyPr wrap="square" lIns="0" tIns="0" rIns="0" bIns="0" rtlCol="0" anchor="ctr"/>
          <a:lstStyle/>
          <a:p>
            <a:pPr marL="0" indent="0" algn="ctr">
              <a:buNone/>
            </a:pPr>
            <a:r>
              <a:rPr lang="en-US" sz="1100" dirty="0">
                <a:solidFill>
                  <a:schemeClr val="tx2"/>
                </a:solidFill>
              </a:rPr>
              <a:t>Forecast Sheet</a:t>
            </a:r>
            <a:endParaRPr lang="en-US" sz="1100" dirty="0"/>
          </a:p>
        </p:txBody>
      </p:sp>
      <p:sp>
        <p:nvSpPr>
          <p:cNvPr id="29" name="chip Z-score anomalies"/>
          <p:cNvSpPr/>
          <p:nvPr/>
        </p:nvSpPr>
        <p:spPr>
          <a:xfrm>
            <a:off x="1737360" y="4389120"/>
            <a:ext cx="1188720" cy="292608"/>
          </a:xfrm>
          <a:prstGeom prst="roundRect">
            <a:avLst>
              <a:gd name="adj" fmla="val 50000"/>
            </a:avLst>
          </a:prstGeom>
          <a:solidFill>
            <a:schemeClr val="bg2"/>
          </a:solidFill>
          <a:ln w="9525">
            <a:solidFill>
              <a:schemeClr val="accent4"/>
            </a:solidFill>
            <a:prstDash val="solid"/>
          </a:ln>
        </p:spPr>
      </p:sp>
      <p:sp>
        <p:nvSpPr>
          <p:cNvPr id="30" name="Text 28"/>
          <p:cNvSpPr txBox="1"/>
          <p:nvPr/>
        </p:nvSpPr>
        <p:spPr>
          <a:xfrm>
            <a:off x="1737360" y="4389120"/>
            <a:ext cx="1188720" cy="292608"/>
          </a:xfrm>
          <a:prstGeom prst="rect">
            <a:avLst/>
          </a:prstGeom>
          <a:noFill/>
          <a:ln/>
        </p:spPr>
        <p:txBody>
          <a:bodyPr wrap="square" lIns="0" tIns="0" rIns="0" bIns="0" rtlCol="0" anchor="ctr"/>
          <a:lstStyle/>
          <a:p>
            <a:pPr marL="0" indent="0" algn="ctr">
              <a:buNone/>
            </a:pPr>
            <a:r>
              <a:rPr lang="en-US" sz="1100" dirty="0">
                <a:solidFill>
                  <a:schemeClr val="tx2"/>
                </a:solidFill>
              </a:rPr>
              <a:t>Z-score anomalies</a:t>
            </a:r>
            <a:endParaRPr lang="en-US" sz="1100" dirty="0"/>
          </a:p>
        </p:txBody>
      </p:sp>
      <p:sp>
        <p:nvSpPr>
          <p:cNvPr id="31" name="chip Slicers"/>
          <p:cNvSpPr/>
          <p:nvPr/>
        </p:nvSpPr>
        <p:spPr>
          <a:xfrm>
            <a:off x="3017520" y="4389120"/>
            <a:ext cx="1188720" cy="292608"/>
          </a:xfrm>
          <a:prstGeom prst="roundRect">
            <a:avLst>
              <a:gd name="adj" fmla="val 50000"/>
            </a:avLst>
          </a:prstGeom>
          <a:solidFill>
            <a:schemeClr val="bg2"/>
          </a:solidFill>
          <a:ln w="9525">
            <a:solidFill>
              <a:schemeClr val="accent4"/>
            </a:solidFill>
            <a:prstDash val="solid"/>
          </a:ln>
        </p:spPr>
      </p:sp>
      <p:sp>
        <p:nvSpPr>
          <p:cNvPr id="32" name="Text 30"/>
          <p:cNvSpPr txBox="1"/>
          <p:nvPr/>
        </p:nvSpPr>
        <p:spPr>
          <a:xfrm>
            <a:off x="3017520" y="4389120"/>
            <a:ext cx="1188720" cy="292608"/>
          </a:xfrm>
          <a:prstGeom prst="rect">
            <a:avLst/>
          </a:prstGeom>
          <a:noFill/>
          <a:ln/>
        </p:spPr>
        <p:txBody>
          <a:bodyPr wrap="square" lIns="0" tIns="0" rIns="0" bIns="0" rtlCol="0" anchor="ctr"/>
          <a:lstStyle/>
          <a:p>
            <a:pPr marL="0" indent="0" algn="ctr">
              <a:buNone/>
            </a:pPr>
            <a:r>
              <a:rPr lang="en-US" sz="1100" dirty="0">
                <a:solidFill>
                  <a:schemeClr val="tx2"/>
                </a:solidFill>
              </a:rPr>
              <a:t>Slicers</a:t>
            </a:r>
            <a:endParaRPr lang="en-US" sz="1100" dirty="0"/>
          </a:p>
        </p:txBody>
      </p:sp>
      <p:sp>
        <p:nvSpPr>
          <p:cNvPr id="33"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B79"/>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8BB4D1E0-88E9-B6A7-A61B-104B13E66400}"/>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0" y="0"/>
            <a:ext cx="9143999" cy="5143500"/>
          </a:xfrm>
          <a:prstGeom prst="rect">
            <a:avLst/>
          </a:prstGeom>
        </p:spPr>
      </p:pic>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3000" b="1" dirty="0">
                <a:solidFill>
                  <a:schemeClr val="tx2"/>
                </a:solidFill>
              </a:rPr>
              <a:t>Dataset overview</a:t>
            </a:r>
            <a:endParaRPr lang="en-US" sz="3000" dirty="0"/>
          </a:p>
        </p:txBody>
      </p:sp>
      <p:sp>
        <p:nvSpPr>
          <p:cNvPr id="3" name="takeaway"/>
          <p:cNvSpPr txBox="1"/>
          <p:nvPr/>
        </p:nvSpPr>
        <p:spPr>
          <a:xfrm>
            <a:off x="457200" y="896112"/>
            <a:ext cx="8229600" cy="365760"/>
          </a:xfrm>
          <a:prstGeom prst="rect">
            <a:avLst/>
          </a:prstGeom>
          <a:noFill/>
          <a:ln/>
        </p:spPr>
        <p:txBody>
          <a:bodyPr wrap="square" lIns="0" tIns="0" rIns="0" bIns="0" rtlCol="0" anchor="ctr"/>
          <a:lstStyle/>
          <a:p>
            <a:pPr marL="0" indent="0">
              <a:buNone/>
            </a:pPr>
            <a:r>
              <a:rPr lang="en-US" sz="1400" dirty="0">
                <a:solidFill>
                  <a:schemeClr val="tx1"/>
                </a:solidFill>
              </a:rPr>
              <a:t>Thirteen variables, grouped into four themes.</a:t>
            </a:r>
            <a:endParaRPr lang="en-US" sz="1400" dirty="0"/>
          </a:p>
        </p:txBody>
      </p:sp>
      <p:sp>
        <p:nvSpPr>
          <p:cNvPr id="4" name="group card Date and time"/>
          <p:cNvSpPr/>
          <p:nvPr/>
        </p:nvSpPr>
        <p:spPr>
          <a:xfrm>
            <a:off x="457200" y="1417320"/>
            <a:ext cx="1920240" cy="2514600"/>
          </a:xfrm>
          <a:prstGeom prst="roundRect">
            <a:avLst>
              <a:gd name="adj" fmla="val 3810"/>
            </a:avLst>
          </a:prstGeom>
          <a:solidFill>
            <a:schemeClr val="bg2"/>
          </a:solidFill>
          <a:ln w="12700">
            <a:solidFill>
              <a:schemeClr val="bg2"/>
            </a:solidFill>
            <a:prstDash val="solid"/>
          </a:ln>
        </p:spPr>
      </p:sp>
      <p:sp>
        <p:nvSpPr>
          <p:cNvPr id="5" name="icon bg Date and time"/>
          <p:cNvSpPr/>
          <p:nvPr/>
        </p:nvSpPr>
        <p:spPr>
          <a:xfrm>
            <a:off x="640080" y="1600200"/>
            <a:ext cx="502920" cy="502920"/>
          </a:xfrm>
          <a:prstGeom prst="ellipse">
            <a:avLst/>
          </a:prstGeom>
          <a:solidFill>
            <a:srgbClr val="0E7C7B"/>
          </a:solidFill>
          <a:ln w="12700">
            <a:solidFill>
              <a:srgbClr val="0E7C7B"/>
            </a:solidFill>
            <a:prstDash val="solid"/>
          </a:ln>
        </p:spPr>
      </p:sp>
      <p:pic>
        <p:nvPicPr>
          <p:cNvPr id="6" name="icon Date and time" descr="Date and time"/>
          <p:cNvPicPr>
            <a:picLocks noChangeAspect="1"/>
          </p:cNvPicPr>
          <p:nvPr/>
        </p:nvPicPr>
        <p:blipFill>
          <a:blip r:embed="rId5"/>
          <a:stretch>
            <a:fillRect/>
          </a:stretch>
        </p:blipFill>
        <p:spPr>
          <a:xfrm>
            <a:off x="765810" y="1725930"/>
            <a:ext cx="251460" cy="251460"/>
          </a:xfrm>
          <a:prstGeom prst="rect">
            <a:avLst/>
          </a:prstGeom>
        </p:spPr>
      </p:pic>
      <p:sp>
        <p:nvSpPr>
          <p:cNvPr id="7" name="Text 4"/>
          <p:cNvSpPr txBox="1"/>
          <p:nvPr/>
        </p:nvSpPr>
        <p:spPr>
          <a:xfrm>
            <a:off x="640080" y="2194560"/>
            <a:ext cx="1645920" cy="320040"/>
          </a:xfrm>
          <a:prstGeom prst="rect">
            <a:avLst/>
          </a:prstGeom>
          <a:noFill/>
          <a:ln/>
        </p:spPr>
        <p:txBody>
          <a:bodyPr wrap="square" lIns="0" tIns="0" rIns="0" bIns="0" rtlCol="0" anchor="ctr"/>
          <a:lstStyle/>
          <a:p>
            <a:pPr marL="0" indent="0">
              <a:buNone/>
            </a:pPr>
            <a:r>
              <a:rPr lang="en-US" sz="1600" b="1" dirty="0">
                <a:solidFill>
                  <a:schemeClr val="tx2"/>
                </a:solidFill>
              </a:rPr>
              <a:t>Date and time</a:t>
            </a:r>
            <a:endParaRPr lang="en-US" sz="1600" dirty="0"/>
          </a:p>
        </p:txBody>
      </p:sp>
      <p:sp>
        <p:nvSpPr>
          <p:cNvPr id="8" name="Text 5"/>
          <p:cNvSpPr txBox="1"/>
          <p:nvPr/>
        </p:nvSpPr>
        <p:spPr>
          <a:xfrm>
            <a:off x="640080" y="2560320"/>
            <a:ext cx="1645920" cy="128016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tx1"/>
                </a:solidFill>
              </a:rPr>
              <a:t>Date</a:t>
            </a:r>
            <a:endParaRPr lang="en-US" sz="1400" dirty="0"/>
          </a:p>
          <a:p>
            <a:pPr marL="342900" indent="-342900">
              <a:spcAft>
                <a:spcPts val="200"/>
              </a:spcAft>
              <a:buSzPct val="100000"/>
              <a:buChar char="•"/>
            </a:pPr>
            <a:r>
              <a:rPr lang="en-US" sz="1400" dirty="0">
                <a:solidFill>
                  <a:schemeClr val="tx1"/>
                </a:solidFill>
              </a:rPr>
              <a:t>Hour</a:t>
            </a:r>
            <a:endParaRPr lang="en-US" sz="1400" dirty="0"/>
          </a:p>
          <a:p>
            <a:pPr marL="342900" indent="-342900">
              <a:spcAft>
                <a:spcPts val="200"/>
              </a:spcAft>
              <a:buSzPct val="100000"/>
              <a:buChar char="•"/>
            </a:pPr>
            <a:r>
              <a:rPr lang="en-US" sz="1400" dirty="0">
                <a:solidFill>
                  <a:schemeClr val="tx1"/>
                </a:solidFill>
              </a:rPr>
              <a:t>Time of Day</a:t>
            </a:r>
            <a:endParaRPr lang="en-US" sz="1400" dirty="0"/>
          </a:p>
        </p:txBody>
      </p:sp>
      <p:sp>
        <p:nvSpPr>
          <p:cNvPr id="9" name="group card Calendar"/>
          <p:cNvSpPr/>
          <p:nvPr/>
        </p:nvSpPr>
        <p:spPr>
          <a:xfrm>
            <a:off x="2560320" y="1417320"/>
            <a:ext cx="1920240" cy="2514600"/>
          </a:xfrm>
          <a:prstGeom prst="roundRect">
            <a:avLst>
              <a:gd name="adj" fmla="val 3810"/>
            </a:avLst>
          </a:prstGeom>
          <a:solidFill>
            <a:schemeClr val="bg2"/>
          </a:solidFill>
          <a:ln w="12700">
            <a:solidFill>
              <a:schemeClr val="bg2"/>
            </a:solidFill>
            <a:prstDash val="solid"/>
          </a:ln>
        </p:spPr>
      </p:sp>
      <p:sp>
        <p:nvSpPr>
          <p:cNvPr id="10" name="icon bg Calendar"/>
          <p:cNvSpPr/>
          <p:nvPr/>
        </p:nvSpPr>
        <p:spPr>
          <a:xfrm>
            <a:off x="2743200" y="1600200"/>
            <a:ext cx="502920" cy="502920"/>
          </a:xfrm>
          <a:prstGeom prst="ellipse">
            <a:avLst/>
          </a:prstGeom>
          <a:solidFill>
            <a:srgbClr val="F26B4F"/>
          </a:solidFill>
          <a:ln w="12700">
            <a:solidFill>
              <a:srgbClr val="F26B4F"/>
            </a:solidFill>
            <a:prstDash val="solid"/>
          </a:ln>
        </p:spPr>
      </p:sp>
      <p:pic>
        <p:nvPicPr>
          <p:cNvPr id="11" name="icon Calendar" descr="Calendar"/>
          <p:cNvPicPr>
            <a:picLocks noChangeAspect="1"/>
          </p:cNvPicPr>
          <p:nvPr/>
        </p:nvPicPr>
        <p:blipFill>
          <a:blip r:embed="rId6"/>
          <a:stretch>
            <a:fillRect/>
          </a:stretch>
        </p:blipFill>
        <p:spPr>
          <a:xfrm>
            <a:off x="2868930" y="1725930"/>
            <a:ext cx="251460" cy="251460"/>
          </a:xfrm>
          <a:prstGeom prst="rect">
            <a:avLst/>
          </a:prstGeom>
        </p:spPr>
      </p:pic>
      <p:sp>
        <p:nvSpPr>
          <p:cNvPr id="12" name="Text 8"/>
          <p:cNvSpPr txBox="1"/>
          <p:nvPr/>
        </p:nvSpPr>
        <p:spPr>
          <a:xfrm>
            <a:off x="2743200" y="2194560"/>
            <a:ext cx="1645920" cy="320040"/>
          </a:xfrm>
          <a:prstGeom prst="rect">
            <a:avLst/>
          </a:prstGeom>
          <a:noFill/>
          <a:ln/>
        </p:spPr>
        <p:txBody>
          <a:bodyPr wrap="square" lIns="0" tIns="0" rIns="0" bIns="0" rtlCol="0" anchor="ctr"/>
          <a:lstStyle/>
          <a:p>
            <a:pPr marL="0" indent="0">
              <a:buNone/>
            </a:pPr>
            <a:r>
              <a:rPr lang="en-US" sz="1600" b="1" dirty="0">
                <a:solidFill>
                  <a:schemeClr val="tx2"/>
                </a:solidFill>
              </a:rPr>
              <a:t>Calendar</a:t>
            </a:r>
            <a:endParaRPr lang="en-US" sz="1600" dirty="0"/>
          </a:p>
        </p:txBody>
      </p:sp>
      <p:sp>
        <p:nvSpPr>
          <p:cNvPr id="13" name="Text 9"/>
          <p:cNvSpPr txBox="1"/>
          <p:nvPr/>
        </p:nvSpPr>
        <p:spPr>
          <a:xfrm>
            <a:off x="2743200" y="2560320"/>
            <a:ext cx="1645920" cy="128016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tx1"/>
                </a:solidFill>
              </a:rPr>
              <a:t>Weekday</a:t>
            </a:r>
            <a:endParaRPr lang="en-US" sz="1400" dirty="0"/>
          </a:p>
          <a:p>
            <a:pPr marL="342900" indent="-342900">
              <a:spcAft>
                <a:spcPts val="200"/>
              </a:spcAft>
              <a:buSzPct val="100000"/>
              <a:buChar char="•"/>
            </a:pPr>
            <a:r>
              <a:rPr lang="en-US" sz="1400" dirty="0">
                <a:solidFill>
                  <a:schemeClr val="tx1"/>
                </a:solidFill>
              </a:rPr>
              <a:t>Holiday</a:t>
            </a:r>
            <a:endParaRPr lang="en-US" sz="1400" dirty="0"/>
          </a:p>
        </p:txBody>
      </p:sp>
      <p:sp>
        <p:nvSpPr>
          <p:cNvPr id="14" name="group card Weather"/>
          <p:cNvSpPr/>
          <p:nvPr/>
        </p:nvSpPr>
        <p:spPr>
          <a:xfrm>
            <a:off x="4663440" y="1417320"/>
            <a:ext cx="1920240" cy="2514600"/>
          </a:xfrm>
          <a:prstGeom prst="roundRect">
            <a:avLst>
              <a:gd name="adj" fmla="val 3810"/>
            </a:avLst>
          </a:prstGeom>
          <a:solidFill>
            <a:schemeClr val="bg2"/>
          </a:solidFill>
          <a:ln w="12700">
            <a:solidFill>
              <a:schemeClr val="bg2"/>
            </a:solidFill>
            <a:prstDash val="solid"/>
          </a:ln>
        </p:spPr>
      </p:sp>
      <p:sp>
        <p:nvSpPr>
          <p:cNvPr id="15" name="icon bg Weather"/>
          <p:cNvSpPr/>
          <p:nvPr/>
        </p:nvSpPr>
        <p:spPr>
          <a:xfrm>
            <a:off x="4846320" y="1600200"/>
            <a:ext cx="502920" cy="502920"/>
          </a:xfrm>
          <a:prstGeom prst="ellipse">
            <a:avLst/>
          </a:prstGeom>
          <a:solidFill>
            <a:srgbClr val="0E7C7B"/>
          </a:solidFill>
          <a:ln w="12700">
            <a:solidFill>
              <a:srgbClr val="0E7C7B"/>
            </a:solidFill>
            <a:prstDash val="solid"/>
          </a:ln>
        </p:spPr>
      </p:sp>
      <p:pic>
        <p:nvPicPr>
          <p:cNvPr id="16" name="icon Weather" descr="Weather"/>
          <p:cNvPicPr>
            <a:picLocks noChangeAspect="1"/>
          </p:cNvPicPr>
          <p:nvPr/>
        </p:nvPicPr>
        <p:blipFill>
          <a:blip r:embed="rId7"/>
          <a:stretch>
            <a:fillRect/>
          </a:stretch>
        </p:blipFill>
        <p:spPr>
          <a:xfrm>
            <a:off x="4972050" y="1725930"/>
            <a:ext cx="251460" cy="251460"/>
          </a:xfrm>
          <a:prstGeom prst="rect">
            <a:avLst/>
          </a:prstGeom>
        </p:spPr>
      </p:pic>
      <p:sp>
        <p:nvSpPr>
          <p:cNvPr id="17" name="Text 12"/>
          <p:cNvSpPr txBox="1"/>
          <p:nvPr/>
        </p:nvSpPr>
        <p:spPr>
          <a:xfrm>
            <a:off x="4846320" y="2194560"/>
            <a:ext cx="1645920" cy="320040"/>
          </a:xfrm>
          <a:prstGeom prst="rect">
            <a:avLst/>
          </a:prstGeom>
          <a:noFill/>
          <a:ln/>
        </p:spPr>
        <p:txBody>
          <a:bodyPr wrap="square" lIns="0" tIns="0" rIns="0" bIns="0" rtlCol="0" anchor="ctr"/>
          <a:lstStyle/>
          <a:p>
            <a:pPr marL="0" indent="0">
              <a:buNone/>
            </a:pPr>
            <a:r>
              <a:rPr lang="en-US" sz="1600" b="1" dirty="0">
                <a:solidFill>
                  <a:schemeClr val="tx2"/>
                </a:solidFill>
              </a:rPr>
              <a:t>Weather</a:t>
            </a:r>
            <a:endParaRPr lang="en-US" sz="1600" dirty="0"/>
          </a:p>
        </p:txBody>
      </p:sp>
      <p:sp>
        <p:nvSpPr>
          <p:cNvPr id="18" name="Text 13"/>
          <p:cNvSpPr txBox="1"/>
          <p:nvPr/>
        </p:nvSpPr>
        <p:spPr>
          <a:xfrm>
            <a:off x="4846320" y="2560320"/>
            <a:ext cx="1645920" cy="128016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tx1"/>
                </a:solidFill>
              </a:rPr>
              <a:t>Weather type</a:t>
            </a:r>
            <a:endParaRPr lang="en-US" sz="1400" dirty="0"/>
          </a:p>
          <a:p>
            <a:pPr marL="342900" indent="-342900">
              <a:spcAft>
                <a:spcPts val="200"/>
              </a:spcAft>
              <a:buSzPct val="100000"/>
              <a:buChar char="•"/>
            </a:pPr>
            <a:r>
              <a:rPr lang="en-US" sz="1400" dirty="0">
                <a:solidFill>
                  <a:schemeClr val="tx1"/>
                </a:solidFill>
              </a:rPr>
              <a:t>Temperature</a:t>
            </a:r>
            <a:endParaRPr lang="en-US" sz="1400" dirty="0"/>
          </a:p>
          <a:p>
            <a:pPr marL="342900" indent="-342900">
              <a:spcAft>
                <a:spcPts val="200"/>
              </a:spcAft>
              <a:buSzPct val="100000"/>
              <a:buChar char="•"/>
            </a:pPr>
            <a:r>
              <a:rPr lang="en-US" sz="1400" dirty="0">
                <a:solidFill>
                  <a:schemeClr val="tx1"/>
                </a:solidFill>
              </a:rPr>
              <a:t>Feels-like temp</a:t>
            </a:r>
            <a:endParaRPr lang="en-US" sz="1400" dirty="0"/>
          </a:p>
          <a:p>
            <a:pPr marL="342900" indent="-342900">
              <a:spcAft>
                <a:spcPts val="200"/>
              </a:spcAft>
              <a:buSzPct val="100000"/>
              <a:buChar char="•"/>
            </a:pPr>
            <a:r>
              <a:rPr lang="en-US" sz="1400" dirty="0">
                <a:solidFill>
                  <a:schemeClr val="tx1"/>
                </a:solidFill>
              </a:rPr>
              <a:t>Humidity</a:t>
            </a:r>
            <a:endParaRPr lang="en-US" sz="1400" dirty="0"/>
          </a:p>
          <a:p>
            <a:pPr marL="342900" indent="-342900">
              <a:spcAft>
                <a:spcPts val="200"/>
              </a:spcAft>
              <a:buSzPct val="100000"/>
              <a:buChar char="•"/>
            </a:pPr>
            <a:r>
              <a:rPr lang="en-US" sz="1400" dirty="0">
                <a:solidFill>
                  <a:schemeClr val="tx1"/>
                </a:solidFill>
              </a:rPr>
              <a:t>Wind speed</a:t>
            </a:r>
            <a:endParaRPr lang="en-US" sz="1400" dirty="0"/>
          </a:p>
        </p:txBody>
      </p:sp>
      <p:sp>
        <p:nvSpPr>
          <p:cNvPr id="19" name="group card Riders"/>
          <p:cNvSpPr/>
          <p:nvPr/>
        </p:nvSpPr>
        <p:spPr>
          <a:xfrm>
            <a:off x="6766560" y="1417320"/>
            <a:ext cx="1920240" cy="2514600"/>
          </a:xfrm>
          <a:prstGeom prst="roundRect">
            <a:avLst>
              <a:gd name="adj" fmla="val 3810"/>
            </a:avLst>
          </a:prstGeom>
          <a:solidFill>
            <a:schemeClr val="bg2"/>
          </a:solidFill>
          <a:ln w="12700">
            <a:solidFill>
              <a:schemeClr val="bg2"/>
            </a:solidFill>
            <a:prstDash val="solid"/>
          </a:ln>
        </p:spPr>
      </p:sp>
      <p:sp>
        <p:nvSpPr>
          <p:cNvPr id="20" name="icon bg Riders"/>
          <p:cNvSpPr/>
          <p:nvPr/>
        </p:nvSpPr>
        <p:spPr>
          <a:xfrm>
            <a:off x="6949440" y="1600200"/>
            <a:ext cx="502920" cy="502920"/>
          </a:xfrm>
          <a:prstGeom prst="ellipse">
            <a:avLst/>
          </a:prstGeom>
          <a:solidFill>
            <a:srgbClr val="F26B4F"/>
          </a:solidFill>
          <a:ln w="12700">
            <a:solidFill>
              <a:srgbClr val="F26B4F"/>
            </a:solidFill>
            <a:prstDash val="solid"/>
          </a:ln>
        </p:spPr>
      </p:sp>
      <p:pic>
        <p:nvPicPr>
          <p:cNvPr id="21" name="icon Riders" descr="Riders"/>
          <p:cNvPicPr>
            <a:picLocks noChangeAspect="1"/>
          </p:cNvPicPr>
          <p:nvPr/>
        </p:nvPicPr>
        <p:blipFill>
          <a:blip r:embed="rId8"/>
          <a:stretch>
            <a:fillRect/>
          </a:stretch>
        </p:blipFill>
        <p:spPr>
          <a:xfrm>
            <a:off x="7075170" y="1725930"/>
            <a:ext cx="251460" cy="251460"/>
          </a:xfrm>
          <a:prstGeom prst="rect">
            <a:avLst/>
          </a:prstGeom>
        </p:spPr>
      </p:pic>
      <p:sp>
        <p:nvSpPr>
          <p:cNvPr id="22" name="Text 16"/>
          <p:cNvSpPr txBox="1"/>
          <p:nvPr/>
        </p:nvSpPr>
        <p:spPr>
          <a:xfrm>
            <a:off x="6949440" y="2194560"/>
            <a:ext cx="1645920" cy="320040"/>
          </a:xfrm>
          <a:prstGeom prst="rect">
            <a:avLst/>
          </a:prstGeom>
          <a:noFill/>
          <a:ln/>
        </p:spPr>
        <p:txBody>
          <a:bodyPr wrap="square" lIns="0" tIns="0" rIns="0" bIns="0" rtlCol="0" anchor="ctr"/>
          <a:lstStyle/>
          <a:p>
            <a:pPr marL="0" indent="0">
              <a:buNone/>
            </a:pPr>
            <a:r>
              <a:rPr lang="en-US" sz="1600" b="1" dirty="0">
                <a:solidFill>
                  <a:schemeClr val="tx2"/>
                </a:solidFill>
              </a:rPr>
              <a:t>Riders</a:t>
            </a:r>
            <a:endParaRPr lang="en-US" sz="1600" dirty="0"/>
          </a:p>
        </p:txBody>
      </p:sp>
      <p:sp>
        <p:nvSpPr>
          <p:cNvPr id="23" name="Text 17"/>
          <p:cNvSpPr txBox="1"/>
          <p:nvPr/>
        </p:nvSpPr>
        <p:spPr>
          <a:xfrm>
            <a:off x="6949440" y="2560320"/>
            <a:ext cx="1645920" cy="128016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tx1"/>
                </a:solidFill>
              </a:rPr>
              <a:t>Casual</a:t>
            </a:r>
            <a:endParaRPr lang="en-US" sz="1400" dirty="0"/>
          </a:p>
          <a:p>
            <a:pPr marL="342900" indent="-342900">
              <a:spcAft>
                <a:spcPts val="200"/>
              </a:spcAft>
              <a:buSzPct val="100000"/>
              <a:buChar char="•"/>
            </a:pPr>
            <a:r>
              <a:rPr lang="en-US" sz="1400" dirty="0">
                <a:solidFill>
                  <a:schemeClr val="tx1"/>
                </a:solidFill>
              </a:rPr>
              <a:t>Registered</a:t>
            </a:r>
            <a:endParaRPr lang="en-US" sz="1400" dirty="0"/>
          </a:p>
          <a:p>
            <a:pPr marL="342900" indent="-342900">
              <a:spcAft>
                <a:spcPts val="200"/>
              </a:spcAft>
              <a:buSzPct val="100000"/>
              <a:buChar char="•"/>
            </a:pPr>
            <a:r>
              <a:rPr lang="en-US" sz="1400" dirty="0">
                <a:solidFill>
                  <a:schemeClr val="tx1"/>
                </a:solidFill>
              </a:rPr>
              <a:t>Total count</a:t>
            </a:r>
            <a:endParaRPr lang="en-US" sz="1400" dirty="0"/>
          </a:p>
        </p:txBody>
      </p:sp>
      <p:sp>
        <p:nvSpPr>
          <p:cNvPr id="24" name="Text 18"/>
          <p:cNvSpPr txBox="1"/>
          <p:nvPr/>
        </p:nvSpPr>
        <p:spPr>
          <a:xfrm>
            <a:off x="457200" y="4114800"/>
            <a:ext cx="8229600" cy="548640"/>
          </a:xfrm>
          <a:prstGeom prst="rect">
            <a:avLst/>
          </a:prstGeom>
          <a:noFill/>
          <a:ln/>
        </p:spPr>
        <p:txBody>
          <a:bodyPr wrap="square" lIns="0" tIns="0" rIns="0" bIns="0" rtlCol="0" anchor="ctr"/>
          <a:lstStyle/>
          <a:p>
            <a:pPr marL="0" indent="0">
              <a:buNone/>
            </a:pPr>
            <a:r>
              <a:rPr lang="en-US" sz="1400" dirty="0">
                <a:solidFill>
                  <a:schemeClr val="tx1"/>
                </a:solidFill>
              </a:rPr>
              <a:t>Weather type has four values: Clear Weather, Light Rain, Heavy Rain and Thunderstorm. Temperature, humidity and wind speed are scaled between 0 and 1.</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B79"/>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37765468-3D80-E9E6-DA6F-9737D5A6BFC1}"/>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0" y="0"/>
            <a:ext cx="9143999" cy="5143500"/>
          </a:xfrm>
          <a:prstGeom prst="rect">
            <a:avLst/>
          </a:prstGeom>
        </p:spPr>
      </p:pic>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3000" b="1" dirty="0">
                <a:solidFill>
                  <a:schemeClr val="tx2"/>
                </a:solidFill>
              </a:rPr>
              <a:t>Headline numbers</a:t>
            </a:r>
            <a:endParaRPr lang="en-US" sz="3000" dirty="0"/>
          </a:p>
        </p:txBody>
      </p:sp>
      <p:sp>
        <p:nvSpPr>
          <p:cNvPr id="3" name="takeaway"/>
          <p:cNvSpPr txBox="1"/>
          <p:nvPr/>
        </p:nvSpPr>
        <p:spPr>
          <a:xfrm>
            <a:off x="457200" y="896112"/>
            <a:ext cx="8229600" cy="365760"/>
          </a:xfrm>
          <a:prstGeom prst="rect">
            <a:avLst/>
          </a:prstGeom>
          <a:noFill/>
          <a:ln/>
        </p:spPr>
        <p:txBody>
          <a:bodyPr wrap="square" lIns="0" tIns="0" rIns="0" bIns="0" rtlCol="0" anchor="ctr"/>
          <a:lstStyle/>
          <a:p>
            <a:pPr marL="0" indent="0">
              <a:buNone/>
            </a:pPr>
            <a:r>
              <a:rPr lang="en-US" sz="1400" dirty="0">
                <a:solidFill>
                  <a:schemeClr val="tx1"/>
                </a:solidFill>
              </a:rPr>
              <a:t>Registered riders account for almost 92% of all rentals.</a:t>
            </a:r>
            <a:endParaRPr lang="en-US" sz="1400" dirty="0"/>
          </a:p>
        </p:txBody>
      </p:sp>
      <p:sp>
        <p:nvSpPr>
          <p:cNvPr id="4" name="kpi total rentals"/>
          <p:cNvSpPr/>
          <p:nvPr/>
        </p:nvSpPr>
        <p:spPr>
          <a:xfrm>
            <a:off x="457200" y="1463040"/>
            <a:ext cx="2194560" cy="1417320"/>
          </a:xfrm>
          <a:prstGeom prst="roundRect">
            <a:avLst>
              <a:gd name="adj" fmla="val 5161"/>
            </a:avLst>
          </a:prstGeom>
          <a:solidFill>
            <a:schemeClr val="bg2"/>
          </a:solidFill>
          <a:ln w="12700">
            <a:solidFill>
              <a:schemeClr val="bg2"/>
            </a:solidFill>
            <a:prstDash val="solid"/>
          </a:ln>
        </p:spPr>
      </p:sp>
      <p:sp>
        <p:nvSpPr>
          <p:cNvPr id="5" name="Text 3"/>
          <p:cNvSpPr txBox="1"/>
          <p:nvPr/>
        </p:nvSpPr>
        <p:spPr>
          <a:xfrm>
            <a:off x="640080" y="1645920"/>
            <a:ext cx="1828800" cy="640080"/>
          </a:xfrm>
          <a:prstGeom prst="rect">
            <a:avLst/>
          </a:prstGeom>
          <a:noFill/>
          <a:ln/>
        </p:spPr>
        <p:txBody>
          <a:bodyPr wrap="square" lIns="0" tIns="0" rIns="0" bIns="0" rtlCol="0" anchor="ctr"/>
          <a:lstStyle/>
          <a:p>
            <a:pPr marL="0" indent="0">
              <a:buNone/>
            </a:pPr>
            <a:r>
              <a:rPr lang="en-US" sz="3200" b="1" dirty="0">
                <a:solidFill>
                  <a:schemeClr val="accent1"/>
                </a:solidFill>
              </a:rPr>
              <a:t>58,304</a:t>
            </a:r>
            <a:endParaRPr lang="en-US" sz="3200" dirty="0"/>
          </a:p>
        </p:txBody>
      </p:sp>
      <p:sp>
        <p:nvSpPr>
          <p:cNvPr id="6" name="Text 4"/>
          <p:cNvSpPr txBox="1"/>
          <p:nvPr/>
        </p:nvSpPr>
        <p:spPr>
          <a:xfrm>
            <a:off x="640080" y="2331720"/>
            <a:ext cx="1828800" cy="411480"/>
          </a:xfrm>
          <a:prstGeom prst="rect">
            <a:avLst/>
          </a:prstGeom>
          <a:noFill/>
          <a:ln/>
        </p:spPr>
        <p:txBody>
          <a:bodyPr wrap="square" lIns="0" tIns="0" rIns="0" bIns="0" rtlCol="0" anchor="t"/>
          <a:lstStyle/>
          <a:p>
            <a:pPr marL="0" indent="0">
              <a:buNone/>
            </a:pPr>
            <a:r>
              <a:rPr lang="en-US" sz="1400" dirty="0">
                <a:solidFill>
                  <a:schemeClr val="tx1"/>
                </a:solidFill>
              </a:rPr>
              <a:t>total rentals</a:t>
            </a:r>
            <a:endParaRPr lang="en-US" sz="1400" dirty="0"/>
          </a:p>
        </p:txBody>
      </p:sp>
      <p:sp>
        <p:nvSpPr>
          <p:cNvPr id="7" name="kpi average rentals per hour"/>
          <p:cNvSpPr/>
          <p:nvPr/>
        </p:nvSpPr>
        <p:spPr>
          <a:xfrm>
            <a:off x="2834640" y="1463040"/>
            <a:ext cx="2194560" cy="1417320"/>
          </a:xfrm>
          <a:prstGeom prst="roundRect">
            <a:avLst>
              <a:gd name="adj" fmla="val 5161"/>
            </a:avLst>
          </a:prstGeom>
          <a:solidFill>
            <a:schemeClr val="bg2"/>
          </a:solidFill>
          <a:ln w="12700">
            <a:solidFill>
              <a:schemeClr val="bg2"/>
            </a:solidFill>
            <a:prstDash val="solid"/>
          </a:ln>
        </p:spPr>
      </p:sp>
      <p:sp>
        <p:nvSpPr>
          <p:cNvPr id="8" name="Text 6"/>
          <p:cNvSpPr txBox="1"/>
          <p:nvPr/>
        </p:nvSpPr>
        <p:spPr>
          <a:xfrm>
            <a:off x="3017520" y="1645920"/>
            <a:ext cx="1828800" cy="640080"/>
          </a:xfrm>
          <a:prstGeom prst="rect">
            <a:avLst/>
          </a:prstGeom>
          <a:noFill/>
          <a:ln/>
        </p:spPr>
        <p:txBody>
          <a:bodyPr wrap="square" lIns="0" tIns="0" rIns="0" bIns="0" rtlCol="0" anchor="ctr"/>
          <a:lstStyle/>
          <a:p>
            <a:pPr marL="0" indent="0">
              <a:buNone/>
            </a:pPr>
            <a:r>
              <a:rPr lang="en-US" sz="3200" b="1" dirty="0">
                <a:solidFill>
                  <a:schemeClr val="accent1"/>
                </a:solidFill>
              </a:rPr>
              <a:t>58.3</a:t>
            </a:r>
            <a:endParaRPr lang="en-US" sz="3200" dirty="0"/>
          </a:p>
        </p:txBody>
      </p:sp>
      <p:sp>
        <p:nvSpPr>
          <p:cNvPr id="9" name="Text 7"/>
          <p:cNvSpPr txBox="1"/>
          <p:nvPr/>
        </p:nvSpPr>
        <p:spPr>
          <a:xfrm>
            <a:off x="3017520" y="2331720"/>
            <a:ext cx="1828800" cy="411480"/>
          </a:xfrm>
          <a:prstGeom prst="rect">
            <a:avLst/>
          </a:prstGeom>
          <a:noFill/>
          <a:ln/>
        </p:spPr>
        <p:txBody>
          <a:bodyPr wrap="square" lIns="0" tIns="0" rIns="0" bIns="0" rtlCol="0" anchor="t"/>
          <a:lstStyle/>
          <a:p>
            <a:pPr marL="0" indent="0">
              <a:buNone/>
            </a:pPr>
            <a:r>
              <a:rPr lang="en-US" sz="1400" dirty="0">
                <a:solidFill>
                  <a:schemeClr val="tx1"/>
                </a:solidFill>
              </a:rPr>
              <a:t>average rentals per hour</a:t>
            </a:r>
            <a:endParaRPr lang="en-US" sz="1400" dirty="0"/>
          </a:p>
        </p:txBody>
      </p:sp>
      <p:sp>
        <p:nvSpPr>
          <p:cNvPr id="10" name="kpi peak hour: 8 AM on 20 Jan"/>
          <p:cNvSpPr/>
          <p:nvPr/>
        </p:nvSpPr>
        <p:spPr>
          <a:xfrm>
            <a:off x="457200" y="3063240"/>
            <a:ext cx="2194560" cy="1417320"/>
          </a:xfrm>
          <a:prstGeom prst="roundRect">
            <a:avLst>
              <a:gd name="adj" fmla="val 5161"/>
            </a:avLst>
          </a:prstGeom>
          <a:solidFill>
            <a:schemeClr val="bg2"/>
          </a:solidFill>
          <a:ln w="12700">
            <a:solidFill>
              <a:schemeClr val="bg2"/>
            </a:solidFill>
            <a:prstDash val="solid"/>
          </a:ln>
        </p:spPr>
      </p:sp>
      <p:sp>
        <p:nvSpPr>
          <p:cNvPr id="11" name="Text 9"/>
          <p:cNvSpPr txBox="1"/>
          <p:nvPr/>
        </p:nvSpPr>
        <p:spPr>
          <a:xfrm>
            <a:off x="640080" y="3246120"/>
            <a:ext cx="1828800" cy="640080"/>
          </a:xfrm>
          <a:prstGeom prst="rect">
            <a:avLst/>
          </a:prstGeom>
          <a:noFill/>
          <a:ln/>
        </p:spPr>
        <p:txBody>
          <a:bodyPr wrap="square" lIns="0" tIns="0" rIns="0" bIns="0" rtlCol="0" anchor="ctr"/>
          <a:lstStyle/>
          <a:p>
            <a:pPr marL="0" indent="0">
              <a:buNone/>
            </a:pPr>
            <a:r>
              <a:rPr lang="en-US" sz="3200" b="1" dirty="0">
                <a:solidFill>
                  <a:schemeClr val="accent1"/>
                </a:solidFill>
              </a:rPr>
              <a:t>249</a:t>
            </a:r>
            <a:endParaRPr lang="en-US" sz="3200" dirty="0"/>
          </a:p>
        </p:txBody>
      </p:sp>
      <p:sp>
        <p:nvSpPr>
          <p:cNvPr id="12" name="Text 10"/>
          <p:cNvSpPr txBox="1"/>
          <p:nvPr/>
        </p:nvSpPr>
        <p:spPr>
          <a:xfrm>
            <a:off x="640080" y="3931920"/>
            <a:ext cx="1828800" cy="411480"/>
          </a:xfrm>
          <a:prstGeom prst="rect">
            <a:avLst/>
          </a:prstGeom>
          <a:noFill/>
          <a:ln/>
        </p:spPr>
        <p:txBody>
          <a:bodyPr wrap="square" lIns="0" tIns="0" rIns="0" bIns="0" rtlCol="0" anchor="t"/>
          <a:lstStyle/>
          <a:p>
            <a:pPr marL="0" indent="0">
              <a:buNone/>
            </a:pPr>
            <a:r>
              <a:rPr lang="en-US" sz="1400" dirty="0">
                <a:solidFill>
                  <a:schemeClr val="tx1"/>
                </a:solidFill>
              </a:rPr>
              <a:t>peak hour: 8 AM on 20 Jan</a:t>
            </a:r>
            <a:endParaRPr lang="en-US" sz="1400" dirty="0"/>
          </a:p>
        </p:txBody>
      </p:sp>
      <p:sp>
        <p:nvSpPr>
          <p:cNvPr id="13" name="kpi registered riders"/>
          <p:cNvSpPr/>
          <p:nvPr/>
        </p:nvSpPr>
        <p:spPr>
          <a:xfrm>
            <a:off x="2834640" y="3063240"/>
            <a:ext cx="2194560" cy="1417320"/>
          </a:xfrm>
          <a:prstGeom prst="roundRect">
            <a:avLst>
              <a:gd name="adj" fmla="val 5161"/>
            </a:avLst>
          </a:prstGeom>
          <a:solidFill>
            <a:schemeClr val="bg2"/>
          </a:solidFill>
          <a:ln w="12700">
            <a:solidFill>
              <a:schemeClr val="bg2"/>
            </a:solidFill>
            <a:prstDash val="solid"/>
          </a:ln>
        </p:spPr>
      </p:sp>
      <p:sp>
        <p:nvSpPr>
          <p:cNvPr id="14" name="Text 12"/>
          <p:cNvSpPr txBox="1"/>
          <p:nvPr/>
        </p:nvSpPr>
        <p:spPr>
          <a:xfrm>
            <a:off x="3017520" y="3246120"/>
            <a:ext cx="1828800" cy="640080"/>
          </a:xfrm>
          <a:prstGeom prst="rect">
            <a:avLst/>
          </a:prstGeom>
          <a:noFill/>
          <a:ln/>
        </p:spPr>
        <p:txBody>
          <a:bodyPr wrap="square" lIns="0" tIns="0" rIns="0" bIns="0" rtlCol="0" anchor="ctr"/>
          <a:lstStyle/>
          <a:p>
            <a:pPr marL="0" indent="0">
              <a:buNone/>
            </a:pPr>
            <a:r>
              <a:rPr lang="en-US" sz="3200" b="1" dirty="0">
                <a:solidFill>
                  <a:schemeClr val="accent2"/>
                </a:solidFill>
              </a:rPr>
              <a:t>91.6%</a:t>
            </a:r>
            <a:endParaRPr lang="en-US" sz="3200" dirty="0"/>
          </a:p>
        </p:txBody>
      </p:sp>
      <p:sp>
        <p:nvSpPr>
          <p:cNvPr id="15" name="Text 13"/>
          <p:cNvSpPr txBox="1"/>
          <p:nvPr/>
        </p:nvSpPr>
        <p:spPr>
          <a:xfrm>
            <a:off x="3017520" y="3931920"/>
            <a:ext cx="1828800" cy="411480"/>
          </a:xfrm>
          <a:prstGeom prst="rect">
            <a:avLst/>
          </a:prstGeom>
          <a:noFill/>
          <a:ln/>
        </p:spPr>
        <p:txBody>
          <a:bodyPr wrap="square" lIns="0" tIns="0" rIns="0" bIns="0" rtlCol="0" anchor="t"/>
          <a:lstStyle/>
          <a:p>
            <a:pPr marL="0" indent="0">
              <a:buNone/>
            </a:pPr>
            <a:r>
              <a:rPr lang="en-US" sz="1400" dirty="0">
                <a:solidFill>
                  <a:schemeClr val="tx1"/>
                </a:solidFill>
              </a:rPr>
              <a:t>registered riders</a:t>
            </a:r>
            <a:endParaRPr lang="en-US" sz="1400" dirty="0"/>
          </a:p>
        </p:txBody>
      </p:sp>
      <p:graphicFrame>
        <p:nvGraphicFramePr>
          <p:cNvPr id="16" name="Chart 0"/>
          <p:cNvGraphicFramePr/>
          <p:nvPr/>
        </p:nvGraphicFramePr>
        <p:xfrm>
          <a:off x="5394960" y="1371600"/>
          <a:ext cx="3291840" cy="3291840"/>
        </p:xfrm>
        <a:graphic>
          <a:graphicData uri="http://schemas.openxmlformats.org/drawingml/2006/chart">
            <c:chart xmlns:c="http://schemas.openxmlformats.org/drawingml/2006/chart" xmlns:r="http://schemas.openxmlformats.org/officeDocument/2006/relationships" r:id="rId5"/>
          </a:graphicData>
        </a:graphic>
      </p:graphicFrame>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B79"/>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611E77D3-C73E-ABA4-6D5B-B006D36DF615}"/>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0" y="0"/>
            <a:ext cx="9143999" cy="5143500"/>
          </a:xfrm>
          <a:prstGeom prst="rect">
            <a:avLst/>
          </a:prstGeom>
        </p:spPr>
      </p:pic>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3000" b="1" dirty="0">
                <a:solidFill>
                  <a:schemeClr val="tx2"/>
                </a:solidFill>
              </a:rPr>
              <a:t>Demand by hour of day</a:t>
            </a:r>
            <a:endParaRPr lang="en-US" sz="3000" dirty="0"/>
          </a:p>
        </p:txBody>
      </p:sp>
      <p:sp>
        <p:nvSpPr>
          <p:cNvPr id="3" name="takeaway"/>
          <p:cNvSpPr txBox="1"/>
          <p:nvPr/>
        </p:nvSpPr>
        <p:spPr>
          <a:xfrm>
            <a:off x="457200" y="896112"/>
            <a:ext cx="8229600" cy="365760"/>
          </a:xfrm>
          <a:prstGeom prst="rect">
            <a:avLst/>
          </a:prstGeom>
          <a:noFill/>
          <a:ln/>
        </p:spPr>
        <p:txBody>
          <a:bodyPr wrap="square" lIns="0" tIns="0" rIns="0" bIns="0" rtlCol="0" anchor="ctr"/>
          <a:lstStyle/>
          <a:p>
            <a:pPr marL="0" indent="0">
              <a:buNone/>
            </a:pPr>
            <a:r>
              <a:rPr lang="en-US" sz="1400" dirty="0">
                <a:solidFill>
                  <a:schemeClr val="tx1"/>
                </a:solidFill>
              </a:rPr>
              <a:t>Two commute peaks: around 8 AM and 5 PM.</a:t>
            </a:r>
            <a:endParaRPr lang="en-US" sz="1400" dirty="0"/>
          </a:p>
        </p:txBody>
      </p:sp>
      <p:graphicFrame>
        <p:nvGraphicFramePr>
          <p:cNvPr id="4" name="Chart 0"/>
          <p:cNvGraphicFramePr/>
          <p:nvPr/>
        </p:nvGraphicFramePr>
        <p:xfrm>
          <a:off x="365760" y="1325880"/>
          <a:ext cx="5943600" cy="3383280"/>
        </p:xfrm>
        <a:graphic>
          <a:graphicData uri="http://schemas.openxmlformats.org/drawingml/2006/chart">
            <c:chart xmlns:c="http://schemas.openxmlformats.org/drawingml/2006/chart" xmlns:r="http://schemas.openxmlformats.org/officeDocument/2006/relationships" r:id="rId5"/>
          </a:graphicData>
        </a:graphic>
      </p:graphicFrame>
      <p:sp>
        <p:nvSpPr>
          <p:cNvPr id="5" name="peak tile 0"/>
          <p:cNvSpPr/>
          <p:nvPr/>
        </p:nvSpPr>
        <p:spPr>
          <a:xfrm>
            <a:off x="6537960" y="1463040"/>
            <a:ext cx="2148840" cy="914400"/>
          </a:xfrm>
          <a:prstGeom prst="roundRect">
            <a:avLst>
              <a:gd name="adj" fmla="val 8000"/>
            </a:avLst>
          </a:prstGeom>
          <a:solidFill>
            <a:schemeClr val="bg2"/>
          </a:solidFill>
          <a:ln w="12700">
            <a:solidFill>
              <a:schemeClr val="bg2"/>
            </a:solidFill>
            <a:prstDash val="solid"/>
          </a:ln>
        </p:spPr>
      </p:sp>
      <p:sp>
        <p:nvSpPr>
          <p:cNvPr id="6" name="Text 3"/>
          <p:cNvSpPr txBox="1"/>
          <p:nvPr/>
        </p:nvSpPr>
        <p:spPr>
          <a:xfrm>
            <a:off x="6675120" y="1463040"/>
            <a:ext cx="1874520" cy="457200"/>
          </a:xfrm>
          <a:prstGeom prst="rect">
            <a:avLst/>
          </a:prstGeom>
          <a:noFill/>
          <a:ln/>
        </p:spPr>
        <p:txBody>
          <a:bodyPr wrap="square" lIns="0" tIns="0" rIns="0" bIns="0" rtlCol="0" anchor="b"/>
          <a:lstStyle/>
          <a:p>
            <a:pPr marL="0" indent="0">
              <a:buNone/>
            </a:pPr>
            <a:r>
              <a:rPr lang="en-US" sz="2400" b="1" dirty="0">
                <a:solidFill>
                  <a:schemeClr val="accent2"/>
                </a:solidFill>
              </a:rPr>
              <a:t>6,169</a:t>
            </a:r>
            <a:endParaRPr lang="en-US" sz="2400" dirty="0"/>
          </a:p>
        </p:txBody>
      </p:sp>
      <p:sp>
        <p:nvSpPr>
          <p:cNvPr id="7" name="Text 4"/>
          <p:cNvSpPr txBox="1"/>
          <p:nvPr/>
        </p:nvSpPr>
        <p:spPr>
          <a:xfrm>
            <a:off x="6675120" y="1920240"/>
            <a:ext cx="1920240" cy="411480"/>
          </a:xfrm>
          <a:prstGeom prst="rect">
            <a:avLst/>
          </a:prstGeom>
          <a:noFill/>
          <a:ln/>
        </p:spPr>
        <p:txBody>
          <a:bodyPr wrap="square" lIns="0" tIns="0" rIns="0" bIns="0" rtlCol="0" anchor="t"/>
          <a:lstStyle/>
          <a:p>
            <a:pPr marL="0" indent="0">
              <a:buNone/>
            </a:pPr>
            <a:r>
              <a:rPr lang="en-US" sz="1200" dirty="0">
                <a:solidFill>
                  <a:schemeClr val="tx1"/>
                </a:solidFill>
              </a:rPr>
              <a:t>rentals at 5 PM, the busiest hour</a:t>
            </a:r>
            <a:endParaRPr lang="en-US" sz="1200" dirty="0"/>
          </a:p>
        </p:txBody>
      </p:sp>
      <p:sp>
        <p:nvSpPr>
          <p:cNvPr id="8" name="peak tile 1"/>
          <p:cNvSpPr/>
          <p:nvPr/>
        </p:nvSpPr>
        <p:spPr>
          <a:xfrm>
            <a:off x="6537960" y="2514600"/>
            <a:ext cx="2148840" cy="914400"/>
          </a:xfrm>
          <a:prstGeom prst="roundRect">
            <a:avLst>
              <a:gd name="adj" fmla="val 8000"/>
            </a:avLst>
          </a:prstGeom>
          <a:solidFill>
            <a:schemeClr val="bg2"/>
          </a:solidFill>
          <a:ln w="12700">
            <a:solidFill>
              <a:schemeClr val="bg2"/>
            </a:solidFill>
            <a:prstDash val="solid"/>
          </a:ln>
        </p:spPr>
      </p:sp>
      <p:sp>
        <p:nvSpPr>
          <p:cNvPr id="9" name="Text 6"/>
          <p:cNvSpPr txBox="1"/>
          <p:nvPr/>
        </p:nvSpPr>
        <p:spPr>
          <a:xfrm>
            <a:off x="6675120" y="2514600"/>
            <a:ext cx="1874520" cy="457200"/>
          </a:xfrm>
          <a:prstGeom prst="rect">
            <a:avLst/>
          </a:prstGeom>
          <a:noFill/>
          <a:ln/>
        </p:spPr>
        <p:txBody>
          <a:bodyPr wrap="square" lIns="0" tIns="0" rIns="0" bIns="0" rtlCol="0" anchor="b"/>
          <a:lstStyle/>
          <a:p>
            <a:pPr marL="0" indent="0">
              <a:buNone/>
            </a:pPr>
            <a:r>
              <a:rPr lang="en-US" sz="2400" b="1" dirty="0">
                <a:solidFill>
                  <a:schemeClr val="accent2"/>
                </a:solidFill>
              </a:rPr>
              <a:t>5,388</a:t>
            </a:r>
            <a:endParaRPr lang="en-US" sz="2400" dirty="0"/>
          </a:p>
        </p:txBody>
      </p:sp>
      <p:sp>
        <p:nvSpPr>
          <p:cNvPr id="10" name="Text 7"/>
          <p:cNvSpPr txBox="1"/>
          <p:nvPr/>
        </p:nvSpPr>
        <p:spPr>
          <a:xfrm>
            <a:off x="6675120" y="2971800"/>
            <a:ext cx="1920240" cy="411480"/>
          </a:xfrm>
          <a:prstGeom prst="rect">
            <a:avLst/>
          </a:prstGeom>
          <a:noFill/>
          <a:ln/>
        </p:spPr>
        <p:txBody>
          <a:bodyPr wrap="square" lIns="0" tIns="0" rIns="0" bIns="0" rtlCol="0" anchor="t"/>
          <a:lstStyle/>
          <a:p>
            <a:pPr marL="0" indent="0">
              <a:buNone/>
            </a:pPr>
            <a:r>
              <a:rPr lang="en-US" sz="1200" dirty="0">
                <a:solidFill>
                  <a:schemeClr val="tx1"/>
                </a:solidFill>
              </a:rPr>
              <a:t>rentals at 8 AM, the morning peak</a:t>
            </a:r>
            <a:endParaRPr lang="en-US" sz="1200" dirty="0"/>
          </a:p>
        </p:txBody>
      </p:sp>
      <p:sp>
        <p:nvSpPr>
          <p:cNvPr id="11" name="peak tile 2"/>
          <p:cNvSpPr/>
          <p:nvPr/>
        </p:nvSpPr>
        <p:spPr>
          <a:xfrm>
            <a:off x="6537960" y="3566160"/>
            <a:ext cx="2148840" cy="914400"/>
          </a:xfrm>
          <a:prstGeom prst="roundRect">
            <a:avLst>
              <a:gd name="adj" fmla="val 8000"/>
            </a:avLst>
          </a:prstGeom>
          <a:solidFill>
            <a:schemeClr val="bg2"/>
          </a:solidFill>
          <a:ln w="12700">
            <a:solidFill>
              <a:schemeClr val="bg2"/>
            </a:solidFill>
            <a:prstDash val="solid"/>
          </a:ln>
        </p:spPr>
      </p:sp>
      <p:sp>
        <p:nvSpPr>
          <p:cNvPr id="12" name="Text 9"/>
          <p:cNvSpPr txBox="1"/>
          <p:nvPr/>
        </p:nvSpPr>
        <p:spPr>
          <a:xfrm>
            <a:off x="6675120" y="3566160"/>
            <a:ext cx="1874520" cy="457200"/>
          </a:xfrm>
          <a:prstGeom prst="rect">
            <a:avLst/>
          </a:prstGeom>
          <a:noFill/>
          <a:ln/>
        </p:spPr>
        <p:txBody>
          <a:bodyPr wrap="square" lIns="0" tIns="0" rIns="0" bIns="0" rtlCol="0" anchor="b"/>
          <a:lstStyle/>
          <a:p>
            <a:pPr marL="0" indent="0">
              <a:buNone/>
            </a:pPr>
            <a:r>
              <a:rPr lang="en-US" sz="2400" b="1" dirty="0">
                <a:solidFill>
                  <a:schemeClr val="accent6"/>
                </a:solidFill>
              </a:rPr>
              <a:t>69</a:t>
            </a:r>
            <a:endParaRPr lang="en-US" sz="2400" dirty="0"/>
          </a:p>
        </p:txBody>
      </p:sp>
      <p:sp>
        <p:nvSpPr>
          <p:cNvPr id="13" name="Text 10"/>
          <p:cNvSpPr txBox="1"/>
          <p:nvPr/>
        </p:nvSpPr>
        <p:spPr>
          <a:xfrm>
            <a:off x="6675120" y="4023360"/>
            <a:ext cx="1920240" cy="411480"/>
          </a:xfrm>
          <a:prstGeom prst="rect">
            <a:avLst/>
          </a:prstGeom>
          <a:noFill/>
          <a:ln/>
        </p:spPr>
        <p:txBody>
          <a:bodyPr wrap="square" lIns="0" tIns="0" rIns="0" bIns="0" rtlCol="0" anchor="t"/>
          <a:lstStyle/>
          <a:p>
            <a:pPr marL="0" indent="0">
              <a:buNone/>
            </a:pPr>
            <a:r>
              <a:rPr lang="en-US" sz="1200" dirty="0">
                <a:solidFill>
                  <a:schemeClr val="tx1"/>
                </a:solidFill>
              </a:rPr>
              <a:t>rentals at 4 AM, the quietest hour</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B79"/>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61D68C9-BE69-BE20-906C-52C5B7F7D291}"/>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0" y="0"/>
            <a:ext cx="9143999" cy="5143500"/>
          </a:xfrm>
          <a:prstGeom prst="rect">
            <a:avLst/>
          </a:prstGeom>
        </p:spPr>
      </p:pic>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3000" b="1" dirty="0">
                <a:solidFill>
                  <a:schemeClr val="tx2"/>
                </a:solidFill>
              </a:rPr>
              <a:t>Time of day and rider type</a:t>
            </a:r>
            <a:endParaRPr lang="en-US" sz="3000" dirty="0"/>
          </a:p>
        </p:txBody>
      </p:sp>
      <p:sp>
        <p:nvSpPr>
          <p:cNvPr id="3" name="takeaway"/>
          <p:cNvSpPr txBox="1"/>
          <p:nvPr/>
        </p:nvSpPr>
        <p:spPr>
          <a:xfrm>
            <a:off x="457200" y="896112"/>
            <a:ext cx="8229600" cy="365760"/>
          </a:xfrm>
          <a:prstGeom prst="rect">
            <a:avLst/>
          </a:prstGeom>
          <a:noFill/>
          <a:ln/>
        </p:spPr>
        <p:txBody>
          <a:bodyPr wrap="square" lIns="0" tIns="0" rIns="0" bIns="0" rtlCol="0" anchor="ctr"/>
          <a:lstStyle/>
          <a:p>
            <a:pPr marL="0" indent="0">
              <a:buNone/>
            </a:pPr>
            <a:r>
              <a:rPr lang="en-US" sz="1400" dirty="0">
                <a:solidFill>
                  <a:schemeClr val="tx1"/>
                </a:solidFill>
              </a:rPr>
              <a:t>Registered riders commute; casual riders ride around midday.</a:t>
            </a:r>
            <a:endParaRPr lang="en-US" sz="1400" dirty="0"/>
          </a:p>
        </p:txBody>
      </p:sp>
      <p:graphicFrame>
        <p:nvGraphicFramePr>
          <p:cNvPr id="4" name="Chart 0"/>
          <p:cNvGraphicFramePr/>
          <p:nvPr/>
        </p:nvGraphicFramePr>
        <p:xfrm>
          <a:off x="365760" y="1325880"/>
          <a:ext cx="4114800" cy="283464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5" name="Chart 1"/>
          <p:cNvGraphicFramePr/>
          <p:nvPr/>
        </p:nvGraphicFramePr>
        <p:xfrm>
          <a:off x="4663440" y="1325880"/>
          <a:ext cx="4114800" cy="2834640"/>
        </p:xfrm>
        <a:graphic>
          <a:graphicData uri="http://schemas.openxmlformats.org/drawingml/2006/chart">
            <c:chart xmlns:c="http://schemas.openxmlformats.org/drawingml/2006/chart" xmlns:r="http://schemas.openxmlformats.org/officeDocument/2006/relationships" r:id="rId6"/>
          </a:graphicData>
        </a:graphic>
      </p:graphicFrame>
      <p:sp>
        <p:nvSpPr>
          <p:cNvPr id="6" name="Text 2"/>
          <p:cNvSpPr txBox="1"/>
          <p:nvPr/>
        </p:nvSpPr>
        <p:spPr>
          <a:xfrm>
            <a:off x="457200" y="4251960"/>
            <a:ext cx="4023360" cy="457200"/>
          </a:xfrm>
          <a:prstGeom prst="rect">
            <a:avLst/>
          </a:prstGeom>
          <a:noFill/>
          <a:ln/>
        </p:spPr>
        <p:txBody>
          <a:bodyPr wrap="square" lIns="0" tIns="0" rIns="0" bIns="0" rtlCol="0" anchor="ctr"/>
          <a:lstStyle/>
          <a:p>
            <a:pPr marL="0" indent="0">
              <a:buNone/>
            </a:pPr>
            <a:r>
              <a:rPr lang="en-US" sz="1400" dirty="0">
                <a:solidFill>
                  <a:schemeClr val="tx1"/>
                </a:solidFill>
              </a:rPr>
              <a:t>Afternoon (12 to 17) alone brings 40% of rentals.</a:t>
            </a:r>
            <a:endParaRPr lang="en-US" sz="1400" dirty="0"/>
          </a:p>
        </p:txBody>
      </p:sp>
      <p:sp>
        <p:nvSpPr>
          <p:cNvPr id="7" name="Text 3"/>
          <p:cNvSpPr txBox="1"/>
          <p:nvPr/>
        </p:nvSpPr>
        <p:spPr>
          <a:xfrm>
            <a:off x="4754880" y="4251960"/>
            <a:ext cx="3931920" cy="457200"/>
          </a:xfrm>
          <a:prstGeom prst="rect">
            <a:avLst/>
          </a:prstGeom>
          <a:noFill/>
          <a:ln/>
        </p:spPr>
        <p:txBody>
          <a:bodyPr wrap="square" lIns="0" tIns="0" rIns="0" bIns="0" rtlCol="0" anchor="ctr"/>
          <a:lstStyle/>
          <a:p>
            <a:pPr marL="0" indent="0">
              <a:buNone/>
            </a:pPr>
            <a:r>
              <a:rPr lang="en-US" sz="1400" dirty="0">
                <a:solidFill>
                  <a:schemeClr val="tx1"/>
                </a:solidFill>
              </a:rPr>
              <a:t>Casual riders are 8.4% of rentals and peak between 12 and 4 PM (536 at 3 PM).</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B79"/>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8C23893-AA0E-CC8A-A51A-1DD84EB43432}"/>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0" y="7620"/>
            <a:ext cx="9143999" cy="5143500"/>
          </a:xfrm>
          <a:prstGeom prst="rect">
            <a:avLst/>
          </a:prstGeom>
        </p:spPr>
      </p:pic>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3000" b="1" dirty="0">
                <a:solidFill>
                  <a:schemeClr val="tx2"/>
                </a:solidFill>
              </a:rPr>
              <a:t>Weekday patterns</a:t>
            </a:r>
            <a:endParaRPr lang="en-US" sz="3000" dirty="0"/>
          </a:p>
        </p:txBody>
      </p:sp>
      <p:sp>
        <p:nvSpPr>
          <p:cNvPr id="3" name="takeaway"/>
          <p:cNvSpPr txBox="1"/>
          <p:nvPr/>
        </p:nvSpPr>
        <p:spPr>
          <a:xfrm>
            <a:off x="457200" y="896112"/>
            <a:ext cx="8229600" cy="365760"/>
          </a:xfrm>
          <a:prstGeom prst="rect">
            <a:avLst/>
          </a:prstGeom>
          <a:noFill/>
          <a:ln/>
        </p:spPr>
        <p:txBody>
          <a:bodyPr wrap="square" lIns="0" tIns="0" rIns="0" bIns="0" rtlCol="0" anchor="ctr"/>
          <a:lstStyle/>
          <a:p>
            <a:pPr marL="0" indent="0">
              <a:buNone/>
            </a:pPr>
            <a:r>
              <a:rPr lang="en-US" sz="1400" dirty="0">
                <a:solidFill>
                  <a:schemeClr val="tx1"/>
                </a:solidFill>
              </a:rPr>
              <a:t>Weekdays average about 63 rentals an hour; weekends about 48.</a:t>
            </a:r>
            <a:endParaRPr lang="en-US" sz="1400" dirty="0"/>
          </a:p>
        </p:txBody>
      </p:sp>
      <p:graphicFrame>
        <p:nvGraphicFramePr>
          <p:cNvPr id="4" name="Chart 0"/>
          <p:cNvGraphicFramePr/>
          <p:nvPr/>
        </p:nvGraphicFramePr>
        <p:xfrm>
          <a:off x="365760" y="1325880"/>
          <a:ext cx="5486400" cy="3383280"/>
        </p:xfrm>
        <a:graphic>
          <a:graphicData uri="http://schemas.openxmlformats.org/drawingml/2006/chart">
            <c:chart xmlns:c="http://schemas.openxmlformats.org/drawingml/2006/chart" xmlns:r="http://schemas.openxmlformats.org/officeDocument/2006/relationships" r:id="rId5"/>
          </a:graphicData>
        </a:graphic>
      </p:graphicFrame>
      <p:sp>
        <p:nvSpPr>
          <p:cNvPr id="5" name="day tile 0"/>
          <p:cNvSpPr/>
          <p:nvPr/>
        </p:nvSpPr>
        <p:spPr>
          <a:xfrm>
            <a:off x="6126480" y="1463040"/>
            <a:ext cx="2560320" cy="1051560"/>
          </a:xfrm>
          <a:prstGeom prst="roundRect">
            <a:avLst>
              <a:gd name="adj" fmla="val 6957"/>
            </a:avLst>
          </a:prstGeom>
          <a:solidFill>
            <a:schemeClr val="bg2"/>
          </a:solidFill>
          <a:ln w="12700">
            <a:solidFill>
              <a:schemeClr val="bg2"/>
            </a:solidFill>
            <a:prstDash val="solid"/>
          </a:ln>
        </p:spPr>
      </p:sp>
      <p:sp>
        <p:nvSpPr>
          <p:cNvPr id="6" name="Text 3"/>
          <p:cNvSpPr txBox="1"/>
          <p:nvPr/>
        </p:nvSpPr>
        <p:spPr>
          <a:xfrm>
            <a:off x="6309360" y="1463040"/>
            <a:ext cx="1005840" cy="1051560"/>
          </a:xfrm>
          <a:prstGeom prst="rect">
            <a:avLst/>
          </a:prstGeom>
          <a:noFill/>
          <a:ln/>
        </p:spPr>
        <p:txBody>
          <a:bodyPr wrap="square" lIns="0" tIns="0" rIns="0" bIns="0" rtlCol="0" anchor="ctr"/>
          <a:lstStyle/>
          <a:p>
            <a:pPr marL="0" indent="0">
              <a:buNone/>
            </a:pPr>
            <a:r>
              <a:rPr lang="en-US" sz="2800" b="1" dirty="0">
                <a:solidFill>
                  <a:schemeClr val="accent1"/>
                </a:solidFill>
              </a:rPr>
              <a:t>67.7</a:t>
            </a:r>
            <a:endParaRPr lang="en-US" sz="2800" dirty="0"/>
          </a:p>
        </p:txBody>
      </p:sp>
      <p:sp>
        <p:nvSpPr>
          <p:cNvPr id="7" name="Text 4"/>
          <p:cNvSpPr txBox="1"/>
          <p:nvPr/>
        </p:nvSpPr>
        <p:spPr>
          <a:xfrm>
            <a:off x="7315200" y="1463040"/>
            <a:ext cx="1325880" cy="1051560"/>
          </a:xfrm>
          <a:prstGeom prst="rect">
            <a:avLst/>
          </a:prstGeom>
          <a:noFill/>
          <a:ln/>
        </p:spPr>
        <p:txBody>
          <a:bodyPr wrap="square" lIns="0" tIns="0" rIns="0" bIns="0" rtlCol="0" anchor="ctr"/>
          <a:lstStyle/>
          <a:p>
            <a:pPr marL="0" indent="0">
              <a:buNone/>
            </a:pPr>
            <a:r>
              <a:rPr lang="en-US" sz="1400" b="1" dirty="0">
                <a:solidFill>
                  <a:schemeClr val="tx1"/>
                </a:solidFill>
              </a:rPr>
              <a:t>Thursday</a:t>
            </a:r>
            <a:endParaRPr lang="en-US" sz="1400" dirty="0"/>
          </a:p>
          <a:p>
            <a:pPr marL="0" indent="0">
              <a:buNone/>
            </a:pPr>
            <a:r>
              <a:rPr lang="en-US" sz="1200" dirty="0">
                <a:solidFill>
                  <a:schemeClr val="tx1"/>
                </a:solidFill>
              </a:rPr>
              <a:t>busiest day, per hour</a:t>
            </a:r>
            <a:endParaRPr lang="en-US" sz="1400" dirty="0"/>
          </a:p>
        </p:txBody>
      </p:sp>
      <p:sp>
        <p:nvSpPr>
          <p:cNvPr id="8" name="day tile 1"/>
          <p:cNvSpPr/>
          <p:nvPr/>
        </p:nvSpPr>
        <p:spPr>
          <a:xfrm>
            <a:off x="6126480" y="2651760"/>
            <a:ext cx="2560320" cy="1051560"/>
          </a:xfrm>
          <a:prstGeom prst="roundRect">
            <a:avLst>
              <a:gd name="adj" fmla="val 6957"/>
            </a:avLst>
          </a:prstGeom>
          <a:solidFill>
            <a:schemeClr val="bg2"/>
          </a:solidFill>
          <a:ln w="12700">
            <a:solidFill>
              <a:schemeClr val="bg2"/>
            </a:solidFill>
            <a:prstDash val="solid"/>
          </a:ln>
        </p:spPr>
      </p:sp>
      <p:sp>
        <p:nvSpPr>
          <p:cNvPr id="9" name="Text 6"/>
          <p:cNvSpPr txBox="1"/>
          <p:nvPr/>
        </p:nvSpPr>
        <p:spPr>
          <a:xfrm>
            <a:off x="6309360" y="2651760"/>
            <a:ext cx="1005840" cy="1051560"/>
          </a:xfrm>
          <a:prstGeom prst="rect">
            <a:avLst/>
          </a:prstGeom>
          <a:noFill/>
          <a:ln/>
        </p:spPr>
        <p:txBody>
          <a:bodyPr wrap="square" lIns="0" tIns="0" rIns="0" bIns="0" rtlCol="0" anchor="ctr"/>
          <a:lstStyle/>
          <a:p>
            <a:pPr marL="0" indent="0">
              <a:buNone/>
            </a:pPr>
            <a:r>
              <a:rPr lang="en-US" sz="2800" b="1" dirty="0">
                <a:solidFill>
                  <a:schemeClr val="accent6"/>
                </a:solidFill>
              </a:rPr>
              <a:t>46.7</a:t>
            </a:r>
            <a:endParaRPr lang="en-US" sz="2800" dirty="0"/>
          </a:p>
        </p:txBody>
      </p:sp>
      <p:sp>
        <p:nvSpPr>
          <p:cNvPr id="10" name="Text 7"/>
          <p:cNvSpPr txBox="1"/>
          <p:nvPr/>
        </p:nvSpPr>
        <p:spPr>
          <a:xfrm>
            <a:off x="7315200" y="2651760"/>
            <a:ext cx="1325880" cy="1051560"/>
          </a:xfrm>
          <a:prstGeom prst="rect">
            <a:avLst/>
          </a:prstGeom>
          <a:noFill/>
          <a:ln/>
        </p:spPr>
        <p:txBody>
          <a:bodyPr wrap="square" lIns="0" tIns="0" rIns="0" bIns="0" rtlCol="0" anchor="ctr"/>
          <a:lstStyle/>
          <a:p>
            <a:pPr marL="0" indent="0">
              <a:buNone/>
            </a:pPr>
            <a:r>
              <a:rPr lang="en-US" sz="1400" b="1" dirty="0">
                <a:solidFill>
                  <a:schemeClr val="tx1"/>
                </a:solidFill>
              </a:rPr>
              <a:t>Saturday</a:t>
            </a:r>
            <a:endParaRPr lang="en-US" sz="1400" dirty="0"/>
          </a:p>
          <a:p>
            <a:pPr marL="0" indent="0">
              <a:buNone/>
            </a:pPr>
            <a:r>
              <a:rPr lang="en-US" sz="1200" dirty="0">
                <a:solidFill>
                  <a:schemeClr val="tx1"/>
                </a:solidFill>
              </a:rPr>
              <a:t>quietest day, per hour</a:t>
            </a:r>
            <a:endParaRPr lang="en-US" sz="1400" dirty="0"/>
          </a:p>
        </p:txBody>
      </p:sp>
      <p:sp>
        <p:nvSpPr>
          <p:cNvPr id="11" name="Text 8"/>
          <p:cNvSpPr txBox="1"/>
          <p:nvPr/>
        </p:nvSpPr>
        <p:spPr>
          <a:xfrm>
            <a:off x="6126480" y="3931920"/>
            <a:ext cx="2560320" cy="640080"/>
          </a:xfrm>
          <a:prstGeom prst="rect">
            <a:avLst/>
          </a:prstGeom>
          <a:noFill/>
          <a:ln/>
        </p:spPr>
        <p:txBody>
          <a:bodyPr wrap="square" lIns="0" tIns="0" rIns="0" bIns="0" rtlCol="0" anchor="t"/>
          <a:lstStyle/>
          <a:p>
            <a:pPr marL="0" indent="0">
              <a:buNone/>
            </a:pPr>
            <a:r>
              <a:rPr lang="en-US" sz="1200" dirty="0">
                <a:solidFill>
                  <a:schemeClr val="tx1"/>
                </a:solidFill>
              </a:rPr>
              <a:t>Averages are used because the days have different numbers of recorded hours.</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B79"/>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01" name="Picture 200">
            <a:extLst>
              <a:ext uri="{FF2B5EF4-FFF2-40B4-BE49-F238E27FC236}">
                <a16:creationId xmlns:a16="http://schemas.microsoft.com/office/drawing/2014/main" id="{245EB985-2C34-590D-7A13-522FDCDFF92D}"/>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0" y="0"/>
            <a:ext cx="9143999" cy="5143500"/>
          </a:xfrm>
          <a:prstGeom prst="rect">
            <a:avLst/>
          </a:prstGeom>
        </p:spPr>
      </p:pic>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3000" b="1" dirty="0">
                <a:solidFill>
                  <a:schemeClr val="tx2"/>
                </a:solidFill>
              </a:rPr>
              <a:t>Weekday and hour heatmap</a:t>
            </a:r>
            <a:endParaRPr lang="en-US" sz="3000" dirty="0"/>
          </a:p>
        </p:txBody>
      </p:sp>
      <p:sp>
        <p:nvSpPr>
          <p:cNvPr id="3" name="takeaway"/>
          <p:cNvSpPr txBox="1"/>
          <p:nvPr/>
        </p:nvSpPr>
        <p:spPr>
          <a:xfrm>
            <a:off x="457200" y="896112"/>
            <a:ext cx="8229600" cy="365760"/>
          </a:xfrm>
          <a:prstGeom prst="rect">
            <a:avLst/>
          </a:prstGeom>
          <a:noFill/>
          <a:ln/>
        </p:spPr>
        <p:txBody>
          <a:bodyPr wrap="square" lIns="0" tIns="0" rIns="0" bIns="0" rtlCol="0" anchor="ctr"/>
          <a:lstStyle/>
          <a:p>
            <a:pPr marL="0" indent="0">
              <a:buNone/>
            </a:pPr>
            <a:r>
              <a:rPr lang="en-US" sz="1400" dirty="0">
                <a:solidFill>
                  <a:schemeClr val="tx1"/>
                </a:solidFill>
              </a:rPr>
              <a:t>Weekday commute peaks stand out; weekends stay flat from late morning to afternoon.</a:t>
            </a:r>
            <a:endParaRPr lang="en-US" sz="1400" dirty="0"/>
          </a:p>
        </p:txBody>
      </p:sp>
      <p:sp>
        <p:nvSpPr>
          <p:cNvPr id="4" name="Text 2"/>
          <p:cNvSpPr txBox="1"/>
          <p:nvPr/>
        </p:nvSpPr>
        <p:spPr>
          <a:xfrm>
            <a:off x="1280160" y="1508760"/>
            <a:ext cx="487680" cy="256032"/>
          </a:xfrm>
          <a:prstGeom prst="rect">
            <a:avLst/>
          </a:prstGeom>
          <a:noFill/>
          <a:ln/>
        </p:spPr>
        <p:txBody>
          <a:bodyPr wrap="square" lIns="0" tIns="0" rIns="0" bIns="0" rtlCol="0" anchor="ctr"/>
          <a:lstStyle/>
          <a:p>
            <a:pPr marL="0" indent="0" algn="ctr">
              <a:buNone/>
            </a:pPr>
            <a:r>
              <a:rPr lang="en-US" sz="1000" dirty="0">
                <a:solidFill>
                  <a:srgbClr val="44514F"/>
                </a:solidFill>
              </a:rPr>
              <a:t>0</a:t>
            </a:r>
            <a:endParaRPr lang="en-US" sz="1000" dirty="0"/>
          </a:p>
        </p:txBody>
      </p:sp>
      <p:sp>
        <p:nvSpPr>
          <p:cNvPr id="5" name="Text 3"/>
          <p:cNvSpPr txBox="1"/>
          <p:nvPr/>
        </p:nvSpPr>
        <p:spPr>
          <a:xfrm>
            <a:off x="1889760" y="1508760"/>
            <a:ext cx="487680" cy="256032"/>
          </a:xfrm>
          <a:prstGeom prst="rect">
            <a:avLst/>
          </a:prstGeom>
          <a:noFill/>
          <a:ln/>
        </p:spPr>
        <p:txBody>
          <a:bodyPr wrap="square" lIns="0" tIns="0" rIns="0" bIns="0" rtlCol="0" anchor="ctr"/>
          <a:lstStyle/>
          <a:p>
            <a:pPr marL="0" indent="0" algn="ctr">
              <a:buNone/>
            </a:pPr>
            <a:r>
              <a:rPr lang="en-US" sz="1000" dirty="0">
                <a:solidFill>
                  <a:srgbClr val="44514F"/>
                </a:solidFill>
              </a:rPr>
              <a:t>2</a:t>
            </a:r>
            <a:endParaRPr lang="en-US" sz="1000" dirty="0"/>
          </a:p>
        </p:txBody>
      </p:sp>
      <p:sp>
        <p:nvSpPr>
          <p:cNvPr id="6" name="Text 4"/>
          <p:cNvSpPr txBox="1"/>
          <p:nvPr/>
        </p:nvSpPr>
        <p:spPr>
          <a:xfrm>
            <a:off x="2499360" y="1508760"/>
            <a:ext cx="487680" cy="256032"/>
          </a:xfrm>
          <a:prstGeom prst="rect">
            <a:avLst/>
          </a:prstGeom>
          <a:noFill/>
          <a:ln/>
        </p:spPr>
        <p:txBody>
          <a:bodyPr wrap="square" lIns="0" tIns="0" rIns="0" bIns="0" rtlCol="0" anchor="ctr"/>
          <a:lstStyle/>
          <a:p>
            <a:pPr marL="0" indent="0" algn="ctr">
              <a:buNone/>
            </a:pPr>
            <a:r>
              <a:rPr lang="en-US" sz="1000" dirty="0">
                <a:solidFill>
                  <a:srgbClr val="44514F"/>
                </a:solidFill>
              </a:rPr>
              <a:t>4</a:t>
            </a:r>
            <a:endParaRPr lang="en-US" sz="1000" dirty="0"/>
          </a:p>
        </p:txBody>
      </p:sp>
      <p:sp>
        <p:nvSpPr>
          <p:cNvPr id="7" name="Text 5"/>
          <p:cNvSpPr txBox="1"/>
          <p:nvPr/>
        </p:nvSpPr>
        <p:spPr>
          <a:xfrm>
            <a:off x="3108960" y="1508760"/>
            <a:ext cx="487680" cy="256032"/>
          </a:xfrm>
          <a:prstGeom prst="rect">
            <a:avLst/>
          </a:prstGeom>
          <a:noFill/>
          <a:ln/>
        </p:spPr>
        <p:txBody>
          <a:bodyPr wrap="square" lIns="0" tIns="0" rIns="0" bIns="0" rtlCol="0" anchor="ctr"/>
          <a:lstStyle/>
          <a:p>
            <a:pPr marL="0" indent="0" algn="ctr">
              <a:buNone/>
            </a:pPr>
            <a:r>
              <a:rPr lang="en-US" sz="1000" dirty="0">
                <a:solidFill>
                  <a:srgbClr val="44514F"/>
                </a:solidFill>
              </a:rPr>
              <a:t>6</a:t>
            </a:r>
            <a:endParaRPr lang="en-US" sz="1000" dirty="0"/>
          </a:p>
        </p:txBody>
      </p:sp>
      <p:sp>
        <p:nvSpPr>
          <p:cNvPr id="8" name="Text 6"/>
          <p:cNvSpPr txBox="1"/>
          <p:nvPr/>
        </p:nvSpPr>
        <p:spPr>
          <a:xfrm>
            <a:off x="3718560" y="1508760"/>
            <a:ext cx="487680" cy="256032"/>
          </a:xfrm>
          <a:prstGeom prst="rect">
            <a:avLst/>
          </a:prstGeom>
          <a:noFill/>
          <a:ln/>
        </p:spPr>
        <p:txBody>
          <a:bodyPr wrap="square" lIns="0" tIns="0" rIns="0" bIns="0" rtlCol="0" anchor="ctr"/>
          <a:lstStyle/>
          <a:p>
            <a:pPr marL="0" indent="0" algn="ctr">
              <a:buNone/>
            </a:pPr>
            <a:r>
              <a:rPr lang="en-US" sz="1000" dirty="0">
                <a:solidFill>
                  <a:srgbClr val="44514F"/>
                </a:solidFill>
              </a:rPr>
              <a:t>8</a:t>
            </a:r>
            <a:endParaRPr lang="en-US" sz="1000" dirty="0"/>
          </a:p>
        </p:txBody>
      </p:sp>
      <p:sp>
        <p:nvSpPr>
          <p:cNvPr id="9" name="Text 7"/>
          <p:cNvSpPr txBox="1"/>
          <p:nvPr/>
        </p:nvSpPr>
        <p:spPr>
          <a:xfrm>
            <a:off x="4328160" y="1508760"/>
            <a:ext cx="487680" cy="256032"/>
          </a:xfrm>
          <a:prstGeom prst="rect">
            <a:avLst/>
          </a:prstGeom>
          <a:noFill/>
          <a:ln/>
        </p:spPr>
        <p:txBody>
          <a:bodyPr wrap="square" lIns="0" tIns="0" rIns="0" bIns="0" rtlCol="0" anchor="ctr"/>
          <a:lstStyle/>
          <a:p>
            <a:pPr marL="0" indent="0" algn="ctr">
              <a:buNone/>
            </a:pPr>
            <a:r>
              <a:rPr lang="en-US" sz="1000" dirty="0">
                <a:solidFill>
                  <a:srgbClr val="44514F"/>
                </a:solidFill>
              </a:rPr>
              <a:t>10</a:t>
            </a:r>
            <a:endParaRPr lang="en-US" sz="1000" dirty="0"/>
          </a:p>
        </p:txBody>
      </p:sp>
      <p:sp>
        <p:nvSpPr>
          <p:cNvPr id="10" name="Text 8"/>
          <p:cNvSpPr txBox="1"/>
          <p:nvPr/>
        </p:nvSpPr>
        <p:spPr>
          <a:xfrm>
            <a:off x="4937760" y="1508760"/>
            <a:ext cx="487680" cy="256032"/>
          </a:xfrm>
          <a:prstGeom prst="rect">
            <a:avLst/>
          </a:prstGeom>
          <a:noFill/>
          <a:ln/>
        </p:spPr>
        <p:txBody>
          <a:bodyPr wrap="square" lIns="0" tIns="0" rIns="0" bIns="0" rtlCol="0" anchor="ctr"/>
          <a:lstStyle/>
          <a:p>
            <a:pPr marL="0" indent="0" algn="ctr">
              <a:buNone/>
            </a:pPr>
            <a:r>
              <a:rPr lang="en-US" sz="1000" dirty="0">
                <a:solidFill>
                  <a:srgbClr val="44514F"/>
                </a:solidFill>
              </a:rPr>
              <a:t>12</a:t>
            </a:r>
            <a:endParaRPr lang="en-US" sz="1000" dirty="0"/>
          </a:p>
        </p:txBody>
      </p:sp>
      <p:sp>
        <p:nvSpPr>
          <p:cNvPr id="11" name="Text 9"/>
          <p:cNvSpPr txBox="1"/>
          <p:nvPr/>
        </p:nvSpPr>
        <p:spPr>
          <a:xfrm>
            <a:off x="5547360" y="1508760"/>
            <a:ext cx="487680" cy="256032"/>
          </a:xfrm>
          <a:prstGeom prst="rect">
            <a:avLst/>
          </a:prstGeom>
          <a:noFill/>
          <a:ln/>
        </p:spPr>
        <p:txBody>
          <a:bodyPr wrap="square" lIns="0" tIns="0" rIns="0" bIns="0" rtlCol="0" anchor="ctr"/>
          <a:lstStyle/>
          <a:p>
            <a:pPr marL="0" indent="0" algn="ctr">
              <a:buNone/>
            </a:pPr>
            <a:r>
              <a:rPr lang="en-US" sz="1000" dirty="0">
                <a:solidFill>
                  <a:srgbClr val="44514F"/>
                </a:solidFill>
              </a:rPr>
              <a:t>14</a:t>
            </a:r>
            <a:endParaRPr lang="en-US" sz="1000" dirty="0"/>
          </a:p>
        </p:txBody>
      </p:sp>
      <p:sp>
        <p:nvSpPr>
          <p:cNvPr id="12" name="Text 10"/>
          <p:cNvSpPr txBox="1"/>
          <p:nvPr/>
        </p:nvSpPr>
        <p:spPr>
          <a:xfrm>
            <a:off x="6156960" y="1508760"/>
            <a:ext cx="487680" cy="256032"/>
          </a:xfrm>
          <a:prstGeom prst="rect">
            <a:avLst/>
          </a:prstGeom>
          <a:noFill/>
          <a:ln/>
        </p:spPr>
        <p:txBody>
          <a:bodyPr wrap="square" lIns="0" tIns="0" rIns="0" bIns="0" rtlCol="0" anchor="ctr"/>
          <a:lstStyle/>
          <a:p>
            <a:pPr marL="0" indent="0" algn="ctr">
              <a:buNone/>
            </a:pPr>
            <a:r>
              <a:rPr lang="en-US" sz="1000" dirty="0">
                <a:solidFill>
                  <a:srgbClr val="44514F"/>
                </a:solidFill>
              </a:rPr>
              <a:t>16</a:t>
            </a:r>
            <a:endParaRPr lang="en-US" sz="1000" dirty="0"/>
          </a:p>
        </p:txBody>
      </p:sp>
      <p:sp>
        <p:nvSpPr>
          <p:cNvPr id="13" name="Text 11"/>
          <p:cNvSpPr txBox="1"/>
          <p:nvPr/>
        </p:nvSpPr>
        <p:spPr>
          <a:xfrm>
            <a:off x="6766560" y="1508760"/>
            <a:ext cx="487680" cy="256032"/>
          </a:xfrm>
          <a:prstGeom prst="rect">
            <a:avLst/>
          </a:prstGeom>
          <a:noFill/>
          <a:ln/>
        </p:spPr>
        <p:txBody>
          <a:bodyPr wrap="square" lIns="0" tIns="0" rIns="0" bIns="0" rtlCol="0" anchor="ctr"/>
          <a:lstStyle/>
          <a:p>
            <a:pPr marL="0" indent="0" algn="ctr">
              <a:buNone/>
            </a:pPr>
            <a:r>
              <a:rPr lang="en-US" sz="1000" dirty="0">
                <a:solidFill>
                  <a:srgbClr val="44514F"/>
                </a:solidFill>
              </a:rPr>
              <a:t>18</a:t>
            </a:r>
            <a:endParaRPr lang="en-US" sz="1000" dirty="0"/>
          </a:p>
        </p:txBody>
      </p:sp>
      <p:sp>
        <p:nvSpPr>
          <p:cNvPr id="14" name="Text 12"/>
          <p:cNvSpPr txBox="1"/>
          <p:nvPr/>
        </p:nvSpPr>
        <p:spPr>
          <a:xfrm>
            <a:off x="7376160" y="1508760"/>
            <a:ext cx="487680" cy="256032"/>
          </a:xfrm>
          <a:prstGeom prst="rect">
            <a:avLst/>
          </a:prstGeom>
          <a:noFill/>
          <a:ln/>
        </p:spPr>
        <p:txBody>
          <a:bodyPr wrap="square" lIns="0" tIns="0" rIns="0" bIns="0" rtlCol="0" anchor="ctr"/>
          <a:lstStyle/>
          <a:p>
            <a:pPr marL="0" indent="0" algn="ctr">
              <a:buNone/>
            </a:pPr>
            <a:r>
              <a:rPr lang="en-US" sz="1000" dirty="0">
                <a:solidFill>
                  <a:srgbClr val="44514F"/>
                </a:solidFill>
              </a:rPr>
              <a:t>20</a:t>
            </a:r>
            <a:endParaRPr lang="en-US" sz="1000" dirty="0"/>
          </a:p>
        </p:txBody>
      </p:sp>
      <p:sp>
        <p:nvSpPr>
          <p:cNvPr id="15" name="Text 13"/>
          <p:cNvSpPr txBox="1"/>
          <p:nvPr/>
        </p:nvSpPr>
        <p:spPr>
          <a:xfrm>
            <a:off x="7985760" y="1508760"/>
            <a:ext cx="487680" cy="256032"/>
          </a:xfrm>
          <a:prstGeom prst="rect">
            <a:avLst/>
          </a:prstGeom>
          <a:noFill/>
          <a:ln/>
        </p:spPr>
        <p:txBody>
          <a:bodyPr wrap="square" lIns="0" tIns="0" rIns="0" bIns="0" rtlCol="0" anchor="ctr"/>
          <a:lstStyle/>
          <a:p>
            <a:pPr marL="0" indent="0" algn="ctr">
              <a:buNone/>
            </a:pPr>
            <a:r>
              <a:rPr lang="en-US" sz="1000" dirty="0">
                <a:solidFill>
                  <a:srgbClr val="44514F"/>
                </a:solidFill>
              </a:rPr>
              <a:t>22</a:t>
            </a:r>
            <a:endParaRPr lang="en-US" sz="1000" dirty="0"/>
          </a:p>
        </p:txBody>
      </p:sp>
      <p:sp>
        <p:nvSpPr>
          <p:cNvPr id="16" name="Text 14"/>
          <p:cNvSpPr txBox="1"/>
          <p:nvPr/>
        </p:nvSpPr>
        <p:spPr>
          <a:xfrm>
            <a:off x="365760" y="1783080"/>
            <a:ext cx="960120" cy="283464"/>
          </a:xfrm>
          <a:prstGeom prst="rect">
            <a:avLst/>
          </a:prstGeom>
          <a:noFill/>
          <a:ln/>
        </p:spPr>
        <p:txBody>
          <a:bodyPr wrap="square" lIns="0" tIns="0" rIns="0" bIns="0" rtlCol="0" anchor="ctr"/>
          <a:lstStyle/>
          <a:p>
            <a:pPr marL="0" indent="0" algn="r">
              <a:buNone/>
            </a:pPr>
            <a:r>
              <a:rPr lang="en-US" sz="1100" dirty="0">
                <a:solidFill>
                  <a:srgbClr val="44514F"/>
                </a:solidFill>
              </a:rPr>
              <a:t>Monday</a:t>
            </a:r>
            <a:endParaRPr lang="en-US" sz="1100" dirty="0"/>
          </a:p>
        </p:txBody>
      </p:sp>
      <p:sp>
        <p:nvSpPr>
          <p:cNvPr id="17" name="heat Monday 0h"/>
          <p:cNvSpPr/>
          <p:nvPr/>
        </p:nvSpPr>
        <p:spPr>
          <a:xfrm>
            <a:off x="1371600" y="1783080"/>
            <a:ext cx="286512" cy="283464"/>
          </a:xfrm>
          <a:prstGeom prst="rect">
            <a:avLst/>
          </a:prstGeom>
          <a:solidFill>
            <a:srgbClr val="DBECEB"/>
          </a:solidFill>
          <a:ln w="12700">
            <a:solidFill>
              <a:srgbClr val="DBECEB"/>
            </a:solidFill>
            <a:prstDash val="solid"/>
          </a:ln>
        </p:spPr>
      </p:sp>
      <p:sp>
        <p:nvSpPr>
          <p:cNvPr id="18" name="heat Monday 1h"/>
          <p:cNvSpPr/>
          <p:nvPr/>
        </p:nvSpPr>
        <p:spPr>
          <a:xfrm>
            <a:off x="1676400" y="1783080"/>
            <a:ext cx="286512" cy="283464"/>
          </a:xfrm>
          <a:prstGeom prst="rect">
            <a:avLst/>
          </a:prstGeom>
          <a:solidFill>
            <a:srgbClr val="E1EFEE"/>
          </a:solidFill>
          <a:ln w="12700">
            <a:solidFill>
              <a:srgbClr val="E1EFEE"/>
            </a:solidFill>
            <a:prstDash val="solid"/>
          </a:ln>
        </p:spPr>
      </p:sp>
      <p:sp>
        <p:nvSpPr>
          <p:cNvPr id="19" name="heat Monday 2h"/>
          <p:cNvSpPr/>
          <p:nvPr/>
        </p:nvSpPr>
        <p:spPr>
          <a:xfrm>
            <a:off x="1981200" y="1783080"/>
            <a:ext cx="286512" cy="283464"/>
          </a:xfrm>
          <a:prstGeom prst="rect">
            <a:avLst/>
          </a:prstGeom>
          <a:solidFill>
            <a:srgbClr val="E5F2F0"/>
          </a:solidFill>
          <a:ln w="12700">
            <a:solidFill>
              <a:srgbClr val="E5F2F0"/>
            </a:solidFill>
            <a:prstDash val="solid"/>
          </a:ln>
        </p:spPr>
      </p:sp>
      <p:sp>
        <p:nvSpPr>
          <p:cNvPr id="20" name="heat Monday 3h"/>
          <p:cNvSpPr/>
          <p:nvPr/>
        </p:nvSpPr>
        <p:spPr>
          <a:xfrm>
            <a:off x="2286000" y="1783080"/>
            <a:ext cx="286512" cy="283464"/>
          </a:xfrm>
          <a:prstGeom prst="rect">
            <a:avLst/>
          </a:prstGeom>
          <a:solidFill>
            <a:srgbClr val="E7F2F1"/>
          </a:solidFill>
          <a:ln w="12700">
            <a:solidFill>
              <a:srgbClr val="E7F2F1"/>
            </a:solidFill>
            <a:prstDash val="solid"/>
          </a:ln>
        </p:spPr>
      </p:sp>
      <p:sp>
        <p:nvSpPr>
          <p:cNvPr id="21" name="heat Monday 4h"/>
          <p:cNvSpPr/>
          <p:nvPr/>
        </p:nvSpPr>
        <p:spPr>
          <a:xfrm>
            <a:off x="2590800" y="1783080"/>
            <a:ext cx="286512" cy="283464"/>
          </a:xfrm>
          <a:prstGeom prst="rect">
            <a:avLst/>
          </a:prstGeom>
          <a:solidFill>
            <a:srgbClr val="E7F2F1"/>
          </a:solidFill>
          <a:ln w="12700">
            <a:solidFill>
              <a:srgbClr val="E7F2F1"/>
            </a:solidFill>
            <a:prstDash val="solid"/>
          </a:ln>
        </p:spPr>
      </p:sp>
      <p:sp>
        <p:nvSpPr>
          <p:cNvPr id="22" name="heat Monday 5h"/>
          <p:cNvSpPr/>
          <p:nvPr/>
        </p:nvSpPr>
        <p:spPr>
          <a:xfrm>
            <a:off x="2895600" y="1783080"/>
            <a:ext cx="286512" cy="283464"/>
          </a:xfrm>
          <a:prstGeom prst="rect">
            <a:avLst/>
          </a:prstGeom>
          <a:solidFill>
            <a:srgbClr val="E2F0EF"/>
          </a:solidFill>
          <a:ln w="12700">
            <a:solidFill>
              <a:srgbClr val="E2F0EF"/>
            </a:solidFill>
            <a:prstDash val="solid"/>
          </a:ln>
        </p:spPr>
      </p:sp>
      <p:sp>
        <p:nvSpPr>
          <p:cNvPr id="23" name="heat Monday 6h"/>
          <p:cNvSpPr/>
          <p:nvPr/>
        </p:nvSpPr>
        <p:spPr>
          <a:xfrm>
            <a:off x="3200400" y="1783080"/>
            <a:ext cx="286512" cy="283464"/>
          </a:xfrm>
          <a:prstGeom prst="rect">
            <a:avLst/>
          </a:prstGeom>
          <a:solidFill>
            <a:srgbClr val="C4E2DF"/>
          </a:solidFill>
          <a:ln w="12700">
            <a:solidFill>
              <a:srgbClr val="C4E2DF"/>
            </a:solidFill>
            <a:prstDash val="solid"/>
          </a:ln>
        </p:spPr>
      </p:sp>
      <p:sp>
        <p:nvSpPr>
          <p:cNvPr id="24" name="heat Monday 7h"/>
          <p:cNvSpPr/>
          <p:nvPr/>
        </p:nvSpPr>
        <p:spPr>
          <a:xfrm>
            <a:off x="3505200" y="1783080"/>
            <a:ext cx="286512" cy="283464"/>
          </a:xfrm>
          <a:prstGeom prst="rect">
            <a:avLst/>
          </a:prstGeom>
          <a:solidFill>
            <a:srgbClr val="7FBFBB"/>
          </a:solidFill>
          <a:ln w="12700">
            <a:solidFill>
              <a:srgbClr val="7FBFBB"/>
            </a:solidFill>
            <a:prstDash val="solid"/>
          </a:ln>
        </p:spPr>
      </p:sp>
      <p:sp>
        <p:nvSpPr>
          <p:cNvPr id="25" name="heat Monday 8h"/>
          <p:cNvSpPr/>
          <p:nvPr/>
        </p:nvSpPr>
        <p:spPr>
          <a:xfrm>
            <a:off x="3810000" y="1783080"/>
            <a:ext cx="286512" cy="283464"/>
          </a:xfrm>
          <a:prstGeom prst="rect">
            <a:avLst/>
          </a:prstGeom>
          <a:solidFill>
            <a:srgbClr val="297470"/>
          </a:solidFill>
          <a:ln w="12700">
            <a:solidFill>
              <a:srgbClr val="297470"/>
            </a:solidFill>
            <a:prstDash val="solid"/>
          </a:ln>
        </p:spPr>
      </p:sp>
      <p:sp>
        <p:nvSpPr>
          <p:cNvPr id="26" name="heat Monday 9h"/>
          <p:cNvSpPr/>
          <p:nvPr/>
        </p:nvSpPr>
        <p:spPr>
          <a:xfrm>
            <a:off x="4114800" y="1783080"/>
            <a:ext cx="286512" cy="283464"/>
          </a:xfrm>
          <a:prstGeom prst="rect">
            <a:avLst/>
          </a:prstGeom>
          <a:solidFill>
            <a:srgbClr val="5EAFAA"/>
          </a:solidFill>
          <a:ln w="12700">
            <a:solidFill>
              <a:srgbClr val="5EAFAA"/>
            </a:solidFill>
            <a:prstDash val="solid"/>
          </a:ln>
        </p:spPr>
      </p:sp>
      <p:sp>
        <p:nvSpPr>
          <p:cNvPr id="27" name="heat Monday 10h"/>
          <p:cNvSpPr/>
          <p:nvPr/>
        </p:nvSpPr>
        <p:spPr>
          <a:xfrm>
            <a:off x="4419600" y="1783080"/>
            <a:ext cx="286512" cy="283464"/>
          </a:xfrm>
          <a:prstGeom prst="rect">
            <a:avLst/>
          </a:prstGeom>
          <a:solidFill>
            <a:srgbClr val="A1D0CD"/>
          </a:solidFill>
          <a:ln w="12700">
            <a:solidFill>
              <a:srgbClr val="A1D0CD"/>
            </a:solidFill>
            <a:prstDash val="solid"/>
          </a:ln>
        </p:spPr>
      </p:sp>
      <p:sp>
        <p:nvSpPr>
          <p:cNvPr id="28" name="heat Monday 11h"/>
          <p:cNvSpPr/>
          <p:nvPr/>
        </p:nvSpPr>
        <p:spPr>
          <a:xfrm>
            <a:off x="4724400" y="1783080"/>
            <a:ext cx="286512" cy="283464"/>
          </a:xfrm>
          <a:prstGeom prst="rect">
            <a:avLst/>
          </a:prstGeom>
          <a:solidFill>
            <a:srgbClr val="A2D1CD"/>
          </a:solidFill>
          <a:ln w="12700">
            <a:solidFill>
              <a:srgbClr val="A2D1CD"/>
            </a:solidFill>
            <a:prstDash val="solid"/>
          </a:ln>
        </p:spPr>
      </p:sp>
      <p:sp>
        <p:nvSpPr>
          <p:cNvPr id="29" name="heat Monday 12h"/>
          <p:cNvSpPr/>
          <p:nvPr/>
        </p:nvSpPr>
        <p:spPr>
          <a:xfrm>
            <a:off x="5029200" y="1783080"/>
            <a:ext cx="286512" cy="283464"/>
          </a:xfrm>
          <a:prstGeom prst="rect">
            <a:avLst/>
          </a:prstGeom>
          <a:solidFill>
            <a:srgbClr val="89C4C0"/>
          </a:solidFill>
          <a:ln w="12700">
            <a:solidFill>
              <a:srgbClr val="89C4C0"/>
            </a:solidFill>
            <a:prstDash val="solid"/>
          </a:ln>
        </p:spPr>
      </p:sp>
      <p:sp>
        <p:nvSpPr>
          <p:cNvPr id="30" name="heat Monday 13h"/>
          <p:cNvSpPr/>
          <p:nvPr/>
        </p:nvSpPr>
        <p:spPr>
          <a:xfrm>
            <a:off x="5334000" y="1783080"/>
            <a:ext cx="286512" cy="283464"/>
          </a:xfrm>
          <a:prstGeom prst="rect">
            <a:avLst/>
          </a:prstGeom>
          <a:solidFill>
            <a:srgbClr val="8AC5C1"/>
          </a:solidFill>
          <a:ln w="12700">
            <a:solidFill>
              <a:srgbClr val="8AC5C1"/>
            </a:solidFill>
            <a:prstDash val="solid"/>
          </a:ln>
        </p:spPr>
      </p:sp>
      <p:sp>
        <p:nvSpPr>
          <p:cNvPr id="31" name="heat Monday 14h"/>
          <p:cNvSpPr/>
          <p:nvPr/>
        </p:nvSpPr>
        <p:spPr>
          <a:xfrm>
            <a:off x="5638800" y="1783080"/>
            <a:ext cx="286512" cy="283464"/>
          </a:xfrm>
          <a:prstGeom prst="rect">
            <a:avLst/>
          </a:prstGeom>
          <a:solidFill>
            <a:srgbClr val="86C3BF"/>
          </a:solidFill>
          <a:ln w="12700">
            <a:solidFill>
              <a:srgbClr val="86C3BF"/>
            </a:solidFill>
            <a:prstDash val="solid"/>
          </a:ln>
        </p:spPr>
      </p:sp>
      <p:sp>
        <p:nvSpPr>
          <p:cNvPr id="32" name="heat Monday 15h"/>
          <p:cNvSpPr/>
          <p:nvPr/>
        </p:nvSpPr>
        <p:spPr>
          <a:xfrm>
            <a:off x="5943600" y="1783080"/>
            <a:ext cx="286512" cy="283464"/>
          </a:xfrm>
          <a:prstGeom prst="rect">
            <a:avLst/>
          </a:prstGeom>
          <a:solidFill>
            <a:srgbClr val="90C8C4"/>
          </a:solidFill>
          <a:ln w="12700">
            <a:solidFill>
              <a:srgbClr val="90C8C4"/>
            </a:solidFill>
            <a:prstDash val="solid"/>
          </a:ln>
        </p:spPr>
      </p:sp>
      <p:sp>
        <p:nvSpPr>
          <p:cNvPr id="33" name="heat Monday 16h"/>
          <p:cNvSpPr/>
          <p:nvPr/>
        </p:nvSpPr>
        <p:spPr>
          <a:xfrm>
            <a:off x="6248400" y="1783080"/>
            <a:ext cx="286512" cy="283464"/>
          </a:xfrm>
          <a:prstGeom prst="rect">
            <a:avLst/>
          </a:prstGeom>
          <a:solidFill>
            <a:srgbClr val="6DB7B2"/>
          </a:solidFill>
          <a:ln w="12700">
            <a:solidFill>
              <a:srgbClr val="6DB7B2"/>
            </a:solidFill>
            <a:prstDash val="solid"/>
          </a:ln>
        </p:spPr>
      </p:sp>
      <p:sp>
        <p:nvSpPr>
          <p:cNvPr id="34" name="heat Monday 17h"/>
          <p:cNvSpPr/>
          <p:nvPr/>
        </p:nvSpPr>
        <p:spPr>
          <a:xfrm>
            <a:off x="6553200" y="1783080"/>
            <a:ext cx="286512" cy="283464"/>
          </a:xfrm>
          <a:prstGeom prst="rect">
            <a:avLst/>
          </a:prstGeom>
          <a:solidFill>
            <a:srgbClr val="297470"/>
          </a:solidFill>
          <a:ln w="12700">
            <a:solidFill>
              <a:srgbClr val="297470"/>
            </a:solidFill>
            <a:prstDash val="solid"/>
          </a:ln>
        </p:spPr>
      </p:sp>
      <p:sp>
        <p:nvSpPr>
          <p:cNvPr id="35" name="heat Monday 18h"/>
          <p:cNvSpPr/>
          <p:nvPr/>
        </p:nvSpPr>
        <p:spPr>
          <a:xfrm>
            <a:off x="6858000" y="1783080"/>
            <a:ext cx="286512" cy="283464"/>
          </a:xfrm>
          <a:prstGeom prst="rect">
            <a:avLst/>
          </a:prstGeom>
          <a:solidFill>
            <a:srgbClr val="32807B"/>
          </a:solidFill>
          <a:ln w="12700">
            <a:solidFill>
              <a:srgbClr val="32807B"/>
            </a:solidFill>
            <a:prstDash val="solid"/>
          </a:ln>
        </p:spPr>
      </p:sp>
      <p:sp>
        <p:nvSpPr>
          <p:cNvPr id="36" name="heat Monday 19h"/>
          <p:cNvSpPr/>
          <p:nvPr/>
        </p:nvSpPr>
        <p:spPr>
          <a:xfrm>
            <a:off x="7162800" y="1783080"/>
            <a:ext cx="286512" cy="283464"/>
          </a:xfrm>
          <a:prstGeom prst="rect">
            <a:avLst/>
          </a:prstGeom>
          <a:solidFill>
            <a:srgbClr val="52A9A4"/>
          </a:solidFill>
          <a:ln w="12700">
            <a:solidFill>
              <a:srgbClr val="52A9A4"/>
            </a:solidFill>
            <a:prstDash val="solid"/>
          </a:ln>
        </p:spPr>
      </p:sp>
      <p:sp>
        <p:nvSpPr>
          <p:cNvPr id="37" name="heat Monday 20h"/>
          <p:cNvSpPr/>
          <p:nvPr/>
        </p:nvSpPr>
        <p:spPr>
          <a:xfrm>
            <a:off x="7467600" y="1783080"/>
            <a:ext cx="286512" cy="283464"/>
          </a:xfrm>
          <a:prstGeom prst="rect">
            <a:avLst/>
          </a:prstGeom>
          <a:solidFill>
            <a:srgbClr val="84C2BE"/>
          </a:solidFill>
          <a:ln w="12700">
            <a:solidFill>
              <a:srgbClr val="84C2BE"/>
            </a:solidFill>
            <a:prstDash val="solid"/>
          </a:ln>
        </p:spPr>
      </p:sp>
      <p:sp>
        <p:nvSpPr>
          <p:cNvPr id="38" name="heat Monday 21h"/>
          <p:cNvSpPr/>
          <p:nvPr/>
        </p:nvSpPr>
        <p:spPr>
          <a:xfrm>
            <a:off x="7772400" y="1783080"/>
            <a:ext cx="286512" cy="283464"/>
          </a:xfrm>
          <a:prstGeom prst="rect">
            <a:avLst/>
          </a:prstGeom>
          <a:solidFill>
            <a:srgbClr val="9CCECA"/>
          </a:solidFill>
          <a:ln w="12700">
            <a:solidFill>
              <a:srgbClr val="9CCECA"/>
            </a:solidFill>
            <a:prstDash val="solid"/>
          </a:ln>
        </p:spPr>
      </p:sp>
      <p:sp>
        <p:nvSpPr>
          <p:cNvPr id="39" name="heat Monday 22h"/>
          <p:cNvSpPr/>
          <p:nvPr/>
        </p:nvSpPr>
        <p:spPr>
          <a:xfrm>
            <a:off x="8077200" y="1783080"/>
            <a:ext cx="286512" cy="283464"/>
          </a:xfrm>
          <a:prstGeom prst="rect">
            <a:avLst/>
          </a:prstGeom>
          <a:solidFill>
            <a:srgbClr val="C1E0DE"/>
          </a:solidFill>
          <a:ln w="12700">
            <a:solidFill>
              <a:srgbClr val="C1E0DE"/>
            </a:solidFill>
            <a:prstDash val="solid"/>
          </a:ln>
        </p:spPr>
      </p:sp>
      <p:sp>
        <p:nvSpPr>
          <p:cNvPr id="40" name="heat Monday 23h"/>
          <p:cNvSpPr/>
          <p:nvPr/>
        </p:nvSpPr>
        <p:spPr>
          <a:xfrm>
            <a:off x="8382000" y="1783080"/>
            <a:ext cx="286512" cy="283464"/>
          </a:xfrm>
          <a:prstGeom prst="rect">
            <a:avLst/>
          </a:prstGeom>
          <a:solidFill>
            <a:srgbClr val="D0E7E6"/>
          </a:solidFill>
          <a:ln w="12700">
            <a:solidFill>
              <a:srgbClr val="D0E7E6"/>
            </a:solidFill>
            <a:prstDash val="solid"/>
          </a:ln>
        </p:spPr>
      </p:sp>
      <p:sp>
        <p:nvSpPr>
          <p:cNvPr id="41" name="Text 39"/>
          <p:cNvSpPr txBox="1"/>
          <p:nvPr/>
        </p:nvSpPr>
        <p:spPr>
          <a:xfrm>
            <a:off x="365760" y="2093976"/>
            <a:ext cx="960120" cy="283464"/>
          </a:xfrm>
          <a:prstGeom prst="rect">
            <a:avLst/>
          </a:prstGeom>
          <a:noFill/>
          <a:ln/>
        </p:spPr>
        <p:txBody>
          <a:bodyPr wrap="square" lIns="0" tIns="0" rIns="0" bIns="0" rtlCol="0" anchor="ctr"/>
          <a:lstStyle/>
          <a:p>
            <a:pPr marL="0" indent="0" algn="r">
              <a:buNone/>
            </a:pPr>
            <a:r>
              <a:rPr lang="en-US" sz="1100" dirty="0">
                <a:solidFill>
                  <a:srgbClr val="44514F"/>
                </a:solidFill>
              </a:rPr>
              <a:t>Tuesday</a:t>
            </a:r>
            <a:endParaRPr lang="en-US" sz="1100" dirty="0"/>
          </a:p>
        </p:txBody>
      </p:sp>
      <p:sp>
        <p:nvSpPr>
          <p:cNvPr id="42" name="heat Tuesday 0h"/>
          <p:cNvSpPr/>
          <p:nvPr/>
        </p:nvSpPr>
        <p:spPr>
          <a:xfrm>
            <a:off x="1371600" y="2093976"/>
            <a:ext cx="286512" cy="283464"/>
          </a:xfrm>
          <a:prstGeom prst="rect">
            <a:avLst/>
          </a:prstGeom>
          <a:solidFill>
            <a:srgbClr val="DCEDEC"/>
          </a:solidFill>
          <a:ln w="12700">
            <a:solidFill>
              <a:srgbClr val="DCEDEC"/>
            </a:solidFill>
            <a:prstDash val="solid"/>
          </a:ln>
        </p:spPr>
      </p:sp>
      <p:sp>
        <p:nvSpPr>
          <p:cNvPr id="43" name="heat Tuesday 1h"/>
          <p:cNvSpPr/>
          <p:nvPr/>
        </p:nvSpPr>
        <p:spPr>
          <a:xfrm>
            <a:off x="1676400" y="2093976"/>
            <a:ext cx="286512" cy="283464"/>
          </a:xfrm>
          <a:prstGeom prst="rect">
            <a:avLst/>
          </a:prstGeom>
          <a:solidFill>
            <a:srgbClr val="E5F2F0"/>
          </a:solidFill>
          <a:ln w="12700">
            <a:solidFill>
              <a:srgbClr val="E5F2F0"/>
            </a:solidFill>
            <a:prstDash val="solid"/>
          </a:ln>
        </p:spPr>
      </p:sp>
      <p:sp>
        <p:nvSpPr>
          <p:cNvPr id="44" name="heat Tuesday 2h"/>
          <p:cNvSpPr/>
          <p:nvPr/>
        </p:nvSpPr>
        <p:spPr>
          <a:xfrm>
            <a:off x="1981200" y="2093976"/>
            <a:ext cx="286512" cy="283464"/>
          </a:xfrm>
          <a:prstGeom prst="rect">
            <a:avLst/>
          </a:prstGeom>
          <a:solidFill>
            <a:srgbClr val="E7F2F1"/>
          </a:solidFill>
          <a:ln w="12700">
            <a:solidFill>
              <a:srgbClr val="E7F2F1"/>
            </a:solidFill>
            <a:prstDash val="solid"/>
          </a:ln>
        </p:spPr>
      </p:sp>
      <p:sp>
        <p:nvSpPr>
          <p:cNvPr id="45" name="heat Tuesday 3h"/>
          <p:cNvSpPr/>
          <p:nvPr/>
        </p:nvSpPr>
        <p:spPr>
          <a:xfrm>
            <a:off x="2286000" y="2093976"/>
            <a:ext cx="286512" cy="283464"/>
          </a:xfrm>
          <a:prstGeom prst="rect">
            <a:avLst/>
          </a:prstGeom>
          <a:solidFill>
            <a:srgbClr val="E7F2F1"/>
          </a:solidFill>
          <a:ln w="12700">
            <a:solidFill>
              <a:srgbClr val="E7F2F1"/>
            </a:solidFill>
            <a:prstDash val="solid"/>
          </a:ln>
        </p:spPr>
      </p:sp>
      <p:sp>
        <p:nvSpPr>
          <p:cNvPr id="46" name="heat Tuesday 4h"/>
          <p:cNvSpPr/>
          <p:nvPr/>
        </p:nvSpPr>
        <p:spPr>
          <a:xfrm>
            <a:off x="2590800" y="2093976"/>
            <a:ext cx="286512" cy="283464"/>
          </a:xfrm>
          <a:prstGeom prst="rect">
            <a:avLst/>
          </a:prstGeom>
          <a:solidFill>
            <a:srgbClr val="E7F2F1"/>
          </a:solidFill>
          <a:ln w="12700">
            <a:solidFill>
              <a:srgbClr val="E7F2F1"/>
            </a:solidFill>
            <a:prstDash val="solid"/>
          </a:ln>
        </p:spPr>
      </p:sp>
      <p:sp>
        <p:nvSpPr>
          <p:cNvPr id="47" name="heat Tuesday 5h"/>
          <p:cNvSpPr/>
          <p:nvPr/>
        </p:nvSpPr>
        <p:spPr>
          <a:xfrm>
            <a:off x="2895600" y="2093976"/>
            <a:ext cx="286512" cy="283464"/>
          </a:xfrm>
          <a:prstGeom prst="rect">
            <a:avLst/>
          </a:prstGeom>
          <a:solidFill>
            <a:srgbClr val="E2F0EF"/>
          </a:solidFill>
          <a:ln w="12700">
            <a:solidFill>
              <a:srgbClr val="E2F0EF"/>
            </a:solidFill>
            <a:prstDash val="solid"/>
          </a:ln>
        </p:spPr>
      </p:sp>
      <p:sp>
        <p:nvSpPr>
          <p:cNvPr id="48" name="heat Tuesday 6h"/>
          <p:cNvSpPr/>
          <p:nvPr/>
        </p:nvSpPr>
        <p:spPr>
          <a:xfrm>
            <a:off x="3200400" y="2093976"/>
            <a:ext cx="286512" cy="283464"/>
          </a:xfrm>
          <a:prstGeom prst="rect">
            <a:avLst/>
          </a:prstGeom>
          <a:solidFill>
            <a:srgbClr val="BADCDA"/>
          </a:solidFill>
          <a:ln w="12700">
            <a:solidFill>
              <a:srgbClr val="BADCDA"/>
            </a:solidFill>
            <a:prstDash val="solid"/>
          </a:ln>
        </p:spPr>
      </p:sp>
      <p:sp>
        <p:nvSpPr>
          <p:cNvPr id="49" name="heat Tuesday 7h"/>
          <p:cNvSpPr/>
          <p:nvPr/>
        </p:nvSpPr>
        <p:spPr>
          <a:xfrm>
            <a:off x="3505200" y="2093976"/>
            <a:ext cx="286512" cy="283464"/>
          </a:xfrm>
          <a:prstGeom prst="rect">
            <a:avLst/>
          </a:prstGeom>
          <a:solidFill>
            <a:srgbClr val="62B1AC"/>
          </a:solidFill>
          <a:ln w="12700">
            <a:solidFill>
              <a:srgbClr val="62B1AC"/>
            </a:solidFill>
            <a:prstDash val="solid"/>
          </a:ln>
        </p:spPr>
      </p:sp>
      <p:sp>
        <p:nvSpPr>
          <p:cNvPr id="50" name="heat Tuesday 8h"/>
          <p:cNvSpPr/>
          <p:nvPr/>
        </p:nvSpPr>
        <p:spPr>
          <a:xfrm>
            <a:off x="3810000" y="2093976"/>
            <a:ext cx="286512" cy="283464"/>
          </a:xfrm>
          <a:prstGeom prst="rect">
            <a:avLst/>
          </a:prstGeom>
          <a:solidFill>
            <a:srgbClr val="0D4F4B"/>
          </a:solidFill>
          <a:ln w="12700">
            <a:solidFill>
              <a:srgbClr val="0D4F4B"/>
            </a:solidFill>
            <a:prstDash val="solid"/>
          </a:ln>
        </p:spPr>
      </p:sp>
      <p:sp>
        <p:nvSpPr>
          <p:cNvPr id="51" name="heat Tuesday 9h"/>
          <p:cNvSpPr/>
          <p:nvPr/>
        </p:nvSpPr>
        <p:spPr>
          <a:xfrm>
            <a:off x="4114800" y="2093976"/>
            <a:ext cx="286512" cy="283464"/>
          </a:xfrm>
          <a:prstGeom prst="rect">
            <a:avLst/>
          </a:prstGeom>
          <a:solidFill>
            <a:srgbClr val="41958F"/>
          </a:solidFill>
          <a:ln w="12700">
            <a:solidFill>
              <a:srgbClr val="41958F"/>
            </a:solidFill>
            <a:prstDash val="solid"/>
          </a:ln>
        </p:spPr>
      </p:sp>
      <p:sp>
        <p:nvSpPr>
          <p:cNvPr id="52" name="heat Tuesday 10h"/>
          <p:cNvSpPr/>
          <p:nvPr/>
        </p:nvSpPr>
        <p:spPr>
          <a:xfrm>
            <a:off x="4419600" y="2093976"/>
            <a:ext cx="286512" cy="283464"/>
          </a:xfrm>
          <a:prstGeom prst="rect">
            <a:avLst/>
          </a:prstGeom>
          <a:solidFill>
            <a:srgbClr val="A1D0CD"/>
          </a:solidFill>
          <a:ln w="12700">
            <a:solidFill>
              <a:srgbClr val="A1D0CD"/>
            </a:solidFill>
            <a:prstDash val="solid"/>
          </a:ln>
        </p:spPr>
      </p:sp>
      <p:sp>
        <p:nvSpPr>
          <p:cNvPr id="53" name="heat Tuesday 11h"/>
          <p:cNvSpPr/>
          <p:nvPr/>
        </p:nvSpPr>
        <p:spPr>
          <a:xfrm>
            <a:off x="4724400" y="2093976"/>
            <a:ext cx="286512" cy="283464"/>
          </a:xfrm>
          <a:prstGeom prst="rect">
            <a:avLst/>
          </a:prstGeom>
          <a:solidFill>
            <a:srgbClr val="9ECFCB"/>
          </a:solidFill>
          <a:ln w="12700">
            <a:solidFill>
              <a:srgbClr val="9ECFCB"/>
            </a:solidFill>
            <a:prstDash val="solid"/>
          </a:ln>
        </p:spPr>
      </p:sp>
      <p:sp>
        <p:nvSpPr>
          <p:cNvPr id="54" name="heat Tuesday 12h"/>
          <p:cNvSpPr/>
          <p:nvPr/>
        </p:nvSpPr>
        <p:spPr>
          <a:xfrm>
            <a:off x="5029200" y="2093976"/>
            <a:ext cx="286512" cy="283464"/>
          </a:xfrm>
          <a:prstGeom prst="rect">
            <a:avLst/>
          </a:prstGeom>
          <a:solidFill>
            <a:srgbClr val="8FC7C3"/>
          </a:solidFill>
          <a:ln w="12700">
            <a:solidFill>
              <a:srgbClr val="8FC7C3"/>
            </a:solidFill>
            <a:prstDash val="solid"/>
          </a:ln>
        </p:spPr>
      </p:sp>
      <p:sp>
        <p:nvSpPr>
          <p:cNvPr id="55" name="heat Tuesday 13h"/>
          <p:cNvSpPr/>
          <p:nvPr/>
        </p:nvSpPr>
        <p:spPr>
          <a:xfrm>
            <a:off x="5334000" y="2093976"/>
            <a:ext cx="286512" cy="283464"/>
          </a:xfrm>
          <a:prstGeom prst="rect">
            <a:avLst/>
          </a:prstGeom>
          <a:solidFill>
            <a:srgbClr val="8FC7C3"/>
          </a:solidFill>
          <a:ln w="12700">
            <a:solidFill>
              <a:srgbClr val="8FC7C3"/>
            </a:solidFill>
            <a:prstDash val="solid"/>
          </a:ln>
        </p:spPr>
      </p:sp>
      <p:sp>
        <p:nvSpPr>
          <p:cNvPr id="56" name="heat Tuesday 14h"/>
          <p:cNvSpPr/>
          <p:nvPr/>
        </p:nvSpPr>
        <p:spPr>
          <a:xfrm>
            <a:off x="5638800" y="2093976"/>
            <a:ext cx="286512" cy="283464"/>
          </a:xfrm>
          <a:prstGeom prst="rect">
            <a:avLst/>
          </a:prstGeom>
          <a:solidFill>
            <a:srgbClr val="95CAC7"/>
          </a:solidFill>
          <a:ln w="12700">
            <a:solidFill>
              <a:srgbClr val="95CAC7"/>
            </a:solidFill>
            <a:prstDash val="solid"/>
          </a:ln>
        </p:spPr>
      </p:sp>
      <p:sp>
        <p:nvSpPr>
          <p:cNvPr id="57" name="heat Tuesday 15h"/>
          <p:cNvSpPr/>
          <p:nvPr/>
        </p:nvSpPr>
        <p:spPr>
          <a:xfrm>
            <a:off x="5943600" y="2093976"/>
            <a:ext cx="286512" cy="283464"/>
          </a:xfrm>
          <a:prstGeom prst="rect">
            <a:avLst/>
          </a:prstGeom>
          <a:solidFill>
            <a:srgbClr val="96CBC7"/>
          </a:solidFill>
          <a:ln w="12700">
            <a:solidFill>
              <a:srgbClr val="96CBC7"/>
            </a:solidFill>
            <a:prstDash val="solid"/>
          </a:ln>
        </p:spPr>
      </p:sp>
      <p:sp>
        <p:nvSpPr>
          <p:cNvPr id="58" name="heat Tuesday 16h"/>
          <p:cNvSpPr/>
          <p:nvPr/>
        </p:nvSpPr>
        <p:spPr>
          <a:xfrm>
            <a:off x="6248400" y="2093976"/>
            <a:ext cx="286512" cy="283464"/>
          </a:xfrm>
          <a:prstGeom prst="rect">
            <a:avLst/>
          </a:prstGeom>
          <a:solidFill>
            <a:srgbClr val="73B9B5"/>
          </a:solidFill>
          <a:ln w="12700">
            <a:solidFill>
              <a:srgbClr val="73B9B5"/>
            </a:solidFill>
            <a:prstDash val="solid"/>
          </a:ln>
        </p:spPr>
      </p:sp>
      <p:sp>
        <p:nvSpPr>
          <p:cNvPr id="59" name="heat Tuesday 17h"/>
          <p:cNvSpPr/>
          <p:nvPr/>
        </p:nvSpPr>
        <p:spPr>
          <a:xfrm>
            <a:off x="6553200" y="2093976"/>
            <a:ext cx="286512" cy="283464"/>
          </a:xfrm>
          <a:prstGeom prst="rect">
            <a:avLst/>
          </a:prstGeom>
          <a:solidFill>
            <a:srgbClr val="206864"/>
          </a:solidFill>
          <a:ln w="12700">
            <a:solidFill>
              <a:srgbClr val="206864"/>
            </a:solidFill>
            <a:prstDash val="solid"/>
          </a:ln>
        </p:spPr>
      </p:sp>
      <p:sp>
        <p:nvSpPr>
          <p:cNvPr id="60" name="heat Tuesday 18h"/>
          <p:cNvSpPr/>
          <p:nvPr/>
        </p:nvSpPr>
        <p:spPr>
          <a:xfrm>
            <a:off x="6858000" y="2093976"/>
            <a:ext cx="286512" cy="283464"/>
          </a:xfrm>
          <a:prstGeom prst="rect">
            <a:avLst/>
          </a:prstGeom>
          <a:solidFill>
            <a:srgbClr val="2A7671"/>
          </a:solidFill>
          <a:ln w="12700">
            <a:solidFill>
              <a:srgbClr val="2A7671"/>
            </a:solidFill>
            <a:prstDash val="solid"/>
          </a:ln>
        </p:spPr>
      </p:sp>
      <p:sp>
        <p:nvSpPr>
          <p:cNvPr id="61" name="heat Tuesday 19h"/>
          <p:cNvSpPr/>
          <p:nvPr/>
        </p:nvSpPr>
        <p:spPr>
          <a:xfrm>
            <a:off x="7162800" y="2093976"/>
            <a:ext cx="286512" cy="283464"/>
          </a:xfrm>
          <a:prstGeom prst="rect">
            <a:avLst/>
          </a:prstGeom>
          <a:solidFill>
            <a:srgbClr val="50A9A3"/>
          </a:solidFill>
          <a:ln w="12700">
            <a:solidFill>
              <a:srgbClr val="50A9A3"/>
            </a:solidFill>
            <a:prstDash val="solid"/>
          </a:ln>
        </p:spPr>
      </p:sp>
      <p:sp>
        <p:nvSpPr>
          <p:cNvPr id="62" name="heat Tuesday 20h"/>
          <p:cNvSpPr/>
          <p:nvPr/>
        </p:nvSpPr>
        <p:spPr>
          <a:xfrm>
            <a:off x="7467600" y="2093976"/>
            <a:ext cx="286512" cy="283464"/>
          </a:xfrm>
          <a:prstGeom prst="rect">
            <a:avLst/>
          </a:prstGeom>
          <a:solidFill>
            <a:srgbClr val="82C1BC"/>
          </a:solidFill>
          <a:ln w="12700">
            <a:solidFill>
              <a:srgbClr val="82C1BC"/>
            </a:solidFill>
            <a:prstDash val="solid"/>
          </a:ln>
        </p:spPr>
      </p:sp>
      <p:sp>
        <p:nvSpPr>
          <p:cNvPr id="63" name="heat Tuesday 21h"/>
          <p:cNvSpPr/>
          <p:nvPr/>
        </p:nvSpPr>
        <p:spPr>
          <a:xfrm>
            <a:off x="7772400" y="2093976"/>
            <a:ext cx="286512" cy="283464"/>
          </a:xfrm>
          <a:prstGeom prst="rect">
            <a:avLst/>
          </a:prstGeom>
          <a:solidFill>
            <a:srgbClr val="A7D3D0"/>
          </a:solidFill>
          <a:ln w="12700">
            <a:solidFill>
              <a:srgbClr val="A7D3D0"/>
            </a:solidFill>
            <a:prstDash val="solid"/>
          </a:ln>
        </p:spPr>
      </p:sp>
      <p:sp>
        <p:nvSpPr>
          <p:cNvPr id="64" name="heat Tuesday 22h"/>
          <p:cNvSpPr/>
          <p:nvPr/>
        </p:nvSpPr>
        <p:spPr>
          <a:xfrm>
            <a:off x="8077200" y="2093976"/>
            <a:ext cx="286512" cy="283464"/>
          </a:xfrm>
          <a:prstGeom prst="rect">
            <a:avLst/>
          </a:prstGeom>
          <a:solidFill>
            <a:srgbClr val="B4DAD7"/>
          </a:solidFill>
          <a:ln w="12700">
            <a:solidFill>
              <a:srgbClr val="B4DAD7"/>
            </a:solidFill>
            <a:prstDash val="solid"/>
          </a:ln>
        </p:spPr>
      </p:sp>
      <p:sp>
        <p:nvSpPr>
          <p:cNvPr id="65" name="heat Tuesday 23h"/>
          <p:cNvSpPr/>
          <p:nvPr/>
        </p:nvSpPr>
        <p:spPr>
          <a:xfrm>
            <a:off x="8382000" y="2093976"/>
            <a:ext cx="286512" cy="283464"/>
          </a:xfrm>
          <a:prstGeom prst="rect">
            <a:avLst/>
          </a:prstGeom>
          <a:solidFill>
            <a:srgbClr val="CCE5E3"/>
          </a:solidFill>
          <a:ln w="12700">
            <a:solidFill>
              <a:srgbClr val="CCE5E3"/>
            </a:solidFill>
            <a:prstDash val="solid"/>
          </a:ln>
        </p:spPr>
      </p:sp>
      <p:sp>
        <p:nvSpPr>
          <p:cNvPr id="66" name="Text 64"/>
          <p:cNvSpPr txBox="1"/>
          <p:nvPr/>
        </p:nvSpPr>
        <p:spPr>
          <a:xfrm>
            <a:off x="365760" y="2404872"/>
            <a:ext cx="960120" cy="283464"/>
          </a:xfrm>
          <a:prstGeom prst="rect">
            <a:avLst/>
          </a:prstGeom>
          <a:noFill/>
          <a:ln/>
        </p:spPr>
        <p:txBody>
          <a:bodyPr wrap="square" lIns="0" tIns="0" rIns="0" bIns="0" rtlCol="0" anchor="ctr"/>
          <a:lstStyle/>
          <a:p>
            <a:pPr marL="0" indent="0" algn="r">
              <a:buNone/>
            </a:pPr>
            <a:r>
              <a:rPr lang="en-US" sz="1100" dirty="0">
                <a:solidFill>
                  <a:srgbClr val="44514F"/>
                </a:solidFill>
              </a:rPr>
              <a:t>Wednesday</a:t>
            </a:r>
            <a:endParaRPr lang="en-US" sz="1100" dirty="0"/>
          </a:p>
        </p:txBody>
      </p:sp>
      <p:sp>
        <p:nvSpPr>
          <p:cNvPr id="67" name="heat Wednesday 0h"/>
          <p:cNvSpPr/>
          <p:nvPr/>
        </p:nvSpPr>
        <p:spPr>
          <a:xfrm>
            <a:off x="1371600" y="2404872"/>
            <a:ext cx="286512" cy="283464"/>
          </a:xfrm>
          <a:prstGeom prst="rect">
            <a:avLst/>
          </a:prstGeom>
          <a:solidFill>
            <a:srgbClr val="DCEDEC"/>
          </a:solidFill>
          <a:ln w="12700">
            <a:solidFill>
              <a:srgbClr val="DCEDEC"/>
            </a:solidFill>
            <a:prstDash val="solid"/>
          </a:ln>
        </p:spPr>
      </p:sp>
      <p:sp>
        <p:nvSpPr>
          <p:cNvPr id="68" name="heat Wednesday 1h"/>
          <p:cNvSpPr/>
          <p:nvPr/>
        </p:nvSpPr>
        <p:spPr>
          <a:xfrm>
            <a:off x="1676400" y="2404872"/>
            <a:ext cx="286512" cy="283464"/>
          </a:xfrm>
          <a:prstGeom prst="rect">
            <a:avLst/>
          </a:prstGeom>
          <a:solidFill>
            <a:srgbClr val="E1EFEE"/>
          </a:solidFill>
          <a:ln w="12700">
            <a:solidFill>
              <a:srgbClr val="E1EFEE"/>
            </a:solidFill>
            <a:prstDash val="solid"/>
          </a:ln>
        </p:spPr>
      </p:sp>
      <p:sp>
        <p:nvSpPr>
          <p:cNvPr id="69" name="heat Wednesday 2h"/>
          <p:cNvSpPr/>
          <p:nvPr/>
        </p:nvSpPr>
        <p:spPr>
          <a:xfrm>
            <a:off x="1981200" y="2404872"/>
            <a:ext cx="286512" cy="283464"/>
          </a:xfrm>
          <a:prstGeom prst="rect">
            <a:avLst/>
          </a:prstGeom>
          <a:solidFill>
            <a:srgbClr val="E4F1F0"/>
          </a:solidFill>
          <a:ln w="12700">
            <a:solidFill>
              <a:srgbClr val="E4F1F0"/>
            </a:solidFill>
            <a:prstDash val="solid"/>
          </a:ln>
        </p:spPr>
      </p:sp>
      <p:sp>
        <p:nvSpPr>
          <p:cNvPr id="70" name="heat Wednesday 3h"/>
          <p:cNvSpPr/>
          <p:nvPr/>
        </p:nvSpPr>
        <p:spPr>
          <a:xfrm>
            <a:off x="2286000" y="2404872"/>
            <a:ext cx="286512" cy="283464"/>
          </a:xfrm>
          <a:prstGeom prst="rect">
            <a:avLst/>
          </a:prstGeom>
          <a:solidFill>
            <a:srgbClr val="E7F2F1"/>
          </a:solidFill>
          <a:ln w="12700">
            <a:solidFill>
              <a:srgbClr val="E7F2F1"/>
            </a:solidFill>
            <a:prstDash val="solid"/>
          </a:ln>
        </p:spPr>
      </p:sp>
      <p:sp>
        <p:nvSpPr>
          <p:cNvPr id="71" name="heat Wednesday 4h"/>
          <p:cNvSpPr/>
          <p:nvPr/>
        </p:nvSpPr>
        <p:spPr>
          <a:xfrm>
            <a:off x="2590800" y="2404872"/>
            <a:ext cx="286512" cy="283464"/>
          </a:xfrm>
          <a:prstGeom prst="rect">
            <a:avLst/>
          </a:prstGeom>
          <a:solidFill>
            <a:srgbClr val="E7F2F1"/>
          </a:solidFill>
          <a:ln w="12700">
            <a:solidFill>
              <a:srgbClr val="E7F2F1"/>
            </a:solidFill>
            <a:prstDash val="solid"/>
          </a:ln>
        </p:spPr>
      </p:sp>
      <p:sp>
        <p:nvSpPr>
          <p:cNvPr id="72" name="heat Wednesday 5h"/>
          <p:cNvSpPr/>
          <p:nvPr/>
        </p:nvSpPr>
        <p:spPr>
          <a:xfrm>
            <a:off x="2895600" y="2404872"/>
            <a:ext cx="286512" cy="283464"/>
          </a:xfrm>
          <a:prstGeom prst="rect">
            <a:avLst/>
          </a:prstGeom>
          <a:solidFill>
            <a:srgbClr val="E4F1F0"/>
          </a:solidFill>
          <a:ln w="12700">
            <a:solidFill>
              <a:srgbClr val="E4F1F0"/>
            </a:solidFill>
            <a:prstDash val="solid"/>
          </a:ln>
        </p:spPr>
      </p:sp>
      <p:sp>
        <p:nvSpPr>
          <p:cNvPr id="73" name="heat Wednesday 6h"/>
          <p:cNvSpPr/>
          <p:nvPr/>
        </p:nvSpPr>
        <p:spPr>
          <a:xfrm>
            <a:off x="3200400" y="2404872"/>
            <a:ext cx="286512" cy="283464"/>
          </a:xfrm>
          <a:prstGeom prst="rect">
            <a:avLst/>
          </a:prstGeom>
          <a:solidFill>
            <a:srgbClr val="C4E2DF"/>
          </a:solidFill>
          <a:ln w="12700">
            <a:solidFill>
              <a:srgbClr val="C4E2DF"/>
            </a:solidFill>
            <a:prstDash val="solid"/>
          </a:ln>
        </p:spPr>
      </p:sp>
      <p:sp>
        <p:nvSpPr>
          <p:cNvPr id="74" name="heat Wednesday 7h"/>
          <p:cNvSpPr/>
          <p:nvPr/>
        </p:nvSpPr>
        <p:spPr>
          <a:xfrm>
            <a:off x="3505200" y="2404872"/>
            <a:ext cx="286512" cy="283464"/>
          </a:xfrm>
          <a:prstGeom prst="rect">
            <a:avLst/>
          </a:prstGeom>
          <a:solidFill>
            <a:srgbClr val="84C2BE"/>
          </a:solidFill>
          <a:ln w="12700">
            <a:solidFill>
              <a:srgbClr val="84C2BE"/>
            </a:solidFill>
            <a:prstDash val="solid"/>
          </a:ln>
        </p:spPr>
      </p:sp>
      <p:sp>
        <p:nvSpPr>
          <p:cNvPr id="75" name="heat Wednesday 8h"/>
          <p:cNvSpPr/>
          <p:nvPr/>
        </p:nvSpPr>
        <p:spPr>
          <a:xfrm>
            <a:off x="3810000" y="2404872"/>
            <a:ext cx="286512" cy="283464"/>
          </a:xfrm>
          <a:prstGeom prst="rect">
            <a:avLst/>
          </a:prstGeom>
          <a:solidFill>
            <a:srgbClr val="2B7772"/>
          </a:solidFill>
          <a:ln w="12700">
            <a:solidFill>
              <a:srgbClr val="2B7772"/>
            </a:solidFill>
            <a:prstDash val="solid"/>
          </a:ln>
        </p:spPr>
      </p:sp>
      <p:sp>
        <p:nvSpPr>
          <p:cNvPr id="76" name="heat Wednesday 9h"/>
          <p:cNvSpPr/>
          <p:nvPr/>
        </p:nvSpPr>
        <p:spPr>
          <a:xfrm>
            <a:off x="4114800" y="2404872"/>
            <a:ext cx="286512" cy="283464"/>
          </a:xfrm>
          <a:prstGeom prst="rect">
            <a:avLst/>
          </a:prstGeom>
          <a:solidFill>
            <a:srgbClr val="52A9A4"/>
          </a:solidFill>
          <a:ln w="12700">
            <a:solidFill>
              <a:srgbClr val="52A9A4"/>
            </a:solidFill>
            <a:prstDash val="solid"/>
          </a:ln>
        </p:spPr>
      </p:sp>
      <p:sp>
        <p:nvSpPr>
          <p:cNvPr id="77" name="heat Wednesday 10h"/>
          <p:cNvSpPr/>
          <p:nvPr/>
        </p:nvSpPr>
        <p:spPr>
          <a:xfrm>
            <a:off x="4419600" y="2404872"/>
            <a:ext cx="286512" cy="283464"/>
          </a:xfrm>
          <a:prstGeom prst="rect">
            <a:avLst/>
          </a:prstGeom>
          <a:solidFill>
            <a:srgbClr val="A2D1CD"/>
          </a:solidFill>
          <a:ln w="12700">
            <a:solidFill>
              <a:srgbClr val="A2D1CD"/>
            </a:solidFill>
            <a:prstDash val="solid"/>
          </a:ln>
        </p:spPr>
      </p:sp>
      <p:sp>
        <p:nvSpPr>
          <p:cNvPr id="78" name="heat Wednesday 11h"/>
          <p:cNvSpPr/>
          <p:nvPr/>
        </p:nvSpPr>
        <p:spPr>
          <a:xfrm>
            <a:off x="4724400" y="2404872"/>
            <a:ext cx="286512" cy="283464"/>
          </a:xfrm>
          <a:prstGeom prst="rect">
            <a:avLst/>
          </a:prstGeom>
          <a:solidFill>
            <a:srgbClr val="A8D4D1"/>
          </a:solidFill>
          <a:ln w="12700">
            <a:solidFill>
              <a:srgbClr val="A8D4D1"/>
            </a:solidFill>
            <a:prstDash val="solid"/>
          </a:ln>
        </p:spPr>
      </p:sp>
      <p:sp>
        <p:nvSpPr>
          <p:cNvPr id="79" name="heat Wednesday 12h"/>
          <p:cNvSpPr/>
          <p:nvPr/>
        </p:nvSpPr>
        <p:spPr>
          <a:xfrm>
            <a:off x="5029200" y="2404872"/>
            <a:ext cx="286512" cy="283464"/>
          </a:xfrm>
          <a:prstGeom prst="rect">
            <a:avLst/>
          </a:prstGeom>
          <a:solidFill>
            <a:srgbClr val="8CC6C2"/>
          </a:solidFill>
          <a:ln w="12700">
            <a:solidFill>
              <a:srgbClr val="8CC6C2"/>
            </a:solidFill>
            <a:prstDash val="solid"/>
          </a:ln>
        </p:spPr>
      </p:sp>
      <p:sp>
        <p:nvSpPr>
          <p:cNvPr id="80" name="heat Wednesday 13h"/>
          <p:cNvSpPr/>
          <p:nvPr/>
        </p:nvSpPr>
        <p:spPr>
          <a:xfrm>
            <a:off x="5334000" y="2404872"/>
            <a:ext cx="286512" cy="283464"/>
          </a:xfrm>
          <a:prstGeom prst="rect">
            <a:avLst/>
          </a:prstGeom>
          <a:solidFill>
            <a:srgbClr val="89C4C0"/>
          </a:solidFill>
          <a:ln w="12700">
            <a:solidFill>
              <a:srgbClr val="89C4C0"/>
            </a:solidFill>
            <a:prstDash val="solid"/>
          </a:ln>
        </p:spPr>
      </p:sp>
      <p:sp>
        <p:nvSpPr>
          <p:cNvPr id="81" name="heat Wednesday 14h"/>
          <p:cNvSpPr/>
          <p:nvPr/>
        </p:nvSpPr>
        <p:spPr>
          <a:xfrm>
            <a:off x="5638800" y="2404872"/>
            <a:ext cx="286512" cy="283464"/>
          </a:xfrm>
          <a:prstGeom prst="rect">
            <a:avLst/>
          </a:prstGeom>
          <a:solidFill>
            <a:srgbClr val="96CBC7"/>
          </a:solidFill>
          <a:ln w="12700">
            <a:solidFill>
              <a:srgbClr val="96CBC7"/>
            </a:solidFill>
            <a:prstDash val="solid"/>
          </a:ln>
        </p:spPr>
      </p:sp>
      <p:sp>
        <p:nvSpPr>
          <p:cNvPr id="82" name="heat Wednesday 15h"/>
          <p:cNvSpPr/>
          <p:nvPr/>
        </p:nvSpPr>
        <p:spPr>
          <a:xfrm>
            <a:off x="5943600" y="2404872"/>
            <a:ext cx="286512" cy="283464"/>
          </a:xfrm>
          <a:prstGeom prst="rect">
            <a:avLst/>
          </a:prstGeom>
          <a:solidFill>
            <a:srgbClr val="8CC6C2"/>
          </a:solidFill>
          <a:ln w="12700">
            <a:solidFill>
              <a:srgbClr val="8CC6C2"/>
            </a:solidFill>
            <a:prstDash val="solid"/>
          </a:ln>
        </p:spPr>
      </p:sp>
      <p:sp>
        <p:nvSpPr>
          <p:cNvPr id="83" name="heat Wednesday 16h"/>
          <p:cNvSpPr/>
          <p:nvPr/>
        </p:nvSpPr>
        <p:spPr>
          <a:xfrm>
            <a:off x="6248400" y="2404872"/>
            <a:ext cx="286512" cy="283464"/>
          </a:xfrm>
          <a:prstGeom prst="rect">
            <a:avLst/>
          </a:prstGeom>
          <a:solidFill>
            <a:srgbClr val="73B9B5"/>
          </a:solidFill>
          <a:ln w="12700">
            <a:solidFill>
              <a:srgbClr val="73B9B5"/>
            </a:solidFill>
            <a:prstDash val="solid"/>
          </a:ln>
        </p:spPr>
      </p:sp>
      <p:sp>
        <p:nvSpPr>
          <p:cNvPr id="84" name="heat Wednesday 17h"/>
          <p:cNvSpPr/>
          <p:nvPr/>
        </p:nvSpPr>
        <p:spPr>
          <a:xfrm>
            <a:off x="6553200" y="2404872"/>
            <a:ext cx="286512" cy="283464"/>
          </a:xfrm>
          <a:prstGeom prst="rect">
            <a:avLst/>
          </a:prstGeom>
          <a:solidFill>
            <a:srgbClr val="307D78"/>
          </a:solidFill>
          <a:ln w="12700">
            <a:solidFill>
              <a:srgbClr val="307D78"/>
            </a:solidFill>
            <a:prstDash val="solid"/>
          </a:ln>
        </p:spPr>
      </p:sp>
      <p:sp>
        <p:nvSpPr>
          <p:cNvPr id="85" name="heat Wednesday 18h"/>
          <p:cNvSpPr/>
          <p:nvPr/>
        </p:nvSpPr>
        <p:spPr>
          <a:xfrm>
            <a:off x="6858000" y="2404872"/>
            <a:ext cx="286512" cy="283464"/>
          </a:xfrm>
          <a:prstGeom prst="rect">
            <a:avLst/>
          </a:prstGeom>
          <a:solidFill>
            <a:srgbClr val="27716D"/>
          </a:solidFill>
          <a:ln w="12700">
            <a:solidFill>
              <a:srgbClr val="27716D"/>
            </a:solidFill>
            <a:prstDash val="solid"/>
          </a:ln>
        </p:spPr>
      </p:sp>
      <p:sp>
        <p:nvSpPr>
          <p:cNvPr id="86" name="heat Wednesday 19h"/>
          <p:cNvSpPr/>
          <p:nvPr/>
        </p:nvSpPr>
        <p:spPr>
          <a:xfrm>
            <a:off x="7162800" y="2404872"/>
            <a:ext cx="286512" cy="283464"/>
          </a:xfrm>
          <a:prstGeom prst="rect">
            <a:avLst/>
          </a:prstGeom>
          <a:solidFill>
            <a:srgbClr val="53AAA4"/>
          </a:solidFill>
          <a:ln w="12700">
            <a:solidFill>
              <a:srgbClr val="53AAA4"/>
            </a:solidFill>
            <a:prstDash val="solid"/>
          </a:ln>
        </p:spPr>
      </p:sp>
      <p:sp>
        <p:nvSpPr>
          <p:cNvPr id="87" name="heat Wednesday 20h"/>
          <p:cNvSpPr/>
          <p:nvPr/>
        </p:nvSpPr>
        <p:spPr>
          <a:xfrm>
            <a:off x="7467600" y="2404872"/>
            <a:ext cx="286512" cy="283464"/>
          </a:xfrm>
          <a:prstGeom prst="rect">
            <a:avLst/>
          </a:prstGeom>
          <a:solidFill>
            <a:srgbClr val="79BCB8"/>
          </a:solidFill>
          <a:ln w="12700">
            <a:solidFill>
              <a:srgbClr val="79BCB8"/>
            </a:solidFill>
            <a:prstDash val="solid"/>
          </a:ln>
        </p:spPr>
      </p:sp>
      <p:sp>
        <p:nvSpPr>
          <p:cNvPr id="88" name="heat Wednesday 21h"/>
          <p:cNvSpPr/>
          <p:nvPr/>
        </p:nvSpPr>
        <p:spPr>
          <a:xfrm>
            <a:off x="7772400" y="2404872"/>
            <a:ext cx="286512" cy="283464"/>
          </a:xfrm>
          <a:prstGeom prst="rect">
            <a:avLst/>
          </a:prstGeom>
          <a:solidFill>
            <a:srgbClr val="8FC7C3"/>
          </a:solidFill>
          <a:ln w="12700">
            <a:solidFill>
              <a:srgbClr val="8FC7C3"/>
            </a:solidFill>
            <a:prstDash val="solid"/>
          </a:ln>
        </p:spPr>
      </p:sp>
      <p:sp>
        <p:nvSpPr>
          <p:cNvPr id="89" name="heat Wednesday 22h"/>
          <p:cNvSpPr/>
          <p:nvPr/>
        </p:nvSpPr>
        <p:spPr>
          <a:xfrm>
            <a:off x="8077200" y="2404872"/>
            <a:ext cx="286512" cy="283464"/>
          </a:xfrm>
          <a:prstGeom prst="rect">
            <a:avLst/>
          </a:prstGeom>
          <a:solidFill>
            <a:srgbClr val="A8D4D1"/>
          </a:solidFill>
          <a:ln w="12700">
            <a:solidFill>
              <a:srgbClr val="A8D4D1"/>
            </a:solidFill>
            <a:prstDash val="solid"/>
          </a:ln>
        </p:spPr>
      </p:sp>
      <p:sp>
        <p:nvSpPr>
          <p:cNvPr id="90" name="heat Wednesday 23h"/>
          <p:cNvSpPr/>
          <p:nvPr/>
        </p:nvSpPr>
        <p:spPr>
          <a:xfrm>
            <a:off x="8382000" y="2404872"/>
            <a:ext cx="286512" cy="283464"/>
          </a:xfrm>
          <a:prstGeom prst="rect">
            <a:avLst/>
          </a:prstGeom>
          <a:solidFill>
            <a:srgbClr val="C1E0DE"/>
          </a:solidFill>
          <a:ln w="12700">
            <a:solidFill>
              <a:srgbClr val="C1E0DE"/>
            </a:solidFill>
            <a:prstDash val="solid"/>
          </a:ln>
        </p:spPr>
      </p:sp>
      <p:sp>
        <p:nvSpPr>
          <p:cNvPr id="91" name="Text 89"/>
          <p:cNvSpPr txBox="1"/>
          <p:nvPr/>
        </p:nvSpPr>
        <p:spPr>
          <a:xfrm>
            <a:off x="365760" y="2715768"/>
            <a:ext cx="960120" cy="283464"/>
          </a:xfrm>
          <a:prstGeom prst="rect">
            <a:avLst/>
          </a:prstGeom>
          <a:noFill/>
          <a:ln/>
        </p:spPr>
        <p:txBody>
          <a:bodyPr wrap="square" lIns="0" tIns="0" rIns="0" bIns="0" rtlCol="0" anchor="ctr"/>
          <a:lstStyle/>
          <a:p>
            <a:pPr marL="0" indent="0" algn="r">
              <a:buNone/>
            </a:pPr>
            <a:r>
              <a:rPr lang="en-US" sz="1100" dirty="0">
                <a:solidFill>
                  <a:srgbClr val="44514F"/>
                </a:solidFill>
              </a:rPr>
              <a:t>Thursday</a:t>
            </a:r>
            <a:endParaRPr lang="en-US" sz="1100" dirty="0"/>
          </a:p>
        </p:txBody>
      </p:sp>
      <p:sp>
        <p:nvSpPr>
          <p:cNvPr id="92" name="heat Thursday 0h"/>
          <p:cNvSpPr/>
          <p:nvPr/>
        </p:nvSpPr>
        <p:spPr>
          <a:xfrm>
            <a:off x="1371600" y="2715768"/>
            <a:ext cx="286512" cy="283464"/>
          </a:xfrm>
          <a:prstGeom prst="rect">
            <a:avLst/>
          </a:prstGeom>
          <a:solidFill>
            <a:srgbClr val="D8EBE9"/>
          </a:solidFill>
          <a:ln w="12700">
            <a:solidFill>
              <a:srgbClr val="D8EBE9"/>
            </a:solidFill>
            <a:prstDash val="solid"/>
          </a:ln>
        </p:spPr>
      </p:sp>
      <p:sp>
        <p:nvSpPr>
          <p:cNvPr id="93" name="heat Thursday 1h"/>
          <p:cNvSpPr/>
          <p:nvPr/>
        </p:nvSpPr>
        <p:spPr>
          <a:xfrm>
            <a:off x="1676400" y="2715768"/>
            <a:ext cx="286512" cy="283464"/>
          </a:xfrm>
          <a:prstGeom prst="rect">
            <a:avLst/>
          </a:prstGeom>
          <a:solidFill>
            <a:srgbClr val="E2F0EF"/>
          </a:solidFill>
          <a:ln w="12700">
            <a:solidFill>
              <a:srgbClr val="E2F0EF"/>
            </a:solidFill>
            <a:prstDash val="solid"/>
          </a:ln>
        </p:spPr>
      </p:sp>
      <p:sp>
        <p:nvSpPr>
          <p:cNvPr id="94" name="heat Thursday 2h"/>
          <p:cNvSpPr/>
          <p:nvPr/>
        </p:nvSpPr>
        <p:spPr>
          <a:xfrm>
            <a:off x="1981200" y="2715768"/>
            <a:ext cx="286512" cy="283464"/>
          </a:xfrm>
          <a:prstGeom prst="rect">
            <a:avLst/>
          </a:prstGeom>
          <a:solidFill>
            <a:srgbClr val="E7F2F1"/>
          </a:solidFill>
          <a:ln w="12700">
            <a:solidFill>
              <a:srgbClr val="E7F2F1"/>
            </a:solidFill>
            <a:prstDash val="solid"/>
          </a:ln>
        </p:spPr>
      </p:sp>
      <p:sp>
        <p:nvSpPr>
          <p:cNvPr id="95" name="heat Thursday 3h"/>
          <p:cNvSpPr/>
          <p:nvPr/>
        </p:nvSpPr>
        <p:spPr>
          <a:xfrm>
            <a:off x="2286000" y="2715768"/>
            <a:ext cx="286512" cy="283464"/>
          </a:xfrm>
          <a:prstGeom prst="rect">
            <a:avLst/>
          </a:prstGeom>
          <a:solidFill>
            <a:srgbClr val="E7F2F1"/>
          </a:solidFill>
          <a:ln w="12700">
            <a:solidFill>
              <a:srgbClr val="E7F2F1"/>
            </a:solidFill>
            <a:prstDash val="solid"/>
          </a:ln>
        </p:spPr>
      </p:sp>
      <p:sp>
        <p:nvSpPr>
          <p:cNvPr id="96" name="heat Thursday 4h"/>
          <p:cNvSpPr/>
          <p:nvPr/>
        </p:nvSpPr>
        <p:spPr>
          <a:xfrm>
            <a:off x="2590800" y="2715768"/>
            <a:ext cx="286512" cy="283464"/>
          </a:xfrm>
          <a:prstGeom prst="rect">
            <a:avLst/>
          </a:prstGeom>
          <a:solidFill>
            <a:srgbClr val="E7F2F1"/>
          </a:solidFill>
          <a:ln w="12700">
            <a:solidFill>
              <a:srgbClr val="E7F2F1"/>
            </a:solidFill>
            <a:prstDash val="solid"/>
          </a:ln>
        </p:spPr>
      </p:sp>
      <p:sp>
        <p:nvSpPr>
          <p:cNvPr id="97" name="heat Thursday 5h"/>
          <p:cNvSpPr/>
          <p:nvPr/>
        </p:nvSpPr>
        <p:spPr>
          <a:xfrm>
            <a:off x="2895600" y="2715768"/>
            <a:ext cx="286512" cy="283464"/>
          </a:xfrm>
          <a:prstGeom prst="rect">
            <a:avLst/>
          </a:prstGeom>
          <a:solidFill>
            <a:srgbClr val="E4F1F0"/>
          </a:solidFill>
          <a:ln w="12700">
            <a:solidFill>
              <a:srgbClr val="E4F1F0"/>
            </a:solidFill>
            <a:prstDash val="solid"/>
          </a:ln>
        </p:spPr>
      </p:sp>
      <p:sp>
        <p:nvSpPr>
          <p:cNvPr id="98" name="heat Thursday 6h"/>
          <p:cNvSpPr/>
          <p:nvPr/>
        </p:nvSpPr>
        <p:spPr>
          <a:xfrm>
            <a:off x="3200400" y="2715768"/>
            <a:ext cx="286512" cy="283464"/>
          </a:xfrm>
          <a:prstGeom prst="rect">
            <a:avLst/>
          </a:prstGeom>
          <a:solidFill>
            <a:srgbClr val="B8DCD9"/>
          </a:solidFill>
          <a:ln w="12700">
            <a:solidFill>
              <a:srgbClr val="B8DCD9"/>
            </a:solidFill>
            <a:prstDash val="solid"/>
          </a:ln>
        </p:spPr>
      </p:sp>
      <p:sp>
        <p:nvSpPr>
          <p:cNvPr id="99" name="heat Thursday 7h"/>
          <p:cNvSpPr/>
          <p:nvPr/>
        </p:nvSpPr>
        <p:spPr>
          <a:xfrm>
            <a:off x="3505200" y="2715768"/>
            <a:ext cx="286512" cy="283464"/>
          </a:xfrm>
          <a:prstGeom prst="rect">
            <a:avLst/>
          </a:prstGeom>
          <a:solidFill>
            <a:srgbClr val="62B1AC"/>
          </a:solidFill>
          <a:ln w="12700">
            <a:solidFill>
              <a:srgbClr val="62B1AC"/>
            </a:solidFill>
            <a:prstDash val="solid"/>
          </a:ln>
        </p:spPr>
      </p:sp>
      <p:sp>
        <p:nvSpPr>
          <p:cNvPr id="100" name="heat Thursday 8h"/>
          <p:cNvSpPr/>
          <p:nvPr/>
        </p:nvSpPr>
        <p:spPr>
          <a:xfrm>
            <a:off x="3810000" y="2715768"/>
            <a:ext cx="286512" cy="283464"/>
          </a:xfrm>
          <a:prstGeom prst="rect">
            <a:avLst/>
          </a:prstGeom>
          <a:solidFill>
            <a:srgbClr val="0A4A47"/>
          </a:solidFill>
          <a:ln w="12700">
            <a:solidFill>
              <a:srgbClr val="0A4A47"/>
            </a:solidFill>
            <a:prstDash val="solid"/>
          </a:ln>
        </p:spPr>
      </p:sp>
      <p:sp>
        <p:nvSpPr>
          <p:cNvPr id="101" name="heat Thursday 9h"/>
          <p:cNvSpPr/>
          <p:nvPr/>
        </p:nvSpPr>
        <p:spPr>
          <a:xfrm>
            <a:off x="4114800" y="2715768"/>
            <a:ext cx="286512" cy="283464"/>
          </a:xfrm>
          <a:prstGeom prst="rect">
            <a:avLst/>
          </a:prstGeom>
          <a:solidFill>
            <a:srgbClr val="3C8E89"/>
          </a:solidFill>
          <a:ln w="12700">
            <a:solidFill>
              <a:srgbClr val="3C8E89"/>
            </a:solidFill>
            <a:prstDash val="solid"/>
          </a:ln>
        </p:spPr>
      </p:sp>
      <p:sp>
        <p:nvSpPr>
          <p:cNvPr id="102" name="heat Thursday 10h"/>
          <p:cNvSpPr/>
          <p:nvPr/>
        </p:nvSpPr>
        <p:spPr>
          <a:xfrm>
            <a:off x="4419600" y="2715768"/>
            <a:ext cx="286512" cy="283464"/>
          </a:xfrm>
          <a:prstGeom prst="rect">
            <a:avLst/>
          </a:prstGeom>
          <a:solidFill>
            <a:srgbClr val="A7D3D0"/>
          </a:solidFill>
          <a:ln w="12700">
            <a:solidFill>
              <a:srgbClr val="A7D3D0"/>
            </a:solidFill>
            <a:prstDash val="solid"/>
          </a:ln>
        </p:spPr>
      </p:sp>
      <p:sp>
        <p:nvSpPr>
          <p:cNvPr id="103" name="heat Thursday 11h"/>
          <p:cNvSpPr/>
          <p:nvPr/>
        </p:nvSpPr>
        <p:spPr>
          <a:xfrm>
            <a:off x="4724400" y="2715768"/>
            <a:ext cx="286512" cy="283464"/>
          </a:xfrm>
          <a:prstGeom prst="rect">
            <a:avLst/>
          </a:prstGeom>
          <a:solidFill>
            <a:srgbClr val="98CCC8"/>
          </a:solidFill>
          <a:ln w="12700">
            <a:solidFill>
              <a:srgbClr val="98CCC8"/>
            </a:solidFill>
            <a:prstDash val="solid"/>
          </a:ln>
        </p:spPr>
      </p:sp>
      <p:sp>
        <p:nvSpPr>
          <p:cNvPr id="104" name="heat Thursday 12h"/>
          <p:cNvSpPr/>
          <p:nvPr/>
        </p:nvSpPr>
        <p:spPr>
          <a:xfrm>
            <a:off x="5029200" y="2715768"/>
            <a:ext cx="286512" cy="283464"/>
          </a:xfrm>
          <a:prstGeom prst="rect">
            <a:avLst/>
          </a:prstGeom>
          <a:solidFill>
            <a:srgbClr val="7FBFBB"/>
          </a:solidFill>
          <a:ln w="12700">
            <a:solidFill>
              <a:srgbClr val="7FBFBB"/>
            </a:solidFill>
            <a:prstDash val="solid"/>
          </a:ln>
        </p:spPr>
      </p:sp>
      <p:sp>
        <p:nvSpPr>
          <p:cNvPr id="105" name="heat Thursday 13h"/>
          <p:cNvSpPr/>
          <p:nvPr/>
        </p:nvSpPr>
        <p:spPr>
          <a:xfrm>
            <a:off x="5334000" y="2715768"/>
            <a:ext cx="286512" cy="283464"/>
          </a:xfrm>
          <a:prstGeom prst="rect">
            <a:avLst/>
          </a:prstGeom>
          <a:solidFill>
            <a:srgbClr val="7FBFBB"/>
          </a:solidFill>
          <a:ln w="12700">
            <a:solidFill>
              <a:srgbClr val="7FBFBB"/>
            </a:solidFill>
            <a:prstDash val="solid"/>
          </a:ln>
        </p:spPr>
      </p:sp>
      <p:sp>
        <p:nvSpPr>
          <p:cNvPr id="106" name="heat Thursday 14h"/>
          <p:cNvSpPr/>
          <p:nvPr/>
        </p:nvSpPr>
        <p:spPr>
          <a:xfrm>
            <a:off x="5638800" y="2715768"/>
            <a:ext cx="286512" cy="283464"/>
          </a:xfrm>
          <a:prstGeom prst="rect">
            <a:avLst/>
          </a:prstGeom>
          <a:solidFill>
            <a:srgbClr val="93C9C6"/>
          </a:solidFill>
          <a:ln w="12700">
            <a:solidFill>
              <a:srgbClr val="93C9C6"/>
            </a:solidFill>
            <a:prstDash val="solid"/>
          </a:ln>
        </p:spPr>
      </p:sp>
      <p:sp>
        <p:nvSpPr>
          <p:cNvPr id="107" name="heat Thursday 15h"/>
          <p:cNvSpPr/>
          <p:nvPr/>
        </p:nvSpPr>
        <p:spPr>
          <a:xfrm>
            <a:off x="5943600" y="2715768"/>
            <a:ext cx="286512" cy="283464"/>
          </a:xfrm>
          <a:prstGeom prst="rect">
            <a:avLst/>
          </a:prstGeom>
          <a:solidFill>
            <a:srgbClr val="90C8C4"/>
          </a:solidFill>
          <a:ln w="12700">
            <a:solidFill>
              <a:srgbClr val="90C8C4"/>
            </a:solidFill>
            <a:prstDash val="solid"/>
          </a:ln>
        </p:spPr>
      </p:sp>
      <p:sp>
        <p:nvSpPr>
          <p:cNvPr id="108" name="heat Thursday 16h"/>
          <p:cNvSpPr/>
          <p:nvPr/>
        </p:nvSpPr>
        <p:spPr>
          <a:xfrm>
            <a:off x="6248400" y="2715768"/>
            <a:ext cx="286512" cy="283464"/>
          </a:xfrm>
          <a:prstGeom prst="rect">
            <a:avLst/>
          </a:prstGeom>
          <a:solidFill>
            <a:srgbClr val="7DBFBA"/>
          </a:solidFill>
          <a:ln w="12700">
            <a:solidFill>
              <a:srgbClr val="7DBFBA"/>
            </a:solidFill>
            <a:prstDash val="solid"/>
          </a:ln>
        </p:spPr>
      </p:sp>
      <p:sp>
        <p:nvSpPr>
          <p:cNvPr id="109" name="heat Thursday 17h"/>
          <p:cNvSpPr/>
          <p:nvPr/>
        </p:nvSpPr>
        <p:spPr>
          <a:xfrm>
            <a:off x="6553200" y="2715768"/>
            <a:ext cx="286512" cy="283464"/>
          </a:xfrm>
          <a:prstGeom prst="rect">
            <a:avLst/>
          </a:prstGeom>
          <a:solidFill>
            <a:srgbClr val="28736F"/>
          </a:solidFill>
          <a:ln w="12700">
            <a:solidFill>
              <a:srgbClr val="28736F"/>
            </a:solidFill>
            <a:prstDash val="solid"/>
          </a:ln>
        </p:spPr>
      </p:sp>
      <p:sp>
        <p:nvSpPr>
          <p:cNvPr id="110" name="heat Thursday 18h"/>
          <p:cNvSpPr/>
          <p:nvPr/>
        </p:nvSpPr>
        <p:spPr>
          <a:xfrm>
            <a:off x="6858000" y="2715768"/>
            <a:ext cx="286512" cy="283464"/>
          </a:xfrm>
          <a:prstGeom prst="rect">
            <a:avLst/>
          </a:prstGeom>
          <a:solidFill>
            <a:srgbClr val="307E79"/>
          </a:solidFill>
          <a:ln w="12700">
            <a:solidFill>
              <a:srgbClr val="307E79"/>
            </a:solidFill>
            <a:prstDash val="solid"/>
          </a:ln>
        </p:spPr>
      </p:sp>
      <p:sp>
        <p:nvSpPr>
          <p:cNvPr id="111" name="heat Thursday 19h"/>
          <p:cNvSpPr/>
          <p:nvPr/>
        </p:nvSpPr>
        <p:spPr>
          <a:xfrm>
            <a:off x="7162800" y="2715768"/>
            <a:ext cx="286512" cy="283464"/>
          </a:xfrm>
          <a:prstGeom prst="rect">
            <a:avLst/>
          </a:prstGeom>
          <a:solidFill>
            <a:srgbClr val="4CA49E"/>
          </a:solidFill>
          <a:ln w="12700">
            <a:solidFill>
              <a:srgbClr val="4CA49E"/>
            </a:solidFill>
            <a:prstDash val="solid"/>
          </a:ln>
        </p:spPr>
      </p:sp>
      <p:sp>
        <p:nvSpPr>
          <p:cNvPr id="112" name="heat Thursday 20h"/>
          <p:cNvSpPr/>
          <p:nvPr/>
        </p:nvSpPr>
        <p:spPr>
          <a:xfrm>
            <a:off x="7467600" y="2715768"/>
            <a:ext cx="286512" cy="283464"/>
          </a:xfrm>
          <a:prstGeom prst="rect">
            <a:avLst/>
          </a:prstGeom>
          <a:solidFill>
            <a:srgbClr val="68B4AF"/>
          </a:solidFill>
          <a:ln w="12700">
            <a:solidFill>
              <a:srgbClr val="68B4AF"/>
            </a:solidFill>
            <a:prstDash val="solid"/>
          </a:ln>
        </p:spPr>
      </p:sp>
      <p:sp>
        <p:nvSpPr>
          <p:cNvPr id="113" name="heat Thursday 21h"/>
          <p:cNvSpPr/>
          <p:nvPr/>
        </p:nvSpPr>
        <p:spPr>
          <a:xfrm>
            <a:off x="7772400" y="2715768"/>
            <a:ext cx="286512" cy="283464"/>
          </a:xfrm>
          <a:prstGeom prst="rect">
            <a:avLst/>
          </a:prstGeom>
          <a:solidFill>
            <a:srgbClr val="9CCECA"/>
          </a:solidFill>
          <a:ln w="12700">
            <a:solidFill>
              <a:srgbClr val="9CCECA"/>
            </a:solidFill>
            <a:prstDash val="solid"/>
          </a:ln>
        </p:spPr>
      </p:sp>
      <p:sp>
        <p:nvSpPr>
          <p:cNvPr id="114" name="heat Thursday 22h"/>
          <p:cNvSpPr/>
          <p:nvPr/>
        </p:nvSpPr>
        <p:spPr>
          <a:xfrm>
            <a:off x="8077200" y="2715768"/>
            <a:ext cx="286512" cy="283464"/>
          </a:xfrm>
          <a:prstGeom prst="rect">
            <a:avLst/>
          </a:prstGeom>
          <a:solidFill>
            <a:srgbClr val="AAD4D1"/>
          </a:solidFill>
          <a:ln w="12700">
            <a:solidFill>
              <a:srgbClr val="AAD4D1"/>
            </a:solidFill>
            <a:prstDash val="solid"/>
          </a:ln>
        </p:spPr>
      </p:sp>
      <p:sp>
        <p:nvSpPr>
          <p:cNvPr id="115" name="heat Thursday 23h"/>
          <p:cNvSpPr/>
          <p:nvPr/>
        </p:nvSpPr>
        <p:spPr>
          <a:xfrm>
            <a:off x="8382000" y="2715768"/>
            <a:ext cx="286512" cy="283464"/>
          </a:xfrm>
          <a:prstGeom prst="rect">
            <a:avLst/>
          </a:prstGeom>
          <a:solidFill>
            <a:srgbClr val="C3E1DF"/>
          </a:solidFill>
          <a:ln w="12700">
            <a:solidFill>
              <a:srgbClr val="C3E1DF"/>
            </a:solidFill>
            <a:prstDash val="solid"/>
          </a:ln>
        </p:spPr>
      </p:sp>
      <p:sp>
        <p:nvSpPr>
          <p:cNvPr id="116" name="Text 114"/>
          <p:cNvSpPr txBox="1"/>
          <p:nvPr/>
        </p:nvSpPr>
        <p:spPr>
          <a:xfrm>
            <a:off x="365760" y="3026664"/>
            <a:ext cx="960120" cy="283464"/>
          </a:xfrm>
          <a:prstGeom prst="rect">
            <a:avLst/>
          </a:prstGeom>
          <a:noFill/>
          <a:ln/>
        </p:spPr>
        <p:txBody>
          <a:bodyPr wrap="square" lIns="0" tIns="0" rIns="0" bIns="0" rtlCol="0" anchor="ctr"/>
          <a:lstStyle/>
          <a:p>
            <a:pPr marL="0" indent="0" algn="r">
              <a:buNone/>
            </a:pPr>
            <a:r>
              <a:rPr lang="en-US" sz="1100" dirty="0">
                <a:solidFill>
                  <a:srgbClr val="44514F"/>
                </a:solidFill>
              </a:rPr>
              <a:t>Friday</a:t>
            </a:r>
            <a:endParaRPr lang="en-US" sz="1100" dirty="0"/>
          </a:p>
        </p:txBody>
      </p:sp>
      <p:sp>
        <p:nvSpPr>
          <p:cNvPr id="117" name="heat Friday 0h"/>
          <p:cNvSpPr/>
          <p:nvPr/>
        </p:nvSpPr>
        <p:spPr>
          <a:xfrm>
            <a:off x="1371600" y="3026664"/>
            <a:ext cx="286512" cy="283464"/>
          </a:xfrm>
          <a:prstGeom prst="rect">
            <a:avLst/>
          </a:prstGeom>
          <a:solidFill>
            <a:srgbClr val="D3E9E7"/>
          </a:solidFill>
          <a:ln w="12700">
            <a:solidFill>
              <a:srgbClr val="D3E9E7"/>
            </a:solidFill>
            <a:prstDash val="solid"/>
          </a:ln>
        </p:spPr>
      </p:sp>
      <p:sp>
        <p:nvSpPr>
          <p:cNvPr id="118" name="heat Friday 1h"/>
          <p:cNvSpPr/>
          <p:nvPr/>
        </p:nvSpPr>
        <p:spPr>
          <a:xfrm>
            <a:off x="1676400" y="3026664"/>
            <a:ext cx="286512" cy="283464"/>
          </a:xfrm>
          <a:prstGeom prst="rect">
            <a:avLst/>
          </a:prstGeom>
          <a:solidFill>
            <a:srgbClr val="E1EFEE"/>
          </a:solidFill>
          <a:ln w="12700">
            <a:solidFill>
              <a:srgbClr val="E1EFEE"/>
            </a:solidFill>
            <a:prstDash val="solid"/>
          </a:ln>
        </p:spPr>
      </p:sp>
      <p:sp>
        <p:nvSpPr>
          <p:cNvPr id="119" name="heat Friday 2h"/>
          <p:cNvSpPr/>
          <p:nvPr/>
        </p:nvSpPr>
        <p:spPr>
          <a:xfrm>
            <a:off x="1981200" y="3026664"/>
            <a:ext cx="286512" cy="283464"/>
          </a:xfrm>
          <a:prstGeom prst="rect">
            <a:avLst/>
          </a:prstGeom>
          <a:solidFill>
            <a:srgbClr val="E7F2F1"/>
          </a:solidFill>
          <a:ln w="12700">
            <a:solidFill>
              <a:srgbClr val="E7F2F1"/>
            </a:solidFill>
            <a:prstDash val="solid"/>
          </a:ln>
        </p:spPr>
      </p:sp>
      <p:sp>
        <p:nvSpPr>
          <p:cNvPr id="120" name="heat Friday 3h"/>
          <p:cNvSpPr/>
          <p:nvPr/>
        </p:nvSpPr>
        <p:spPr>
          <a:xfrm>
            <a:off x="2286000" y="3026664"/>
            <a:ext cx="286512" cy="283464"/>
          </a:xfrm>
          <a:prstGeom prst="rect">
            <a:avLst/>
          </a:prstGeom>
          <a:solidFill>
            <a:srgbClr val="E8F3F2"/>
          </a:solidFill>
          <a:ln w="12700">
            <a:solidFill>
              <a:srgbClr val="E8F3F2"/>
            </a:solidFill>
            <a:prstDash val="solid"/>
          </a:ln>
        </p:spPr>
      </p:sp>
      <p:sp>
        <p:nvSpPr>
          <p:cNvPr id="121" name="heat Friday 4h"/>
          <p:cNvSpPr/>
          <p:nvPr/>
        </p:nvSpPr>
        <p:spPr>
          <a:xfrm>
            <a:off x="2590800" y="3026664"/>
            <a:ext cx="286512" cy="283464"/>
          </a:xfrm>
          <a:prstGeom prst="rect">
            <a:avLst/>
          </a:prstGeom>
          <a:solidFill>
            <a:srgbClr val="E8F3F2"/>
          </a:solidFill>
          <a:ln w="12700">
            <a:solidFill>
              <a:srgbClr val="E8F3F2"/>
            </a:solidFill>
            <a:prstDash val="solid"/>
          </a:ln>
        </p:spPr>
      </p:sp>
      <p:sp>
        <p:nvSpPr>
          <p:cNvPr id="122" name="heat Friday 5h"/>
          <p:cNvSpPr/>
          <p:nvPr/>
        </p:nvSpPr>
        <p:spPr>
          <a:xfrm>
            <a:off x="2895600" y="3026664"/>
            <a:ext cx="286512" cy="283464"/>
          </a:xfrm>
          <a:prstGeom prst="rect">
            <a:avLst/>
          </a:prstGeom>
          <a:solidFill>
            <a:srgbClr val="E1EFEE"/>
          </a:solidFill>
          <a:ln w="12700">
            <a:solidFill>
              <a:srgbClr val="E1EFEE"/>
            </a:solidFill>
            <a:prstDash val="solid"/>
          </a:ln>
        </p:spPr>
      </p:sp>
      <p:sp>
        <p:nvSpPr>
          <p:cNvPr id="123" name="heat Friday 6h"/>
          <p:cNvSpPr/>
          <p:nvPr/>
        </p:nvSpPr>
        <p:spPr>
          <a:xfrm>
            <a:off x="3200400" y="3026664"/>
            <a:ext cx="286512" cy="283464"/>
          </a:xfrm>
          <a:prstGeom prst="rect">
            <a:avLst/>
          </a:prstGeom>
          <a:solidFill>
            <a:srgbClr val="C6E2E0"/>
          </a:solidFill>
          <a:ln w="12700">
            <a:solidFill>
              <a:srgbClr val="C6E2E0"/>
            </a:solidFill>
            <a:prstDash val="solid"/>
          </a:ln>
        </p:spPr>
      </p:sp>
      <p:sp>
        <p:nvSpPr>
          <p:cNvPr id="124" name="heat Friday 7h"/>
          <p:cNvSpPr/>
          <p:nvPr/>
        </p:nvSpPr>
        <p:spPr>
          <a:xfrm>
            <a:off x="3505200" y="3026664"/>
            <a:ext cx="286512" cy="283464"/>
          </a:xfrm>
          <a:prstGeom prst="rect">
            <a:avLst/>
          </a:prstGeom>
          <a:solidFill>
            <a:srgbClr val="7CBEB9"/>
          </a:solidFill>
          <a:ln w="12700">
            <a:solidFill>
              <a:srgbClr val="7CBEB9"/>
            </a:solidFill>
            <a:prstDash val="solid"/>
          </a:ln>
        </p:spPr>
      </p:sp>
      <p:sp>
        <p:nvSpPr>
          <p:cNvPr id="125" name="heat Friday 8h"/>
          <p:cNvSpPr/>
          <p:nvPr/>
        </p:nvSpPr>
        <p:spPr>
          <a:xfrm>
            <a:off x="3810000" y="3026664"/>
            <a:ext cx="286512" cy="283464"/>
          </a:xfrm>
          <a:prstGeom prst="rect">
            <a:avLst/>
          </a:prstGeom>
          <a:solidFill>
            <a:srgbClr val="115451"/>
          </a:solidFill>
          <a:ln w="12700">
            <a:solidFill>
              <a:srgbClr val="115451"/>
            </a:solidFill>
            <a:prstDash val="solid"/>
          </a:ln>
        </p:spPr>
      </p:sp>
      <p:sp>
        <p:nvSpPr>
          <p:cNvPr id="126" name="heat Friday 9h"/>
          <p:cNvSpPr/>
          <p:nvPr/>
        </p:nvSpPr>
        <p:spPr>
          <a:xfrm>
            <a:off x="4114800" y="3026664"/>
            <a:ext cx="286512" cy="283464"/>
          </a:xfrm>
          <a:prstGeom prst="rect">
            <a:avLst/>
          </a:prstGeom>
          <a:solidFill>
            <a:srgbClr val="3D8F8A"/>
          </a:solidFill>
          <a:ln w="12700">
            <a:solidFill>
              <a:srgbClr val="3D8F8A"/>
            </a:solidFill>
            <a:prstDash val="solid"/>
          </a:ln>
        </p:spPr>
      </p:sp>
      <p:sp>
        <p:nvSpPr>
          <p:cNvPr id="127" name="heat Friday 10h"/>
          <p:cNvSpPr/>
          <p:nvPr/>
        </p:nvSpPr>
        <p:spPr>
          <a:xfrm>
            <a:off x="4419600" y="3026664"/>
            <a:ext cx="286512" cy="283464"/>
          </a:xfrm>
          <a:prstGeom prst="rect">
            <a:avLst/>
          </a:prstGeom>
          <a:solidFill>
            <a:srgbClr val="9CCECA"/>
          </a:solidFill>
          <a:ln w="12700">
            <a:solidFill>
              <a:srgbClr val="9CCECA"/>
            </a:solidFill>
            <a:prstDash val="solid"/>
          </a:ln>
        </p:spPr>
      </p:sp>
      <p:sp>
        <p:nvSpPr>
          <p:cNvPr id="128" name="heat Friday 11h"/>
          <p:cNvSpPr/>
          <p:nvPr/>
        </p:nvSpPr>
        <p:spPr>
          <a:xfrm>
            <a:off x="4724400" y="3026664"/>
            <a:ext cx="286512" cy="283464"/>
          </a:xfrm>
          <a:prstGeom prst="rect">
            <a:avLst/>
          </a:prstGeom>
          <a:solidFill>
            <a:srgbClr val="96CBC7"/>
          </a:solidFill>
          <a:ln w="12700">
            <a:solidFill>
              <a:srgbClr val="96CBC7"/>
            </a:solidFill>
            <a:prstDash val="solid"/>
          </a:ln>
        </p:spPr>
      </p:sp>
      <p:sp>
        <p:nvSpPr>
          <p:cNvPr id="129" name="heat Friday 12h"/>
          <p:cNvSpPr/>
          <p:nvPr/>
        </p:nvSpPr>
        <p:spPr>
          <a:xfrm>
            <a:off x="5029200" y="3026664"/>
            <a:ext cx="286512" cy="283464"/>
          </a:xfrm>
          <a:prstGeom prst="rect">
            <a:avLst/>
          </a:prstGeom>
          <a:solidFill>
            <a:srgbClr val="8AC5C1"/>
          </a:solidFill>
          <a:ln w="12700">
            <a:solidFill>
              <a:srgbClr val="8AC5C1"/>
            </a:solidFill>
            <a:prstDash val="solid"/>
          </a:ln>
        </p:spPr>
      </p:sp>
      <p:sp>
        <p:nvSpPr>
          <p:cNvPr id="130" name="heat Friday 13h"/>
          <p:cNvSpPr/>
          <p:nvPr/>
        </p:nvSpPr>
        <p:spPr>
          <a:xfrm>
            <a:off x="5334000" y="3026664"/>
            <a:ext cx="286512" cy="283464"/>
          </a:xfrm>
          <a:prstGeom prst="rect">
            <a:avLst/>
          </a:prstGeom>
          <a:solidFill>
            <a:srgbClr val="7CBEB9"/>
          </a:solidFill>
          <a:ln w="12700">
            <a:solidFill>
              <a:srgbClr val="7CBEB9"/>
            </a:solidFill>
            <a:prstDash val="solid"/>
          </a:ln>
        </p:spPr>
      </p:sp>
      <p:sp>
        <p:nvSpPr>
          <p:cNvPr id="131" name="heat Friday 14h"/>
          <p:cNvSpPr/>
          <p:nvPr/>
        </p:nvSpPr>
        <p:spPr>
          <a:xfrm>
            <a:off x="5638800" y="3026664"/>
            <a:ext cx="286512" cy="283464"/>
          </a:xfrm>
          <a:prstGeom prst="rect">
            <a:avLst/>
          </a:prstGeom>
          <a:solidFill>
            <a:srgbClr val="89C4C0"/>
          </a:solidFill>
          <a:ln w="12700">
            <a:solidFill>
              <a:srgbClr val="89C4C0"/>
            </a:solidFill>
            <a:prstDash val="solid"/>
          </a:ln>
        </p:spPr>
      </p:sp>
      <p:sp>
        <p:nvSpPr>
          <p:cNvPr id="132" name="heat Friday 15h"/>
          <p:cNvSpPr/>
          <p:nvPr/>
        </p:nvSpPr>
        <p:spPr>
          <a:xfrm>
            <a:off x="5943600" y="3026664"/>
            <a:ext cx="286512" cy="283464"/>
          </a:xfrm>
          <a:prstGeom prst="rect">
            <a:avLst/>
          </a:prstGeom>
          <a:solidFill>
            <a:srgbClr val="84C2BE"/>
          </a:solidFill>
          <a:ln w="12700">
            <a:solidFill>
              <a:srgbClr val="84C2BE"/>
            </a:solidFill>
            <a:prstDash val="solid"/>
          </a:ln>
        </p:spPr>
      </p:sp>
      <p:sp>
        <p:nvSpPr>
          <p:cNvPr id="133" name="heat Friday 16h"/>
          <p:cNvSpPr/>
          <p:nvPr/>
        </p:nvSpPr>
        <p:spPr>
          <a:xfrm>
            <a:off x="6248400" y="3026664"/>
            <a:ext cx="286512" cy="283464"/>
          </a:xfrm>
          <a:prstGeom prst="rect">
            <a:avLst/>
          </a:prstGeom>
          <a:solidFill>
            <a:srgbClr val="5BAEA8"/>
          </a:solidFill>
          <a:ln w="12700">
            <a:solidFill>
              <a:srgbClr val="5BAEA8"/>
            </a:solidFill>
            <a:prstDash val="solid"/>
          </a:ln>
        </p:spPr>
      </p:sp>
      <p:sp>
        <p:nvSpPr>
          <p:cNvPr id="134" name="heat Friday 17h"/>
          <p:cNvSpPr/>
          <p:nvPr/>
        </p:nvSpPr>
        <p:spPr>
          <a:xfrm>
            <a:off x="6553200" y="3026664"/>
            <a:ext cx="286512" cy="283464"/>
          </a:xfrm>
          <a:prstGeom prst="rect">
            <a:avLst/>
          </a:prstGeom>
          <a:solidFill>
            <a:srgbClr val="1D6460"/>
          </a:solidFill>
          <a:ln w="12700">
            <a:solidFill>
              <a:srgbClr val="1D6460"/>
            </a:solidFill>
            <a:prstDash val="solid"/>
          </a:ln>
        </p:spPr>
      </p:sp>
      <p:sp>
        <p:nvSpPr>
          <p:cNvPr id="135" name="heat Friday 18h"/>
          <p:cNvSpPr/>
          <p:nvPr/>
        </p:nvSpPr>
        <p:spPr>
          <a:xfrm>
            <a:off x="6858000" y="3026664"/>
            <a:ext cx="286512" cy="283464"/>
          </a:xfrm>
          <a:prstGeom prst="rect">
            <a:avLst/>
          </a:prstGeom>
          <a:solidFill>
            <a:srgbClr val="398A85"/>
          </a:solidFill>
          <a:ln w="12700">
            <a:solidFill>
              <a:srgbClr val="398A85"/>
            </a:solidFill>
            <a:prstDash val="solid"/>
          </a:ln>
        </p:spPr>
      </p:sp>
      <p:sp>
        <p:nvSpPr>
          <p:cNvPr id="136" name="heat Friday 19h"/>
          <p:cNvSpPr/>
          <p:nvPr/>
        </p:nvSpPr>
        <p:spPr>
          <a:xfrm>
            <a:off x="7162800" y="3026664"/>
            <a:ext cx="286512" cy="283464"/>
          </a:xfrm>
          <a:prstGeom prst="rect">
            <a:avLst/>
          </a:prstGeom>
          <a:solidFill>
            <a:srgbClr val="5BAEA8"/>
          </a:solidFill>
          <a:ln w="12700">
            <a:solidFill>
              <a:srgbClr val="5BAEA8"/>
            </a:solidFill>
            <a:prstDash val="solid"/>
          </a:ln>
        </p:spPr>
      </p:sp>
      <p:sp>
        <p:nvSpPr>
          <p:cNvPr id="137" name="heat Friday 20h"/>
          <p:cNvSpPr/>
          <p:nvPr/>
        </p:nvSpPr>
        <p:spPr>
          <a:xfrm>
            <a:off x="7467600" y="3026664"/>
            <a:ext cx="286512" cy="283464"/>
          </a:xfrm>
          <a:prstGeom prst="rect">
            <a:avLst/>
          </a:prstGeom>
          <a:solidFill>
            <a:srgbClr val="8FC7C3"/>
          </a:solidFill>
          <a:ln w="12700">
            <a:solidFill>
              <a:srgbClr val="8FC7C3"/>
            </a:solidFill>
            <a:prstDash val="solid"/>
          </a:ln>
        </p:spPr>
      </p:sp>
      <p:sp>
        <p:nvSpPr>
          <p:cNvPr id="138" name="heat Friday 21h"/>
          <p:cNvSpPr/>
          <p:nvPr/>
        </p:nvSpPr>
        <p:spPr>
          <a:xfrm>
            <a:off x="7772400" y="3026664"/>
            <a:ext cx="286512" cy="283464"/>
          </a:xfrm>
          <a:prstGeom prst="rect">
            <a:avLst/>
          </a:prstGeom>
          <a:solidFill>
            <a:srgbClr val="A4D2CE"/>
          </a:solidFill>
          <a:ln w="12700">
            <a:solidFill>
              <a:srgbClr val="A4D2CE"/>
            </a:solidFill>
            <a:prstDash val="solid"/>
          </a:ln>
        </p:spPr>
      </p:sp>
      <p:sp>
        <p:nvSpPr>
          <p:cNvPr id="139" name="heat Friday 22h"/>
          <p:cNvSpPr/>
          <p:nvPr/>
        </p:nvSpPr>
        <p:spPr>
          <a:xfrm>
            <a:off x="8077200" y="3026664"/>
            <a:ext cx="286512" cy="283464"/>
          </a:xfrm>
          <a:prstGeom prst="rect">
            <a:avLst/>
          </a:prstGeom>
          <a:solidFill>
            <a:srgbClr val="B3D9D6"/>
          </a:solidFill>
          <a:ln w="12700">
            <a:solidFill>
              <a:srgbClr val="B3D9D6"/>
            </a:solidFill>
            <a:prstDash val="solid"/>
          </a:ln>
        </p:spPr>
      </p:sp>
      <p:sp>
        <p:nvSpPr>
          <p:cNvPr id="140" name="heat Friday 23h"/>
          <p:cNvSpPr/>
          <p:nvPr/>
        </p:nvSpPr>
        <p:spPr>
          <a:xfrm>
            <a:off x="8382000" y="3026664"/>
            <a:ext cx="286512" cy="283464"/>
          </a:xfrm>
          <a:prstGeom prst="rect">
            <a:avLst/>
          </a:prstGeom>
          <a:solidFill>
            <a:srgbClr val="BEDFDC"/>
          </a:solidFill>
          <a:ln w="12700">
            <a:solidFill>
              <a:srgbClr val="BEDFDC"/>
            </a:solidFill>
            <a:prstDash val="solid"/>
          </a:ln>
        </p:spPr>
      </p:sp>
      <p:sp>
        <p:nvSpPr>
          <p:cNvPr id="141" name="Text 139"/>
          <p:cNvSpPr txBox="1"/>
          <p:nvPr/>
        </p:nvSpPr>
        <p:spPr>
          <a:xfrm>
            <a:off x="365760" y="3337560"/>
            <a:ext cx="960120" cy="283464"/>
          </a:xfrm>
          <a:prstGeom prst="rect">
            <a:avLst/>
          </a:prstGeom>
          <a:noFill/>
          <a:ln/>
        </p:spPr>
        <p:txBody>
          <a:bodyPr wrap="square" lIns="0" tIns="0" rIns="0" bIns="0" rtlCol="0" anchor="ctr"/>
          <a:lstStyle/>
          <a:p>
            <a:pPr marL="0" indent="0" algn="r">
              <a:buNone/>
            </a:pPr>
            <a:r>
              <a:rPr lang="en-US" sz="1100" dirty="0">
                <a:solidFill>
                  <a:srgbClr val="44514F"/>
                </a:solidFill>
              </a:rPr>
              <a:t>Saturday</a:t>
            </a:r>
            <a:endParaRPr lang="en-US" sz="1100" dirty="0"/>
          </a:p>
        </p:txBody>
      </p:sp>
      <p:sp>
        <p:nvSpPr>
          <p:cNvPr id="142" name="heat Saturday 0h"/>
          <p:cNvSpPr/>
          <p:nvPr/>
        </p:nvSpPr>
        <p:spPr>
          <a:xfrm>
            <a:off x="1371600" y="3337560"/>
            <a:ext cx="286512" cy="283464"/>
          </a:xfrm>
          <a:prstGeom prst="rect">
            <a:avLst/>
          </a:prstGeom>
          <a:solidFill>
            <a:srgbClr val="C3E1DF"/>
          </a:solidFill>
          <a:ln w="12700">
            <a:solidFill>
              <a:srgbClr val="C3E1DF"/>
            </a:solidFill>
            <a:prstDash val="solid"/>
          </a:ln>
        </p:spPr>
      </p:sp>
      <p:sp>
        <p:nvSpPr>
          <p:cNvPr id="143" name="heat Saturday 1h"/>
          <p:cNvSpPr/>
          <p:nvPr/>
        </p:nvSpPr>
        <p:spPr>
          <a:xfrm>
            <a:off x="1676400" y="3337560"/>
            <a:ext cx="286512" cy="283464"/>
          </a:xfrm>
          <a:prstGeom prst="rect">
            <a:avLst/>
          </a:prstGeom>
          <a:solidFill>
            <a:srgbClr val="CAE4E2"/>
          </a:solidFill>
          <a:ln w="12700">
            <a:solidFill>
              <a:srgbClr val="CAE4E2"/>
            </a:solidFill>
            <a:prstDash val="solid"/>
          </a:ln>
        </p:spPr>
      </p:sp>
      <p:sp>
        <p:nvSpPr>
          <p:cNvPr id="144" name="heat Saturday 2h"/>
          <p:cNvSpPr/>
          <p:nvPr/>
        </p:nvSpPr>
        <p:spPr>
          <a:xfrm>
            <a:off x="1981200" y="3337560"/>
            <a:ext cx="286512" cy="283464"/>
          </a:xfrm>
          <a:prstGeom prst="rect">
            <a:avLst/>
          </a:prstGeom>
          <a:solidFill>
            <a:srgbClr val="D0E7E6"/>
          </a:solidFill>
          <a:ln w="12700">
            <a:solidFill>
              <a:srgbClr val="D0E7E6"/>
            </a:solidFill>
            <a:prstDash val="solid"/>
          </a:ln>
        </p:spPr>
      </p:sp>
      <p:sp>
        <p:nvSpPr>
          <p:cNvPr id="145" name="heat Saturday 3h"/>
          <p:cNvSpPr/>
          <p:nvPr/>
        </p:nvSpPr>
        <p:spPr>
          <a:xfrm>
            <a:off x="2286000" y="3337560"/>
            <a:ext cx="286512" cy="283464"/>
          </a:xfrm>
          <a:prstGeom prst="rect">
            <a:avLst/>
          </a:prstGeom>
          <a:solidFill>
            <a:srgbClr val="DCEDEC"/>
          </a:solidFill>
          <a:ln w="12700">
            <a:solidFill>
              <a:srgbClr val="DCEDEC"/>
            </a:solidFill>
            <a:prstDash val="solid"/>
          </a:ln>
        </p:spPr>
      </p:sp>
      <p:sp>
        <p:nvSpPr>
          <p:cNvPr id="146" name="heat Saturday 4h"/>
          <p:cNvSpPr/>
          <p:nvPr/>
        </p:nvSpPr>
        <p:spPr>
          <a:xfrm>
            <a:off x="2590800" y="3337560"/>
            <a:ext cx="286512" cy="283464"/>
          </a:xfrm>
          <a:prstGeom prst="rect">
            <a:avLst/>
          </a:prstGeom>
          <a:solidFill>
            <a:srgbClr val="E4F1F0"/>
          </a:solidFill>
          <a:ln w="12700">
            <a:solidFill>
              <a:srgbClr val="E4F1F0"/>
            </a:solidFill>
            <a:prstDash val="solid"/>
          </a:ln>
        </p:spPr>
      </p:sp>
      <p:sp>
        <p:nvSpPr>
          <p:cNvPr id="147" name="heat Saturday 5h"/>
          <p:cNvSpPr/>
          <p:nvPr/>
        </p:nvSpPr>
        <p:spPr>
          <a:xfrm>
            <a:off x="2895600" y="3337560"/>
            <a:ext cx="286512" cy="283464"/>
          </a:xfrm>
          <a:prstGeom prst="rect">
            <a:avLst/>
          </a:prstGeom>
          <a:solidFill>
            <a:srgbClr val="E5F2F0"/>
          </a:solidFill>
          <a:ln w="12700">
            <a:solidFill>
              <a:srgbClr val="E5F2F0"/>
            </a:solidFill>
            <a:prstDash val="solid"/>
          </a:ln>
        </p:spPr>
      </p:sp>
      <p:sp>
        <p:nvSpPr>
          <p:cNvPr id="148" name="heat Saturday 6h"/>
          <p:cNvSpPr/>
          <p:nvPr/>
        </p:nvSpPr>
        <p:spPr>
          <a:xfrm>
            <a:off x="3200400" y="3337560"/>
            <a:ext cx="286512" cy="283464"/>
          </a:xfrm>
          <a:prstGeom prst="rect">
            <a:avLst/>
          </a:prstGeom>
          <a:solidFill>
            <a:srgbClr val="E7F2F1"/>
          </a:solidFill>
          <a:ln w="12700">
            <a:solidFill>
              <a:srgbClr val="E7F2F1"/>
            </a:solidFill>
            <a:prstDash val="solid"/>
          </a:ln>
        </p:spPr>
      </p:sp>
      <p:sp>
        <p:nvSpPr>
          <p:cNvPr id="149" name="heat Saturday 7h"/>
          <p:cNvSpPr/>
          <p:nvPr/>
        </p:nvSpPr>
        <p:spPr>
          <a:xfrm>
            <a:off x="3505200" y="3337560"/>
            <a:ext cx="286512" cy="283464"/>
          </a:xfrm>
          <a:prstGeom prst="rect">
            <a:avLst/>
          </a:prstGeom>
          <a:solidFill>
            <a:srgbClr val="DFEFED"/>
          </a:solidFill>
          <a:ln w="12700">
            <a:solidFill>
              <a:srgbClr val="DFEFED"/>
            </a:solidFill>
            <a:prstDash val="solid"/>
          </a:ln>
        </p:spPr>
      </p:sp>
      <p:sp>
        <p:nvSpPr>
          <p:cNvPr id="150" name="heat Saturday 8h"/>
          <p:cNvSpPr/>
          <p:nvPr/>
        </p:nvSpPr>
        <p:spPr>
          <a:xfrm>
            <a:off x="3810000" y="3337560"/>
            <a:ext cx="286512" cy="283464"/>
          </a:xfrm>
          <a:prstGeom prst="rect">
            <a:avLst/>
          </a:prstGeom>
          <a:solidFill>
            <a:srgbClr val="CAE4E2"/>
          </a:solidFill>
          <a:ln w="12700">
            <a:solidFill>
              <a:srgbClr val="CAE4E2"/>
            </a:solidFill>
            <a:prstDash val="solid"/>
          </a:ln>
        </p:spPr>
      </p:sp>
      <p:sp>
        <p:nvSpPr>
          <p:cNvPr id="151" name="heat Saturday 9h"/>
          <p:cNvSpPr/>
          <p:nvPr/>
        </p:nvSpPr>
        <p:spPr>
          <a:xfrm>
            <a:off x="4114800" y="3337560"/>
            <a:ext cx="286512" cy="283464"/>
          </a:xfrm>
          <a:prstGeom prst="rect">
            <a:avLst/>
          </a:prstGeom>
          <a:solidFill>
            <a:srgbClr val="BEDFDC"/>
          </a:solidFill>
          <a:ln w="12700">
            <a:solidFill>
              <a:srgbClr val="BEDFDC"/>
            </a:solidFill>
            <a:prstDash val="solid"/>
          </a:ln>
        </p:spPr>
      </p:sp>
      <p:sp>
        <p:nvSpPr>
          <p:cNvPr id="152" name="heat Saturday 10h"/>
          <p:cNvSpPr/>
          <p:nvPr/>
        </p:nvSpPr>
        <p:spPr>
          <a:xfrm>
            <a:off x="4419600" y="3337560"/>
            <a:ext cx="286512" cy="283464"/>
          </a:xfrm>
          <a:prstGeom prst="rect">
            <a:avLst/>
          </a:prstGeom>
          <a:solidFill>
            <a:srgbClr val="98CCC8"/>
          </a:solidFill>
          <a:ln w="12700">
            <a:solidFill>
              <a:srgbClr val="98CCC8"/>
            </a:solidFill>
            <a:prstDash val="solid"/>
          </a:ln>
        </p:spPr>
      </p:sp>
      <p:sp>
        <p:nvSpPr>
          <p:cNvPr id="153" name="heat Saturday 11h"/>
          <p:cNvSpPr/>
          <p:nvPr/>
        </p:nvSpPr>
        <p:spPr>
          <a:xfrm>
            <a:off x="4724400" y="3337560"/>
            <a:ext cx="286512" cy="283464"/>
          </a:xfrm>
          <a:prstGeom prst="rect">
            <a:avLst/>
          </a:prstGeom>
          <a:solidFill>
            <a:srgbClr val="84C2BE"/>
          </a:solidFill>
          <a:ln w="12700">
            <a:solidFill>
              <a:srgbClr val="84C2BE"/>
            </a:solidFill>
            <a:prstDash val="solid"/>
          </a:ln>
        </p:spPr>
      </p:sp>
      <p:sp>
        <p:nvSpPr>
          <p:cNvPr id="154" name="heat Saturday 12h"/>
          <p:cNvSpPr/>
          <p:nvPr/>
        </p:nvSpPr>
        <p:spPr>
          <a:xfrm>
            <a:off x="5029200" y="3337560"/>
            <a:ext cx="286512" cy="283464"/>
          </a:xfrm>
          <a:prstGeom prst="rect">
            <a:avLst/>
          </a:prstGeom>
          <a:solidFill>
            <a:srgbClr val="6DB7B2"/>
          </a:solidFill>
          <a:ln w="12700">
            <a:solidFill>
              <a:srgbClr val="6DB7B2"/>
            </a:solidFill>
            <a:prstDash val="solid"/>
          </a:ln>
        </p:spPr>
      </p:sp>
      <p:sp>
        <p:nvSpPr>
          <p:cNvPr id="155" name="heat Saturday 13h"/>
          <p:cNvSpPr/>
          <p:nvPr/>
        </p:nvSpPr>
        <p:spPr>
          <a:xfrm>
            <a:off x="5334000" y="3337560"/>
            <a:ext cx="286512" cy="283464"/>
          </a:xfrm>
          <a:prstGeom prst="rect">
            <a:avLst/>
          </a:prstGeom>
          <a:solidFill>
            <a:srgbClr val="5FB0AB"/>
          </a:solidFill>
          <a:ln w="12700">
            <a:solidFill>
              <a:srgbClr val="5FB0AB"/>
            </a:solidFill>
            <a:prstDash val="solid"/>
          </a:ln>
        </p:spPr>
      </p:sp>
      <p:sp>
        <p:nvSpPr>
          <p:cNvPr id="156" name="heat Saturday 14h"/>
          <p:cNvSpPr/>
          <p:nvPr/>
        </p:nvSpPr>
        <p:spPr>
          <a:xfrm>
            <a:off x="5638800" y="3337560"/>
            <a:ext cx="286512" cy="283464"/>
          </a:xfrm>
          <a:prstGeom prst="rect">
            <a:avLst/>
          </a:prstGeom>
          <a:solidFill>
            <a:srgbClr val="5CAFA9"/>
          </a:solidFill>
          <a:ln w="12700">
            <a:solidFill>
              <a:srgbClr val="5CAFA9"/>
            </a:solidFill>
            <a:prstDash val="solid"/>
          </a:ln>
        </p:spPr>
      </p:sp>
      <p:sp>
        <p:nvSpPr>
          <p:cNvPr id="157" name="heat Saturday 15h"/>
          <p:cNvSpPr/>
          <p:nvPr/>
        </p:nvSpPr>
        <p:spPr>
          <a:xfrm>
            <a:off x="5943600" y="3337560"/>
            <a:ext cx="286512" cy="283464"/>
          </a:xfrm>
          <a:prstGeom prst="rect">
            <a:avLst/>
          </a:prstGeom>
          <a:solidFill>
            <a:srgbClr val="4BA39D"/>
          </a:solidFill>
          <a:ln w="12700">
            <a:solidFill>
              <a:srgbClr val="4BA39D"/>
            </a:solidFill>
            <a:prstDash val="solid"/>
          </a:ln>
        </p:spPr>
      </p:sp>
      <p:sp>
        <p:nvSpPr>
          <p:cNvPr id="158" name="heat Saturday 16h"/>
          <p:cNvSpPr/>
          <p:nvPr/>
        </p:nvSpPr>
        <p:spPr>
          <a:xfrm>
            <a:off x="6248400" y="3337560"/>
            <a:ext cx="286512" cy="283464"/>
          </a:xfrm>
          <a:prstGeom prst="rect">
            <a:avLst/>
          </a:prstGeom>
          <a:solidFill>
            <a:srgbClr val="55ABA5"/>
          </a:solidFill>
          <a:ln w="12700">
            <a:solidFill>
              <a:srgbClr val="55ABA5"/>
            </a:solidFill>
            <a:prstDash val="solid"/>
          </a:ln>
        </p:spPr>
      </p:sp>
      <p:sp>
        <p:nvSpPr>
          <p:cNvPr id="159" name="heat Saturday 17h"/>
          <p:cNvSpPr/>
          <p:nvPr/>
        </p:nvSpPr>
        <p:spPr>
          <a:xfrm>
            <a:off x="6553200" y="3337560"/>
            <a:ext cx="286512" cy="283464"/>
          </a:xfrm>
          <a:prstGeom prst="rect">
            <a:avLst/>
          </a:prstGeom>
          <a:solidFill>
            <a:srgbClr val="6BB6B1"/>
          </a:solidFill>
          <a:ln w="12700">
            <a:solidFill>
              <a:srgbClr val="6BB6B1"/>
            </a:solidFill>
            <a:prstDash val="solid"/>
          </a:ln>
        </p:spPr>
      </p:sp>
      <p:sp>
        <p:nvSpPr>
          <p:cNvPr id="160" name="heat Saturday 18h"/>
          <p:cNvSpPr/>
          <p:nvPr/>
        </p:nvSpPr>
        <p:spPr>
          <a:xfrm>
            <a:off x="6858000" y="3337560"/>
            <a:ext cx="286512" cy="283464"/>
          </a:xfrm>
          <a:prstGeom prst="rect">
            <a:avLst/>
          </a:prstGeom>
          <a:solidFill>
            <a:srgbClr val="8CC6C2"/>
          </a:solidFill>
          <a:ln w="12700">
            <a:solidFill>
              <a:srgbClr val="8CC6C2"/>
            </a:solidFill>
            <a:prstDash val="solid"/>
          </a:ln>
        </p:spPr>
      </p:sp>
      <p:sp>
        <p:nvSpPr>
          <p:cNvPr id="161" name="heat Saturday 19h"/>
          <p:cNvSpPr/>
          <p:nvPr/>
        </p:nvSpPr>
        <p:spPr>
          <a:xfrm>
            <a:off x="7162800" y="3337560"/>
            <a:ext cx="286512" cy="283464"/>
          </a:xfrm>
          <a:prstGeom prst="rect">
            <a:avLst/>
          </a:prstGeom>
          <a:solidFill>
            <a:srgbClr val="98CCC8"/>
          </a:solidFill>
          <a:ln w="12700">
            <a:solidFill>
              <a:srgbClr val="98CCC8"/>
            </a:solidFill>
            <a:prstDash val="solid"/>
          </a:ln>
        </p:spPr>
      </p:sp>
      <p:sp>
        <p:nvSpPr>
          <p:cNvPr id="162" name="heat Saturday 20h"/>
          <p:cNvSpPr/>
          <p:nvPr/>
        </p:nvSpPr>
        <p:spPr>
          <a:xfrm>
            <a:off x="7467600" y="3337560"/>
            <a:ext cx="286512" cy="283464"/>
          </a:xfrm>
          <a:prstGeom prst="rect">
            <a:avLst/>
          </a:prstGeom>
          <a:solidFill>
            <a:srgbClr val="AAD4D1"/>
          </a:solidFill>
          <a:ln w="12700">
            <a:solidFill>
              <a:srgbClr val="AAD4D1"/>
            </a:solidFill>
            <a:prstDash val="solid"/>
          </a:ln>
        </p:spPr>
      </p:sp>
      <p:sp>
        <p:nvSpPr>
          <p:cNvPr id="163" name="heat Saturday 21h"/>
          <p:cNvSpPr/>
          <p:nvPr/>
        </p:nvSpPr>
        <p:spPr>
          <a:xfrm>
            <a:off x="7772400" y="3337560"/>
            <a:ext cx="286512" cy="283464"/>
          </a:xfrm>
          <a:prstGeom prst="rect">
            <a:avLst/>
          </a:prstGeom>
          <a:solidFill>
            <a:srgbClr val="A8D4D1"/>
          </a:solidFill>
          <a:ln w="12700">
            <a:solidFill>
              <a:srgbClr val="A8D4D1"/>
            </a:solidFill>
            <a:prstDash val="solid"/>
          </a:ln>
        </p:spPr>
      </p:sp>
      <p:sp>
        <p:nvSpPr>
          <p:cNvPr id="164" name="heat Saturday 22h"/>
          <p:cNvSpPr/>
          <p:nvPr/>
        </p:nvSpPr>
        <p:spPr>
          <a:xfrm>
            <a:off x="8077200" y="3337560"/>
            <a:ext cx="286512" cy="283464"/>
          </a:xfrm>
          <a:prstGeom prst="rect">
            <a:avLst/>
          </a:prstGeom>
          <a:solidFill>
            <a:srgbClr val="B7DBD8"/>
          </a:solidFill>
          <a:ln w="12700">
            <a:solidFill>
              <a:srgbClr val="B7DBD8"/>
            </a:solidFill>
            <a:prstDash val="solid"/>
          </a:ln>
        </p:spPr>
      </p:sp>
      <p:sp>
        <p:nvSpPr>
          <p:cNvPr id="165" name="heat Saturday 23h"/>
          <p:cNvSpPr/>
          <p:nvPr/>
        </p:nvSpPr>
        <p:spPr>
          <a:xfrm>
            <a:off x="8382000" y="3337560"/>
            <a:ext cx="286512" cy="283464"/>
          </a:xfrm>
          <a:prstGeom prst="rect">
            <a:avLst/>
          </a:prstGeom>
          <a:solidFill>
            <a:srgbClr val="B3D9D6"/>
          </a:solidFill>
          <a:ln w="12700">
            <a:solidFill>
              <a:srgbClr val="B3D9D6"/>
            </a:solidFill>
            <a:prstDash val="solid"/>
          </a:ln>
        </p:spPr>
      </p:sp>
      <p:sp>
        <p:nvSpPr>
          <p:cNvPr id="166" name="Text 164"/>
          <p:cNvSpPr txBox="1"/>
          <p:nvPr/>
        </p:nvSpPr>
        <p:spPr>
          <a:xfrm>
            <a:off x="365760" y="3648456"/>
            <a:ext cx="960120" cy="283464"/>
          </a:xfrm>
          <a:prstGeom prst="rect">
            <a:avLst/>
          </a:prstGeom>
          <a:noFill/>
          <a:ln/>
        </p:spPr>
        <p:txBody>
          <a:bodyPr wrap="square" lIns="0" tIns="0" rIns="0" bIns="0" rtlCol="0" anchor="ctr"/>
          <a:lstStyle/>
          <a:p>
            <a:pPr marL="0" indent="0" algn="r">
              <a:buNone/>
            </a:pPr>
            <a:r>
              <a:rPr lang="en-US" sz="1100" dirty="0">
                <a:solidFill>
                  <a:srgbClr val="44514F"/>
                </a:solidFill>
              </a:rPr>
              <a:t>Sunday</a:t>
            </a:r>
            <a:endParaRPr lang="en-US" sz="1100" dirty="0"/>
          </a:p>
        </p:txBody>
      </p:sp>
      <p:sp>
        <p:nvSpPr>
          <p:cNvPr id="167" name="heat Sunday 0h"/>
          <p:cNvSpPr/>
          <p:nvPr/>
        </p:nvSpPr>
        <p:spPr>
          <a:xfrm>
            <a:off x="1371600" y="3648456"/>
            <a:ext cx="286512" cy="283464"/>
          </a:xfrm>
          <a:prstGeom prst="rect">
            <a:avLst/>
          </a:prstGeom>
          <a:solidFill>
            <a:srgbClr val="BBDDDB"/>
          </a:solidFill>
          <a:ln w="12700">
            <a:solidFill>
              <a:srgbClr val="BBDDDB"/>
            </a:solidFill>
            <a:prstDash val="solid"/>
          </a:ln>
        </p:spPr>
      </p:sp>
      <p:sp>
        <p:nvSpPr>
          <p:cNvPr id="168" name="heat Sunday 1h"/>
          <p:cNvSpPr/>
          <p:nvPr/>
        </p:nvSpPr>
        <p:spPr>
          <a:xfrm>
            <a:off x="1676400" y="3648456"/>
            <a:ext cx="286512" cy="283464"/>
          </a:xfrm>
          <a:prstGeom prst="rect">
            <a:avLst/>
          </a:prstGeom>
          <a:solidFill>
            <a:srgbClr val="C7E3E1"/>
          </a:solidFill>
          <a:ln w="12700">
            <a:solidFill>
              <a:srgbClr val="C7E3E1"/>
            </a:solidFill>
            <a:prstDash val="solid"/>
          </a:ln>
        </p:spPr>
      </p:sp>
      <p:sp>
        <p:nvSpPr>
          <p:cNvPr id="169" name="heat Sunday 2h"/>
          <p:cNvSpPr/>
          <p:nvPr/>
        </p:nvSpPr>
        <p:spPr>
          <a:xfrm>
            <a:off x="1981200" y="3648456"/>
            <a:ext cx="286512" cy="283464"/>
          </a:xfrm>
          <a:prstGeom prst="rect">
            <a:avLst/>
          </a:prstGeom>
          <a:solidFill>
            <a:srgbClr val="D3E9E7"/>
          </a:solidFill>
          <a:ln w="12700">
            <a:solidFill>
              <a:srgbClr val="D3E9E7"/>
            </a:solidFill>
            <a:prstDash val="solid"/>
          </a:ln>
        </p:spPr>
      </p:sp>
      <p:sp>
        <p:nvSpPr>
          <p:cNvPr id="170" name="heat Sunday 3h"/>
          <p:cNvSpPr/>
          <p:nvPr/>
        </p:nvSpPr>
        <p:spPr>
          <a:xfrm>
            <a:off x="2286000" y="3648456"/>
            <a:ext cx="286512" cy="283464"/>
          </a:xfrm>
          <a:prstGeom prst="rect">
            <a:avLst/>
          </a:prstGeom>
          <a:solidFill>
            <a:srgbClr val="DCEDEC"/>
          </a:solidFill>
          <a:ln w="12700">
            <a:solidFill>
              <a:srgbClr val="DCEDEC"/>
            </a:solidFill>
            <a:prstDash val="solid"/>
          </a:ln>
        </p:spPr>
      </p:sp>
      <p:sp>
        <p:nvSpPr>
          <p:cNvPr id="171" name="heat Sunday 4h"/>
          <p:cNvSpPr/>
          <p:nvPr/>
        </p:nvSpPr>
        <p:spPr>
          <a:xfrm>
            <a:off x="2590800" y="3648456"/>
            <a:ext cx="286512" cy="283464"/>
          </a:xfrm>
          <a:prstGeom prst="rect">
            <a:avLst/>
          </a:prstGeom>
          <a:solidFill>
            <a:srgbClr val="E7F2F1"/>
          </a:solidFill>
          <a:ln w="12700">
            <a:solidFill>
              <a:srgbClr val="E7F2F1"/>
            </a:solidFill>
            <a:prstDash val="solid"/>
          </a:ln>
        </p:spPr>
      </p:sp>
      <p:sp>
        <p:nvSpPr>
          <p:cNvPr id="172" name="heat Sunday 5h"/>
          <p:cNvSpPr/>
          <p:nvPr/>
        </p:nvSpPr>
        <p:spPr>
          <a:xfrm>
            <a:off x="2895600" y="3648456"/>
            <a:ext cx="286512" cy="283464"/>
          </a:xfrm>
          <a:prstGeom prst="rect">
            <a:avLst/>
          </a:prstGeom>
          <a:solidFill>
            <a:srgbClr val="E7F2F1"/>
          </a:solidFill>
          <a:ln w="12700">
            <a:solidFill>
              <a:srgbClr val="E7F2F1"/>
            </a:solidFill>
            <a:prstDash val="solid"/>
          </a:ln>
        </p:spPr>
      </p:sp>
      <p:sp>
        <p:nvSpPr>
          <p:cNvPr id="173" name="heat Sunday 6h"/>
          <p:cNvSpPr/>
          <p:nvPr/>
        </p:nvSpPr>
        <p:spPr>
          <a:xfrm>
            <a:off x="3200400" y="3648456"/>
            <a:ext cx="286512" cy="283464"/>
          </a:xfrm>
          <a:prstGeom prst="rect">
            <a:avLst/>
          </a:prstGeom>
          <a:solidFill>
            <a:srgbClr val="E7F2F1"/>
          </a:solidFill>
          <a:ln w="12700">
            <a:solidFill>
              <a:srgbClr val="E7F2F1"/>
            </a:solidFill>
            <a:prstDash val="solid"/>
          </a:ln>
        </p:spPr>
      </p:sp>
      <p:sp>
        <p:nvSpPr>
          <p:cNvPr id="174" name="heat Sunday 7h"/>
          <p:cNvSpPr/>
          <p:nvPr/>
        </p:nvSpPr>
        <p:spPr>
          <a:xfrm>
            <a:off x="3505200" y="3648456"/>
            <a:ext cx="286512" cy="283464"/>
          </a:xfrm>
          <a:prstGeom prst="rect">
            <a:avLst/>
          </a:prstGeom>
          <a:solidFill>
            <a:srgbClr val="E4F1F0"/>
          </a:solidFill>
          <a:ln w="12700">
            <a:solidFill>
              <a:srgbClr val="E4F1F0"/>
            </a:solidFill>
            <a:prstDash val="solid"/>
          </a:ln>
        </p:spPr>
      </p:sp>
      <p:sp>
        <p:nvSpPr>
          <p:cNvPr id="175" name="heat Sunday 8h"/>
          <p:cNvSpPr/>
          <p:nvPr/>
        </p:nvSpPr>
        <p:spPr>
          <a:xfrm>
            <a:off x="3810000" y="3648456"/>
            <a:ext cx="286512" cy="283464"/>
          </a:xfrm>
          <a:prstGeom prst="rect">
            <a:avLst/>
          </a:prstGeom>
          <a:solidFill>
            <a:srgbClr val="D3E9E7"/>
          </a:solidFill>
          <a:ln w="12700">
            <a:solidFill>
              <a:srgbClr val="D3E9E7"/>
            </a:solidFill>
            <a:prstDash val="solid"/>
          </a:ln>
        </p:spPr>
      </p:sp>
      <p:sp>
        <p:nvSpPr>
          <p:cNvPr id="176" name="heat Sunday 9h"/>
          <p:cNvSpPr/>
          <p:nvPr/>
        </p:nvSpPr>
        <p:spPr>
          <a:xfrm>
            <a:off x="4114800" y="3648456"/>
            <a:ext cx="286512" cy="283464"/>
          </a:xfrm>
          <a:prstGeom prst="rect">
            <a:avLst/>
          </a:prstGeom>
          <a:solidFill>
            <a:srgbClr val="B8DCD9"/>
          </a:solidFill>
          <a:ln w="12700">
            <a:solidFill>
              <a:srgbClr val="B8DCD9"/>
            </a:solidFill>
            <a:prstDash val="solid"/>
          </a:ln>
        </p:spPr>
      </p:sp>
      <p:sp>
        <p:nvSpPr>
          <p:cNvPr id="177" name="heat Sunday 10h"/>
          <p:cNvSpPr/>
          <p:nvPr/>
        </p:nvSpPr>
        <p:spPr>
          <a:xfrm>
            <a:off x="4419600" y="3648456"/>
            <a:ext cx="286512" cy="283464"/>
          </a:xfrm>
          <a:prstGeom prst="rect">
            <a:avLst/>
          </a:prstGeom>
          <a:solidFill>
            <a:srgbClr val="80C0BC"/>
          </a:solidFill>
          <a:ln w="12700">
            <a:solidFill>
              <a:srgbClr val="80C0BC"/>
            </a:solidFill>
            <a:prstDash val="solid"/>
          </a:ln>
        </p:spPr>
      </p:sp>
      <p:sp>
        <p:nvSpPr>
          <p:cNvPr id="178" name="heat Sunday 11h"/>
          <p:cNvSpPr/>
          <p:nvPr/>
        </p:nvSpPr>
        <p:spPr>
          <a:xfrm>
            <a:off x="4724400" y="3648456"/>
            <a:ext cx="286512" cy="283464"/>
          </a:xfrm>
          <a:prstGeom prst="rect">
            <a:avLst/>
          </a:prstGeom>
          <a:solidFill>
            <a:srgbClr val="6AB5B0"/>
          </a:solidFill>
          <a:ln w="12700">
            <a:solidFill>
              <a:srgbClr val="6AB5B0"/>
            </a:solidFill>
            <a:prstDash val="solid"/>
          </a:ln>
        </p:spPr>
      </p:sp>
      <p:sp>
        <p:nvSpPr>
          <p:cNvPr id="179" name="heat Sunday 12h"/>
          <p:cNvSpPr/>
          <p:nvPr/>
        </p:nvSpPr>
        <p:spPr>
          <a:xfrm>
            <a:off x="5029200" y="3648456"/>
            <a:ext cx="286512" cy="283464"/>
          </a:xfrm>
          <a:prstGeom prst="rect">
            <a:avLst/>
          </a:prstGeom>
          <a:solidFill>
            <a:srgbClr val="469C97"/>
          </a:solidFill>
          <a:ln w="12700">
            <a:solidFill>
              <a:srgbClr val="469C97"/>
            </a:solidFill>
            <a:prstDash val="solid"/>
          </a:ln>
        </p:spPr>
      </p:sp>
      <p:sp>
        <p:nvSpPr>
          <p:cNvPr id="180" name="heat Sunday 13h"/>
          <p:cNvSpPr/>
          <p:nvPr/>
        </p:nvSpPr>
        <p:spPr>
          <a:xfrm>
            <a:off x="5334000" y="3648456"/>
            <a:ext cx="286512" cy="283464"/>
          </a:xfrm>
          <a:prstGeom prst="rect">
            <a:avLst/>
          </a:prstGeom>
          <a:solidFill>
            <a:srgbClr val="4AA29C"/>
          </a:solidFill>
          <a:ln w="12700">
            <a:solidFill>
              <a:srgbClr val="4AA29C"/>
            </a:solidFill>
            <a:prstDash val="solid"/>
          </a:ln>
        </p:spPr>
      </p:sp>
      <p:sp>
        <p:nvSpPr>
          <p:cNvPr id="181" name="heat Sunday 14h"/>
          <p:cNvSpPr/>
          <p:nvPr/>
        </p:nvSpPr>
        <p:spPr>
          <a:xfrm>
            <a:off x="5638800" y="3648456"/>
            <a:ext cx="286512" cy="283464"/>
          </a:xfrm>
          <a:prstGeom prst="rect">
            <a:avLst/>
          </a:prstGeom>
          <a:solidFill>
            <a:srgbClr val="4AA29C"/>
          </a:solidFill>
          <a:ln w="12700">
            <a:solidFill>
              <a:srgbClr val="4AA29C"/>
            </a:solidFill>
            <a:prstDash val="solid"/>
          </a:ln>
        </p:spPr>
      </p:sp>
      <p:sp>
        <p:nvSpPr>
          <p:cNvPr id="182" name="heat Sunday 15h"/>
          <p:cNvSpPr/>
          <p:nvPr/>
        </p:nvSpPr>
        <p:spPr>
          <a:xfrm>
            <a:off x="5943600" y="3648456"/>
            <a:ext cx="286512" cy="283464"/>
          </a:xfrm>
          <a:prstGeom prst="rect">
            <a:avLst/>
          </a:prstGeom>
          <a:solidFill>
            <a:srgbClr val="489F99"/>
          </a:solidFill>
          <a:ln w="12700">
            <a:solidFill>
              <a:srgbClr val="489F99"/>
            </a:solidFill>
            <a:prstDash val="solid"/>
          </a:ln>
        </p:spPr>
      </p:sp>
      <p:sp>
        <p:nvSpPr>
          <p:cNvPr id="183" name="heat Sunday 16h"/>
          <p:cNvSpPr/>
          <p:nvPr/>
        </p:nvSpPr>
        <p:spPr>
          <a:xfrm>
            <a:off x="6248400" y="3648456"/>
            <a:ext cx="286512" cy="283464"/>
          </a:xfrm>
          <a:prstGeom prst="rect">
            <a:avLst/>
          </a:prstGeom>
          <a:solidFill>
            <a:srgbClr val="4DA59F"/>
          </a:solidFill>
          <a:ln w="12700">
            <a:solidFill>
              <a:srgbClr val="4DA59F"/>
            </a:solidFill>
            <a:prstDash val="solid"/>
          </a:ln>
        </p:spPr>
      </p:sp>
      <p:sp>
        <p:nvSpPr>
          <p:cNvPr id="184" name="heat Sunday 17h"/>
          <p:cNvSpPr/>
          <p:nvPr/>
        </p:nvSpPr>
        <p:spPr>
          <a:xfrm>
            <a:off x="6553200" y="3648456"/>
            <a:ext cx="286512" cy="283464"/>
          </a:xfrm>
          <a:prstGeom prst="rect">
            <a:avLst/>
          </a:prstGeom>
          <a:solidFill>
            <a:srgbClr val="68B4AF"/>
          </a:solidFill>
          <a:ln w="12700">
            <a:solidFill>
              <a:srgbClr val="68B4AF"/>
            </a:solidFill>
            <a:prstDash val="solid"/>
          </a:ln>
        </p:spPr>
      </p:sp>
      <p:sp>
        <p:nvSpPr>
          <p:cNvPr id="185" name="heat Sunday 18h"/>
          <p:cNvSpPr/>
          <p:nvPr/>
        </p:nvSpPr>
        <p:spPr>
          <a:xfrm>
            <a:off x="6858000" y="3648456"/>
            <a:ext cx="286512" cy="283464"/>
          </a:xfrm>
          <a:prstGeom prst="rect">
            <a:avLst/>
          </a:prstGeom>
          <a:solidFill>
            <a:srgbClr val="89C4C0"/>
          </a:solidFill>
          <a:ln w="12700">
            <a:solidFill>
              <a:srgbClr val="89C4C0"/>
            </a:solidFill>
            <a:prstDash val="solid"/>
          </a:ln>
        </p:spPr>
      </p:sp>
      <p:sp>
        <p:nvSpPr>
          <p:cNvPr id="186" name="heat Sunday 19h"/>
          <p:cNvSpPr/>
          <p:nvPr/>
        </p:nvSpPr>
        <p:spPr>
          <a:xfrm>
            <a:off x="7162800" y="3648456"/>
            <a:ext cx="286512" cy="283464"/>
          </a:xfrm>
          <a:prstGeom prst="rect">
            <a:avLst/>
          </a:prstGeom>
          <a:solidFill>
            <a:srgbClr val="A5D2CF"/>
          </a:solidFill>
          <a:ln w="12700">
            <a:solidFill>
              <a:srgbClr val="A5D2CF"/>
            </a:solidFill>
            <a:prstDash val="solid"/>
          </a:ln>
        </p:spPr>
      </p:sp>
      <p:sp>
        <p:nvSpPr>
          <p:cNvPr id="187" name="heat Sunday 20h"/>
          <p:cNvSpPr/>
          <p:nvPr/>
        </p:nvSpPr>
        <p:spPr>
          <a:xfrm>
            <a:off x="7467600" y="3648456"/>
            <a:ext cx="286512" cy="283464"/>
          </a:xfrm>
          <a:prstGeom prst="rect">
            <a:avLst/>
          </a:prstGeom>
          <a:solidFill>
            <a:srgbClr val="B3D9D6"/>
          </a:solidFill>
          <a:ln w="12700">
            <a:solidFill>
              <a:srgbClr val="B3D9D6"/>
            </a:solidFill>
            <a:prstDash val="solid"/>
          </a:ln>
        </p:spPr>
      </p:sp>
      <p:sp>
        <p:nvSpPr>
          <p:cNvPr id="188" name="heat Sunday 21h"/>
          <p:cNvSpPr/>
          <p:nvPr/>
        </p:nvSpPr>
        <p:spPr>
          <a:xfrm>
            <a:off x="7772400" y="3648456"/>
            <a:ext cx="286512" cy="283464"/>
          </a:xfrm>
          <a:prstGeom prst="rect">
            <a:avLst/>
          </a:prstGeom>
          <a:solidFill>
            <a:srgbClr val="BDDEDB"/>
          </a:solidFill>
          <a:ln w="12700">
            <a:solidFill>
              <a:srgbClr val="BDDEDB"/>
            </a:solidFill>
            <a:prstDash val="solid"/>
          </a:ln>
        </p:spPr>
      </p:sp>
      <p:sp>
        <p:nvSpPr>
          <p:cNvPr id="189" name="heat Sunday 22h"/>
          <p:cNvSpPr/>
          <p:nvPr/>
        </p:nvSpPr>
        <p:spPr>
          <a:xfrm>
            <a:off x="8077200" y="3648456"/>
            <a:ext cx="286512" cy="283464"/>
          </a:xfrm>
          <a:prstGeom prst="rect">
            <a:avLst/>
          </a:prstGeom>
          <a:solidFill>
            <a:srgbClr val="C1E0DE"/>
          </a:solidFill>
          <a:ln w="12700">
            <a:solidFill>
              <a:srgbClr val="C1E0DE"/>
            </a:solidFill>
            <a:prstDash val="solid"/>
          </a:ln>
        </p:spPr>
      </p:sp>
      <p:sp>
        <p:nvSpPr>
          <p:cNvPr id="190" name="heat Sunday 23h"/>
          <p:cNvSpPr/>
          <p:nvPr/>
        </p:nvSpPr>
        <p:spPr>
          <a:xfrm>
            <a:off x="8382000" y="3648456"/>
            <a:ext cx="286512" cy="283464"/>
          </a:xfrm>
          <a:prstGeom prst="rect">
            <a:avLst/>
          </a:prstGeom>
          <a:solidFill>
            <a:srgbClr val="CDE6E4"/>
          </a:solidFill>
          <a:ln w="12700">
            <a:solidFill>
              <a:srgbClr val="CDE6E4"/>
            </a:solidFill>
            <a:prstDash val="solid"/>
          </a:ln>
        </p:spPr>
      </p:sp>
      <p:sp>
        <p:nvSpPr>
          <p:cNvPr id="191" name="Text 189"/>
          <p:cNvSpPr txBox="1"/>
          <p:nvPr/>
        </p:nvSpPr>
        <p:spPr>
          <a:xfrm>
            <a:off x="1371600" y="3977640"/>
            <a:ext cx="7315200" cy="228600"/>
          </a:xfrm>
          <a:prstGeom prst="rect">
            <a:avLst/>
          </a:prstGeom>
          <a:noFill/>
          <a:ln/>
        </p:spPr>
        <p:txBody>
          <a:bodyPr wrap="square" lIns="0" tIns="0" rIns="0" bIns="0" rtlCol="0" anchor="ctr"/>
          <a:lstStyle/>
          <a:p>
            <a:pPr marL="0" indent="0" algn="ctr">
              <a:buNone/>
            </a:pPr>
            <a:r>
              <a:rPr lang="en-US" sz="1000" dirty="0">
                <a:solidFill>
                  <a:srgbClr val="6B7B79"/>
                </a:solidFill>
              </a:rPr>
              <a:t>Hour of day</a:t>
            </a:r>
            <a:endParaRPr lang="en-US" sz="1000" dirty="0"/>
          </a:p>
        </p:txBody>
      </p:sp>
      <p:sp>
        <p:nvSpPr>
          <p:cNvPr id="192" name="Text 190"/>
          <p:cNvSpPr txBox="1"/>
          <p:nvPr/>
        </p:nvSpPr>
        <p:spPr>
          <a:xfrm>
            <a:off x="457200" y="4206240"/>
            <a:ext cx="548640" cy="274320"/>
          </a:xfrm>
          <a:prstGeom prst="rect">
            <a:avLst/>
          </a:prstGeom>
          <a:noFill/>
          <a:ln/>
        </p:spPr>
        <p:txBody>
          <a:bodyPr wrap="square" lIns="0" tIns="0" rIns="0" bIns="0" rtlCol="0" anchor="ctr"/>
          <a:lstStyle/>
          <a:p>
            <a:pPr marL="0" indent="0">
              <a:buNone/>
            </a:pPr>
            <a:r>
              <a:rPr lang="en-US" sz="1200" dirty="0">
                <a:solidFill>
                  <a:schemeClr val="tx1"/>
                </a:solidFill>
              </a:rPr>
              <a:t>Fewer</a:t>
            </a:r>
            <a:endParaRPr lang="en-US" sz="1200" dirty="0"/>
          </a:p>
        </p:txBody>
      </p:sp>
      <p:sp>
        <p:nvSpPr>
          <p:cNvPr id="193" name="legend 0"/>
          <p:cNvSpPr/>
          <p:nvPr/>
        </p:nvSpPr>
        <p:spPr>
          <a:xfrm>
            <a:off x="1051560" y="4233672"/>
            <a:ext cx="274320" cy="219456"/>
          </a:xfrm>
          <a:prstGeom prst="rect">
            <a:avLst/>
          </a:prstGeom>
          <a:solidFill>
            <a:srgbClr val="E8F3F2"/>
          </a:solidFill>
          <a:ln w="12700">
            <a:solidFill>
              <a:srgbClr val="E8F3F2"/>
            </a:solidFill>
            <a:prstDash val="solid"/>
          </a:ln>
        </p:spPr>
      </p:sp>
      <p:sp>
        <p:nvSpPr>
          <p:cNvPr id="194" name="legend 1"/>
          <p:cNvSpPr/>
          <p:nvPr/>
        </p:nvSpPr>
        <p:spPr>
          <a:xfrm>
            <a:off x="1344168" y="4233672"/>
            <a:ext cx="274320" cy="219456"/>
          </a:xfrm>
          <a:prstGeom prst="rect">
            <a:avLst/>
          </a:prstGeom>
          <a:solidFill>
            <a:srgbClr val="9CCECA"/>
          </a:solidFill>
          <a:ln w="12700">
            <a:solidFill>
              <a:srgbClr val="9CCECA"/>
            </a:solidFill>
            <a:prstDash val="solid"/>
          </a:ln>
        </p:spPr>
      </p:sp>
      <p:sp>
        <p:nvSpPr>
          <p:cNvPr id="195" name="legend 2"/>
          <p:cNvSpPr/>
          <p:nvPr/>
        </p:nvSpPr>
        <p:spPr>
          <a:xfrm>
            <a:off x="1636776" y="4233672"/>
            <a:ext cx="274320" cy="219456"/>
          </a:xfrm>
          <a:prstGeom prst="rect">
            <a:avLst/>
          </a:prstGeom>
          <a:solidFill>
            <a:srgbClr val="4FA8A2"/>
          </a:solidFill>
          <a:ln w="12700">
            <a:solidFill>
              <a:srgbClr val="4FA8A2"/>
            </a:solidFill>
            <a:prstDash val="solid"/>
          </a:ln>
        </p:spPr>
      </p:sp>
      <p:sp>
        <p:nvSpPr>
          <p:cNvPr id="196" name="legend 3"/>
          <p:cNvSpPr/>
          <p:nvPr/>
        </p:nvSpPr>
        <p:spPr>
          <a:xfrm>
            <a:off x="1929384" y="4233672"/>
            <a:ext cx="274320" cy="219456"/>
          </a:xfrm>
          <a:prstGeom prst="rect">
            <a:avLst/>
          </a:prstGeom>
          <a:solidFill>
            <a:srgbClr val="2D7975"/>
          </a:solidFill>
          <a:ln w="12700">
            <a:solidFill>
              <a:srgbClr val="2D7975"/>
            </a:solidFill>
            <a:prstDash val="solid"/>
          </a:ln>
        </p:spPr>
      </p:sp>
      <p:sp>
        <p:nvSpPr>
          <p:cNvPr id="197" name="legend 4"/>
          <p:cNvSpPr/>
          <p:nvPr/>
        </p:nvSpPr>
        <p:spPr>
          <a:xfrm>
            <a:off x="2221992" y="4233672"/>
            <a:ext cx="274320" cy="219456"/>
          </a:xfrm>
          <a:prstGeom prst="rect">
            <a:avLst/>
          </a:prstGeom>
          <a:solidFill>
            <a:srgbClr val="0A4A47"/>
          </a:solidFill>
          <a:ln w="12700">
            <a:solidFill>
              <a:srgbClr val="0A4A47"/>
            </a:solidFill>
            <a:prstDash val="solid"/>
          </a:ln>
        </p:spPr>
      </p:sp>
      <p:sp>
        <p:nvSpPr>
          <p:cNvPr id="198" name="Text 196"/>
          <p:cNvSpPr txBox="1"/>
          <p:nvPr/>
        </p:nvSpPr>
        <p:spPr>
          <a:xfrm>
            <a:off x="2606040" y="4206240"/>
            <a:ext cx="1097280" cy="274320"/>
          </a:xfrm>
          <a:prstGeom prst="rect">
            <a:avLst/>
          </a:prstGeom>
          <a:noFill/>
          <a:ln/>
        </p:spPr>
        <p:txBody>
          <a:bodyPr wrap="square" lIns="0" tIns="0" rIns="0" bIns="0" rtlCol="0" anchor="ctr"/>
          <a:lstStyle/>
          <a:p>
            <a:pPr marL="0" indent="0">
              <a:buNone/>
            </a:pPr>
            <a:r>
              <a:rPr lang="en-US" sz="1200" dirty="0">
                <a:solidFill>
                  <a:schemeClr val="tx1"/>
                </a:solidFill>
              </a:rPr>
              <a:t>More rentals</a:t>
            </a:r>
            <a:endParaRPr lang="en-US" sz="1200" dirty="0"/>
          </a:p>
        </p:txBody>
      </p:sp>
      <p:sp>
        <p:nvSpPr>
          <p:cNvPr id="199" name="Text 197"/>
          <p:cNvSpPr txBox="1"/>
          <p:nvPr/>
        </p:nvSpPr>
        <p:spPr>
          <a:xfrm>
            <a:off x="4023360" y="4206240"/>
            <a:ext cx="4663440" cy="274320"/>
          </a:xfrm>
          <a:prstGeom prst="rect">
            <a:avLst/>
          </a:prstGeom>
          <a:noFill/>
          <a:ln/>
        </p:spPr>
        <p:txBody>
          <a:bodyPr wrap="square" lIns="0" tIns="0" rIns="0" bIns="0" rtlCol="0" anchor="ctr"/>
          <a:lstStyle/>
          <a:p>
            <a:pPr marL="0" indent="0" algn="r">
              <a:buNone/>
            </a:pPr>
            <a:r>
              <a:rPr lang="en-US" sz="1200" dirty="0">
                <a:solidFill>
                  <a:schemeClr val="tx1"/>
                </a:solidFill>
              </a:rPr>
              <a:t>Average rentals per hour. Darkest cell: Thursday 8 AM (207).</a:t>
            </a:r>
            <a:endParaRPr lang="en-US" sz="1200" dirty="0"/>
          </a:p>
        </p:txBody>
      </p:sp>
      <p:sp>
        <p:nvSpPr>
          <p:cNvPr id="200"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B79"/>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179E3C1-B992-DAF4-8A5C-2C21B572BB17}"/>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0" y="0"/>
            <a:ext cx="9143999" cy="5143500"/>
          </a:xfrm>
          <a:prstGeom prst="rect">
            <a:avLst/>
          </a:prstGeom>
        </p:spPr>
      </p:pic>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3000" b="1" dirty="0">
                <a:solidFill>
                  <a:schemeClr val="tx2"/>
                </a:solidFill>
              </a:rPr>
              <a:t>Impact of weather</a:t>
            </a:r>
            <a:endParaRPr lang="en-US" sz="3000" dirty="0"/>
          </a:p>
        </p:txBody>
      </p:sp>
      <p:sp>
        <p:nvSpPr>
          <p:cNvPr id="3" name="takeaway"/>
          <p:cNvSpPr txBox="1"/>
          <p:nvPr/>
        </p:nvSpPr>
        <p:spPr>
          <a:xfrm>
            <a:off x="457200" y="896112"/>
            <a:ext cx="8229600" cy="365760"/>
          </a:xfrm>
          <a:prstGeom prst="rect">
            <a:avLst/>
          </a:prstGeom>
          <a:noFill/>
          <a:ln/>
        </p:spPr>
        <p:txBody>
          <a:bodyPr wrap="square" lIns="0" tIns="0" rIns="0" bIns="0" rtlCol="0" anchor="ctr"/>
          <a:lstStyle/>
          <a:p>
            <a:pPr marL="0" indent="0">
              <a:buNone/>
            </a:pPr>
            <a:r>
              <a:rPr lang="en-US" sz="1400" dirty="0">
                <a:solidFill>
                  <a:schemeClr val="tx1"/>
                </a:solidFill>
              </a:rPr>
              <a:t>Heavy rain cuts hourly demand by about 46% compared with clear weather.</a:t>
            </a:r>
            <a:endParaRPr lang="en-US" sz="1400" dirty="0"/>
          </a:p>
        </p:txBody>
      </p:sp>
      <p:graphicFrame>
        <p:nvGraphicFramePr>
          <p:cNvPr id="4" name="Chart 0"/>
          <p:cNvGraphicFramePr/>
          <p:nvPr/>
        </p:nvGraphicFramePr>
        <p:xfrm>
          <a:off x="365760" y="1325880"/>
          <a:ext cx="4480560" cy="329184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3" name="weather table"/>
          <p:cNvGraphicFramePr>
            <a:graphicFrameLocks noGrp="1"/>
          </p:cNvGraphicFramePr>
          <p:nvPr>
            <p:extLst>
              <p:ext uri="{D42A27DB-BD31-4B8C-83A1-F6EECF244321}">
                <p14:modId xmlns:p14="http://schemas.microsoft.com/office/powerpoint/2010/main" val="1579011935"/>
              </p:ext>
            </p:extLst>
          </p:nvPr>
        </p:nvGraphicFramePr>
        <p:xfrm>
          <a:off x="5029200" y="1508760"/>
          <a:ext cx="3657600" cy="1920240"/>
        </p:xfrm>
        <a:graphic>
          <a:graphicData uri="http://schemas.openxmlformats.org/drawingml/2006/table">
            <a:tbl>
              <a:tblPr/>
              <a:tblGrid>
                <a:gridCol w="137160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tblGrid>
              <a:tr h="384048">
                <a:tc>
                  <a:txBody>
                    <a:bodyPr/>
                    <a:lstStyle/>
                    <a:p>
                      <a:pPr marL="0" indent="0" algn="ctr">
                        <a:buNone/>
                      </a:pPr>
                      <a:r>
                        <a:rPr lang="en-US" sz="1200" b="1" dirty="0">
                          <a:solidFill>
                            <a:srgbClr val="FFFFFF"/>
                          </a:solidFill>
                        </a:rPr>
                        <a:t>Weather</a:t>
                      </a:r>
                      <a:endParaRPr lang="en-US" sz="12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0E7C7B"/>
                    </a:solidFill>
                  </a:tcPr>
                </a:tc>
                <a:tc>
                  <a:txBody>
                    <a:bodyPr/>
                    <a:lstStyle/>
                    <a:p>
                      <a:pPr marL="0" indent="0" algn="ctr">
                        <a:buNone/>
                      </a:pPr>
                      <a:r>
                        <a:rPr lang="en-US" sz="1200" b="1" dirty="0">
                          <a:solidFill>
                            <a:srgbClr val="FFFFFF"/>
                          </a:solidFill>
                        </a:rPr>
                        <a:t>Hours</a:t>
                      </a:r>
                      <a:endParaRPr lang="en-US" sz="12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0E7C7B"/>
                    </a:solidFill>
                  </a:tcPr>
                </a:tc>
                <a:tc>
                  <a:txBody>
                    <a:bodyPr/>
                    <a:lstStyle/>
                    <a:p>
                      <a:pPr marL="0" indent="0" algn="ctr">
                        <a:buNone/>
                      </a:pPr>
                      <a:r>
                        <a:rPr lang="en-US" sz="1200" b="1" dirty="0">
                          <a:solidFill>
                            <a:srgbClr val="FFFFFF"/>
                          </a:solidFill>
                        </a:rPr>
                        <a:t>Total</a:t>
                      </a:r>
                      <a:endParaRPr lang="en-US" sz="12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0E7C7B"/>
                    </a:solidFill>
                  </a:tcPr>
                </a:tc>
                <a:tc>
                  <a:txBody>
                    <a:bodyPr/>
                    <a:lstStyle/>
                    <a:p>
                      <a:pPr marL="0" indent="0" algn="ctr">
                        <a:buNone/>
                      </a:pPr>
                      <a:r>
                        <a:rPr lang="en-US" sz="1200" b="1" dirty="0">
                          <a:solidFill>
                            <a:srgbClr val="FFFFFF"/>
                          </a:solidFill>
                        </a:rPr>
                        <a:t>Avg/hr</a:t>
                      </a:r>
                      <a:endParaRPr lang="en-US" sz="12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0E7C7B"/>
                    </a:solidFill>
                  </a:tcPr>
                </a:tc>
                <a:extLst>
                  <a:ext uri="{0D108BD9-81ED-4DB2-BD59-A6C34878D82A}">
                    <a16:rowId xmlns:a16="http://schemas.microsoft.com/office/drawing/2014/main" val="10000"/>
                  </a:ext>
                </a:extLst>
              </a:tr>
              <a:tr h="384048">
                <a:tc>
                  <a:txBody>
                    <a:bodyPr/>
                    <a:lstStyle/>
                    <a:p>
                      <a:pPr marL="0" indent="0" algn="l">
                        <a:buNone/>
                      </a:pPr>
                      <a:r>
                        <a:rPr lang="en-US" sz="1300" b="1" dirty="0">
                          <a:solidFill>
                            <a:srgbClr val="1F2A37"/>
                          </a:solidFill>
                        </a:rPr>
                        <a:t>Clear Weather</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37"/>
                          </a:solidFill>
                        </a:rPr>
                        <a:t>606</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37"/>
                          </a:solidFill>
                        </a:rPr>
                        <a:t>37,373</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37"/>
                          </a:solidFill>
                        </a:rPr>
                        <a:t>61.7</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300" b="1" dirty="0">
                          <a:solidFill>
                            <a:srgbClr val="1F2A37"/>
                          </a:solidFill>
                        </a:rPr>
                        <a:t>Light Rain</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37"/>
                          </a:solidFill>
                        </a:rPr>
                        <a:t>309</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37"/>
                          </a:solidFill>
                        </a:rPr>
                        <a:t>18,106</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37"/>
                          </a:solidFill>
                        </a:rPr>
                        <a:t>58.6</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1300" b="1" dirty="0">
                          <a:solidFill>
                            <a:srgbClr val="1F2A37"/>
                          </a:solidFill>
                        </a:rPr>
                        <a:t>Heavy Rain</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37"/>
                          </a:solidFill>
                        </a:rPr>
                        <a:t>84</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37"/>
                          </a:solidFill>
                        </a:rPr>
                        <a:t>2,789</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37"/>
                          </a:solidFill>
                        </a:rPr>
                        <a:t>33.2</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300" b="1" dirty="0">
                          <a:solidFill>
                            <a:srgbClr val="1F2A37"/>
                          </a:solidFill>
                        </a:rPr>
                        <a:t>Thunderstorm</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37"/>
                          </a:solidFill>
                        </a:rPr>
                        <a:t>1</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37"/>
                          </a:solidFill>
                        </a:rPr>
                        <a:t>36</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37"/>
                          </a:solidFill>
                        </a:rPr>
                        <a:t>36.0</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ext 2"/>
          <p:cNvSpPr txBox="1"/>
          <p:nvPr/>
        </p:nvSpPr>
        <p:spPr>
          <a:xfrm>
            <a:off x="5029200" y="3611880"/>
            <a:ext cx="3657600" cy="914400"/>
          </a:xfrm>
          <a:prstGeom prst="rect">
            <a:avLst/>
          </a:prstGeom>
          <a:noFill/>
          <a:ln/>
        </p:spPr>
        <p:txBody>
          <a:bodyPr wrap="square" lIns="0" tIns="0" rIns="0" bIns="0" rtlCol="0" anchor="t"/>
          <a:lstStyle/>
          <a:p>
            <a:pPr marL="0" indent="0">
              <a:buNone/>
            </a:pPr>
            <a:r>
              <a:rPr lang="en-US" sz="1400" dirty="0">
                <a:solidFill>
                  <a:schemeClr val="tx1"/>
                </a:solidFill>
              </a:rPr>
              <a:t>Light rain barely changes demand (about 5% lower). Thunderstorm has only one recorded hour, so read it with caution.</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B79"/>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8114F7E-7011-5720-CD4B-627881295AA5}"/>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0" y="0"/>
            <a:ext cx="9143999" cy="5143500"/>
          </a:xfrm>
          <a:prstGeom prst="rect">
            <a:avLst/>
          </a:prstGeom>
        </p:spPr>
      </p:pic>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3000" b="1" dirty="0">
                <a:solidFill>
                  <a:schemeClr val="tx2"/>
                </a:solidFill>
              </a:rPr>
              <a:t>Temperature and humidity</a:t>
            </a:r>
            <a:endParaRPr lang="en-US" sz="3000" dirty="0"/>
          </a:p>
        </p:txBody>
      </p:sp>
      <p:sp>
        <p:nvSpPr>
          <p:cNvPr id="3" name="takeaway"/>
          <p:cNvSpPr txBox="1"/>
          <p:nvPr/>
        </p:nvSpPr>
        <p:spPr>
          <a:xfrm>
            <a:off x="457200" y="896112"/>
            <a:ext cx="8229600" cy="365760"/>
          </a:xfrm>
          <a:prstGeom prst="rect">
            <a:avLst/>
          </a:prstGeom>
          <a:noFill/>
          <a:ln/>
        </p:spPr>
        <p:txBody>
          <a:bodyPr wrap="square" lIns="0" tIns="0" rIns="0" bIns="0" rtlCol="0" anchor="ctr"/>
          <a:lstStyle/>
          <a:p>
            <a:pPr marL="0" indent="0">
              <a:buNone/>
            </a:pPr>
            <a:r>
              <a:rPr lang="en-US" sz="1400" dirty="0">
                <a:solidFill>
                  <a:schemeClr val="tx1"/>
                </a:solidFill>
              </a:rPr>
              <a:t>Warmer, drier hours bring more riders.</a:t>
            </a:r>
            <a:endParaRPr lang="en-US" sz="1400" dirty="0"/>
          </a:p>
        </p:txBody>
      </p:sp>
      <p:graphicFrame>
        <p:nvGraphicFramePr>
          <p:cNvPr id="4" name="Chart 0"/>
          <p:cNvGraphicFramePr/>
          <p:nvPr/>
        </p:nvGraphicFramePr>
        <p:xfrm>
          <a:off x="365760" y="1325880"/>
          <a:ext cx="4206240" cy="269748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5" name="Chart 1"/>
          <p:cNvGraphicFramePr/>
          <p:nvPr/>
        </p:nvGraphicFramePr>
        <p:xfrm>
          <a:off x="4663440" y="1325880"/>
          <a:ext cx="4206240" cy="2697480"/>
        </p:xfrm>
        <a:graphic>
          <a:graphicData uri="http://schemas.openxmlformats.org/drawingml/2006/chart">
            <c:chart xmlns:c="http://schemas.openxmlformats.org/drawingml/2006/chart" xmlns:r="http://schemas.openxmlformats.org/officeDocument/2006/relationships" r:id="rId6"/>
          </a:graphicData>
        </a:graphic>
      </p:graphicFrame>
      <p:sp>
        <p:nvSpPr>
          <p:cNvPr id="6" name="correlation strip"/>
          <p:cNvSpPr/>
          <p:nvPr/>
        </p:nvSpPr>
        <p:spPr>
          <a:xfrm>
            <a:off x="457200" y="4114800"/>
            <a:ext cx="8229600" cy="594360"/>
          </a:xfrm>
          <a:prstGeom prst="roundRect">
            <a:avLst>
              <a:gd name="adj" fmla="val 12308"/>
            </a:avLst>
          </a:prstGeom>
          <a:solidFill>
            <a:schemeClr val="bg2"/>
          </a:solidFill>
          <a:ln w="12700">
            <a:solidFill>
              <a:schemeClr val="bg2"/>
            </a:solidFill>
            <a:prstDash val="solid"/>
          </a:ln>
        </p:spPr>
      </p:sp>
      <p:sp>
        <p:nvSpPr>
          <p:cNvPr id="7" name="Text 3"/>
          <p:cNvSpPr txBox="1"/>
          <p:nvPr/>
        </p:nvSpPr>
        <p:spPr>
          <a:xfrm>
            <a:off x="640080" y="4114800"/>
            <a:ext cx="7863840" cy="594360"/>
          </a:xfrm>
          <a:prstGeom prst="rect">
            <a:avLst/>
          </a:prstGeom>
          <a:noFill/>
          <a:ln/>
        </p:spPr>
        <p:txBody>
          <a:bodyPr wrap="square" lIns="0" tIns="0" rIns="0" bIns="0" rtlCol="0" anchor="ctr"/>
          <a:lstStyle/>
          <a:p>
            <a:pPr marL="0" indent="0">
              <a:buNone/>
            </a:pPr>
            <a:r>
              <a:rPr lang="en-US" sz="1400" b="1" dirty="0">
                <a:solidFill>
                  <a:schemeClr val="tx1"/>
                </a:solidFill>
              </a:rPr>
              <a:t>Correlation with rentals:  </a:t>
            </a:r>
            <a:r>
              <a:rPr lang="en-US" sz="1400" dirty="0">
                <a:solidFill>
                  <a:schemeClr val="tx1"/>
                </a:solidFill>
              </a:rPr>
              <a:t>temperature +0.23  |  humidity −0.25  |  wind speed +0.10</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B79"/>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5ECDA71-B628-58BE-62A9-A313D91D446D}"/>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0" y="0"/>
            <a:ext cx="9143999" cy="5143500"/>
          </a:xfrm>
          <a:prstGeom prst="rect">
            <a:avLst/>
          </a:prstGeom>
        </p:spPr>
      </p:pic>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3000" b="1" dirty="0">
                <a:solidFill>
                  <a:schemeClr val="tx2"/>
                </a:solidFill>
              </a:rPr>
              <a:t>Month and holiday view</a:t>
            </a:r>
            <a:endParaRPr lang="en-US" sz="3000" dirty="0"/>
          </a:p>
        </p:txBody>
      </p:sp>
      <p:sp>
        <p:nvSpPr>
          <p:cNvPr id="3" name="takeaway"/>
          <p:cNvSpPr txBox="1"/>
          <p:nvPr/>
        </p:nvSpPr>
        <p:spPr>
          <a:xfrm>
            <a:off x="457200" y="896112"/>
            <a:ext cx="8229600" cy="365760"/>
          </a:xfrm>
          <a:prstGeom prst="rect">
            <a:avLst/>
          </a:prstGeom>
          <a:noFill/>
          <a:ln/>
        </p:spPr>
        <p:txBody>
          <a:bodyPr wrap="square" lIns="0" tIns="0" rIns="0" bIns="0" rtlCol="0" anchor="ctr"/>
          <a:lstStyle/>
          <a:p>
            <a:pPr marL="0" indent="0">
              <a:buNone/>
            </a:pPr>
            <a:r>
              <a:rPr lang="en-US" sz="1400" dirty="0">
                <a:solidFill>
                  <a:schemeClr val="tx1"/>
                </a:solidFill>
              </a:rPr>
              <a:t>Holiday hours ran quieter, but the sample is a single day.</a:t>
            </a:r>
            <a:endParaRPr lang="en-US" sz="1400" dirty="0"/>
          </a:p>
        </p:txBody>
      </p:sp>
      <p:graphicFrame>
        <p:nvGraphicFramePr>
          <p:cNvPr id="4" name="Chart 0"/>
          <p:cNvGraphicFramePr/>
          <p:nvPr/>
        </p:nvGraphicFramePr>
        <p:xfrm>
          <a:off x="365760" y="1325880"/>
          <a:ext cx="4114800" cy="265176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5" name="Chart 1"/>
          <p:cNvGraphicFramePr/>
          <p:nvPr/>
        </p:nvGraphicFramePr>
        <p:xfrm>
          <a:off x="4663440" y="1325880"/>
          <a:ext cx="4114800" cy="2651760"/>
        </p:xfrm>
        <a:graphic>
          <a:graphicData uri="http://schemas.openxmlformats.org/drawingml/2006/chart">
            <c:chart xmlns:c="http://schemas.openxmlformats.org/drawingml/2006/chart" xmlns:r="http://schemas.openxmlformats.org/officeDocument/2006/relationships" r:id="rId6"/>
          </a:graphicData>
        </a:graphic>
      </p:graphicFrame>
      <p:sp>
        <p:nvSpPr>
          <p:cNvPr id="6" name="Text 2"/>
          <p:cNvSpPr txBox="1"/>
          <p:nvPr/>
        </p:nvSpPr>
        <p:spPr>
          <a:xfrm>
            <a:off x="457200" y="4069080"/>
            <a:ext cx="4023360" cy="640080"/>
          </a:xfrm>
          <a:prstGeom prst="rect">
            <a:avLst/>
          </a:prstGeom>
          <a:noFill/>
          <a:ln/>
        </p:spPr>
        <p:txBody>
          <a:bodyPr wrap="square" lIns="0" tIns="0" rIns="0" bIns="0" rtlCol="0" anchor="t"/>
          <a:lstStyle/>
          <a:p>
            <a:pPr marL="0" indent="0">
              <a:buNone/>
            </a:pPr>
            <a:r>
              <a:rPr lang="en-US" sz="1400" dirty="0">
                <a:solidFill>
                  <a:schemeClr val="tx1"/>
                </a:solidFill>
              </a:rPr>
              <a:t>January: 38,189 rentals over 688 hours. February (1 to 14 Feb): 20,115 rentals over 312 hours.</a:t>
            </a:r>
            <a:endParaRPr lang="en-US" sz="1400" dirty="0"/>
          </a:p>
        </p:txBody>
      </p:sp>
      <p:sp>
        <p:nvSpPr>
          <p:cNvPr id="7" name="Text 3"/>
          <p:cNvSpPr txBox="1"/>
          <p:nvPr/>
        </p:nvSpPr>
        <p:spPr>
          <a:xfrm>
            <a:off x="4754880" y="4069080"/>
            <a:ext cx="3931920" cy="640080"/>
          </a:xfrm>
          <a:prstGeom prst="rect">
            <a:avLst/>
          </a:prstGeom>
          <a:noFill/>
          <a:ln/>
        </p:spPr>
        <p:txBody>
          <a:bodyPr wrap="square" lIns="0" tIns="0" rIns="0" bIns="0" rtlCol="0" anchor="t"/>
          <a:lstStyle/>
          <a:p>
            <a:pPr marL="0" indent="0">
              <a:buNone/>
            </a:pPr>
            <a:r>
              <a:rPr lang="en-US" sz="1400" dirty="0">
                <a:solidFill>
                  <a:schemeClr val="tx1"/>
                </a:solidFill>
              </a:rPr>
              <a:t>The only holiday in the data is 17 Jan (24 hours), so this gap is only an early signal.</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B79"/>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22F6F8DE-BFEC-8EF0-0812-37C20931A2F8}"/>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0" y="0"/>
            <a:ext cx="9143999" cy="5143500"/>
          </a:xfrm>
          <a:prstGeom prst="rect">
            <a:avLst/>
          </a:prstGeom>
        </p:spPr>
      </p:pic>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3000" b="1" dirty="0">
                <a:solidFill>
                  <a:schemeClr val="tx2"/>
                </a:solidFill>
              </a:rPr>
              <a:t>Demand forecast</a:t>
            </a:r>
            <a:endParaRPr lang="en-US" sz="3000" dirty="0"/>
          </a:p>
        </p:txBody>
      </p:sp>
      <p:sp>
        <p:nvSpPr>
          <p:cNvPr id="3" name="takeaway"/>
          <p:cNvSpPr txBox="1"/>
          <p:nvPr/>
        </p:nvSpPr>
        <p:spPr>
          <a:xfrm>
            <a:off x="457200" y="896112"/>
            <a:ext cx="8229600" cy="365760"/>
          </a:xfrm>
          <a:prstGeom prst="rect">
            <a:avLst/>
          </a:prstGeom>
          <a:noFill/>
          <a:ln/>
        </p:spPr>
        <p:txBody>
          <a:bodyPr wrap="square" lIns="0" tIns="0" rIns="0" bIns="0" rtlCol="0" anchor="ctr"/>
          <a:lstStyle/>
          <a:p>
            <a:pPr marL="0" indent="0">
              <a:buNone/>
            </a:pPr>
            <a:r>
              <a:rPr lang="en-US" sz="1400" dirty="0">
                <a:solidFill>
                  <a:schemeClr val="tx1"/>
                </a:solidFill>
              </a:rPr>
              <a:t>Forecast: about 61 to 64 rentals per hour for 15 to 26 February.</a:t>
            </a:r>
            <a:endParaRPr lang="en-US" sz="1400" dirty="0"/>
          </a:p>
        </p:txBody>
      </p:sp>
      <p:graphicFrame>
        <p:nvGraphicFramePr>
          <p:cNvPr id="4" name="Chart 0"/>
          <p:cNvGraphicFramePr/>
          <p:nvPr/>
        </p:nvGraphicFramePr>
        <p:xfrm>
          <a:off x="365760" y="1325880"/>
          <a:ext cx="6035040" cy="3154680"/>
        </p:xfrm>
        <a:graphic>
          <a:graphicData uri="http://schemas.openxmlformats.org/drawingml/2006/chart">
            <c:chart xmlns:c="http://schemas.openxmlformats.org/drawingml/2006/chart" xmlns:r="http://schemas.openxmlformats.org/officeDocument/2006/relationships" r:id="rId5"/>
          </a:graphicData>
        </a:graphic>
      </p:graphicFrame>
      <p:sp>
        <p:nvSpPr>
          <p:cNvPr id="5" name="Text 2"/>
          <p:cNvSpPr txBox="1"/>
          <p:nvPr/>
        </p:nvSpPr>
        <p:spPr>
          <a:xfrm>
            <a:off x="457200" y="4526280"/>
            <a:ext cx="5943600" cy="228600"/>
          </a:xfrm>
          <a:prstGeom prst="rect">
            <a:avLst/>
          </a:prstGeom>
          <a:noFill/>
          <a:ln/>
        </p:spPr>
        <p:txBody>
          <a:bodyPr wrap="square" lIns="0" tIns="0" rIns="0" bIns="0" rtlCol="0" anchor="ctr"/>
          <a:lstStyle/>
          <a:p>
            <a:pPr marL="0" indent="0">
              <a:buNone/>
            </a:pPr>
            <a:r>
              <a:rPr lang="en-US" sz="1000" dirty="0">
                <a:solidFill>
                  <a:srgbClr val="6B7B79"/>
                </a:solidFill>
              </a:rPr>
              <a:t>14 Feb is left out of the chart because only 8 of its 24 hours were recorded.</a:t>
            </a:r>
            <a:endParaRPr lang="en-US" sz="1000" dirty="0"/>
          </a:p>
        </p:txBody>
      </p:sp>
      <p:sp>
        <p:nvSpPr>
          <p:cNvPr id="6" name="forecast tile 0"/>
          <p:cNvSpPr/>
          <p:nvPr/>
        </p:nvSpPr>
        <p:spPr>
          <a:xfrm>
            <a:off x="6629400" y="1417320"/>
            <a:ext cx="2057400" cy="960120"/>
          </a:xfrm>
          <a:prstGeom prst="roundRect">
            <a:avLst>
              <a:gd name="adj" fmla="val 7619"/>
            </a:avLst>
          </a:prstGeom>
          <a:solidFill>
            <a:schemeClr val="bg2"/>
          </a:solidFill>
          <a:ln w="12700">
            <a:solidFill>
              <a:schemeClr val="bg2"/>
            </a:solidFill>
            <a:prstDash val="solid"/>
          </a:ln>
        </p:spPr>
      </p:sp>
      <p:sp>
        <p:nvSpPr>
          <p:cNvPr id="7" name="Text 4"/>
          <p:cNvSpPr txBox="1"/>
          <p:nvPr/>
        </p:nvSpPr>
        <p:spPr>
          <a:xfrm>
            <a:off x="6766560" y="1463040"/>
            <a:ext cx="1828800" cy="457200"/>
          </a:xfrm>
          <a:prstGeom prst="rect">
            <a:avLst/>
          </a:prstGeom>
          <a:noFill/>
          <a:ln/>
        </p:spPr>
        <p:txBody>
          <a:bodyPr wrap="square" lIns="0" tIns="0" rIns="0" bIns="0" rtlCol="0" anchor="ctr"/>
          <a:lstStyle/>
          <a:p>
            <a:pPr marL="0" indent="0">
              <a:buNone/>
            </a:pPr>
            <a:r>
              <a:rPr lang="en-US" sz="2000" b="1" dirty="0">
                <a:solidFill>
                  <a:schemeClr val="accent2"/>
                </a:solidFill>
              </a:rPr>
              <a:t>61 to 64</a:t>
            </a:r>
            <a:endParaRPr lang="en-US" sz="2000" dirty="0"/>
          </a:p>
        </p:txBody>
      </p:sp>
      <p:sp>
        <p:nvSpPr>
          <p:cNvPr id="8" name="Text 5"/>
          <p:cNvSpPr txBox="1"/>
          <p:nvPr/>
        </p:nvSpPr>
        <p:spPr>
          <a:xfrm>
            <a:off x="6766560" y="1920240"/>
            <a:ext cx="1828800" cy="411480"/>
          </a:xfrm>
          <a:prstGeom prst="rect">
            <a:avLst/>
          </a:prstGeom>
          <a:noFill/>
          <a:ln/>
        </p:spPr>
        <p:txBody>
          <a:bodyPr wrap="square" lIns="0" tIns="0" rIns="0" bIns="0" rtlCol="0" anchor="t"/>
          <a:lstStyle/>
          <a:p>
            <a:pPr marL="0" indent="0">
              <a:buNone/>
            </a:pPr>
            <a:r>
              <a:rPr lang="en-US" sz="1200" dirty="0">
                <a:solidFill>
                  <a:schemeClr val="tx1"/>
                </a:solidFill>
              </a:rPr>
              <a:t>forecast rentals per hour, 15 to 26 Feb</a:t>
            </a:r>
            <a:endParaRPr lang="en-US" sz="1200" dirty="0"/>
          </a:p>
        </p:txBody>
      </p:sp>
      <p:sp>
        <p:nvSpPr>
          <p:cNvPr id="9" name="forecast tile 1"/>
          <p:cNvSpPr/>
          <p:nvPr/>
        </p:nvSpPr>
        <p:spPr>
          <a:xfrm>
            <a:off x="6629400" y="2496312"/>
            <a:ext cx="2057400" cy="960120"/>
          </a:xfrm>
          <a:prstGeom prst="roundRect">
            <a:avLst>
              <a:gd name="adj" fmla="val 7619"/>
            </a:avLst>
          </a:prstGeom>
          <a:solidFill>
            <a:schemeClr val="bg2"/>
          </a:solidFill>
          <a:ln w="12700">
            <a:solidFill>
              <a:schemeClr val="bg2"/>
            </a:solidFill>
            <a:prstDash val="solid"/>
          </a:ln>
        </p:spPr>
      </p:sp>
      <p:sp>
        <p:nvSpPr>
          <p:cNvPr id="10" name="Text 7"/>
          <p:cNvSpPr txBox="1"/>
          <p:nvPr/>
        </p:nvSpPr>
        <p:spPr>
          <a:xfrm>
            <a:off x="6766560" y="2542032"/>
            <a:ext cx="1828800" cy="457200"/>
          </a:xfrm>
          <a:prstGeom prst="rect">
            <a:avLst/>
          </a:prstGeom>
          <a:noFill/>
          <a:ln/>
        </p:spPr>
        <p:txBody>
          <a:bodyPr wrap="square" lIns="0" tIns="0" rIns="0" bIns="0" rtlCol="0" anchor="ctr"/>
          <a:lstStyle/>
          <a:p>
            <a:pPr marL="0" indent="0">
              <a:buNone/>
            </a:pPr>
            <a:r>
              <a:rPr lang="en-US" sz="2000" b="1" dirty="0">
                <a:solidFill>
                  <a:schemeClr val="accent1"/>
                </a:solidFill>
              </a:rPr>
              <a:t>32 to 96</a:t>
            </a:r>
            <a:endParaRPr lang="en-US" sz="2000" dirty="0"/>
          </a:p>
        </p:txBody>
      </p:sp>
      <p:sp>
        <p:nvSpPr>
          <p:cNvPr id="11" name="Text 8"/>
          <p:cNvSpPr txBox="1"/>
          <p:nvPr/>
        </p:nvSpPr>
        <p:spPr>
          <a:xfrm>
            <a:off x="6766560" y="2999232"/>
            <a:ext cx="1828800" cy="411480"/>
          </a:xfrm>
          <a:prstGeom prst="rect">
            <a:avLst/>
          </a:prstGeom>
          <a:noFill/>
          <a:ln/>
        </p:spPr>
        <p:txBody>
          <a:bodyPr wrap="square" lIns="0" tIns="0" rIns="0" bIns="0" rtlCol="0" anchor="t"/>
          <a:lstStyle/>
          <a:p>
            <a:pPr marL="0" indent="0">
              <a:buNone/>
            </a:pPr>
            <a:r>
              <a:rPr lang="en-US" sz="1200" dirty="0">
                <a:solidFill>
                  <a:schemeClr val="tx1"/>
                </a:solidFill>
              </a:rPr>
              <a:t>confidence range on 26 Feb</a:t>
            </a:r>
            <a:endParaRPr lang="en-US" sz="1200" dirty="0"/>
          </a:p>
        </p:txBody>
      </p:sp>
      <p:sp>
        <p:nvSpPr>
          <p:cNvPr id="12" name="forecast tile 2"/>
          <p:cNvSpPr/>
          <p:nvPr/>
        </p:nvSpPr>
        <p:spPr>
          <a:xfrm>
            <a:off x="6629400" y="3575304"/>
            <a:ext cx="2057400" cy="960120"/>
          </a:xfrm>
          <a:prstGeom prst="roundRect">
            <a:avLst>
              <a:gd name="adj" fmla="val 7619"/>
            </a:avLst>
          </a:prstGeom>
          <a:solidFill>
            <a:schemeClr val="bg2"/>
          </a:solidFill>
          <a:ln w="12700">
            <a:solidFill>
              <a:schemeClr val="bg2"/>
            </a:solidFill>
            <a:prstDash val="solid"/>
          </a:ln>
        </p:spPr>
      </p:sp>
      <p:sp>
        <p:nvSpPr>
          <p:cNvPr id="13" name="Text 10"/>
          <p:cNvSpPr txBox="1"/>
          <p:nvPr/>
        </p:nvSpPr>
        <p:spPr>
          <a:xfrm>
            <a:off x="6766560" y="3621024"/>
            <a:ext cx="1828800" cy="457200"/>
          </a:xfrm>
          <a:prstGeom prst="rect">
            <a:avLst/>
          </a:prstGeom>
          <a:noFill/>
          <a:ln/>
        </p:spPr>
        <p:txBody>
          <a:bodyPr wrap="square" lIns="0" tIns="0" rIns="0" bIns="0" rtlCol="0" anchor="ctr"/>
          <a:lstStyle/>
          <a:p>
            <a:pPr marL="0" indent="0">
              <a:buNone/>
            </a:pPr>
            <a:r>
              <a:rPr lang="en-US" sz="2000" b="1" dirty="0">
                <a:solidFill>
                  <a:schemeClr val="accent1"/>
                </a:solidFill>
              </a:rPr>
              <a:t>Wide band</a:t>
            </a:r>
            <a:endParaRPr lang="en-US" sz="2000" dirty="0"/>
          </a:p>
        </p:txBody>
      </p:sp>
      <p:sp>
        <p:nvSpPr>
          <p:cNvPr id="14" name="Text 11"/>
          <p:cNvSpPr txBox="1"/>
          <p:nvPr/>
        </p:nvSpPr>
        <p:spPr>
          <a:xfrm>
            <a:off x="6766560" y="4078224"/>
            <a:ext cx="1828800" cy="411480"/>
          </a:xfrm>
          <a:prstGeom prst="rect">
            <a:avLst/>
          </a:prstGeom>
          <a:noFill/>
          <a:ln/>
        </p:spPr>
        <p:txBody>
          <a:bodyPr wrap="square" lIns="0" tIns="0" rIns="0" bIns="0" rtlCol="0" anchor="t"/>
          <a:lstStyle/>
          <a:p>
            <a:pPr marL="0" indent="0">
              <a:buNone/>
            </a:pPr>
            <a:r>
              <a:rPr lang="en-US" sz="1200" dirty="0">
                <a:solidFill>
                  <a:schemeClr val="tx1"/>
                </a:solidFill>
              </a:rPr>
              <a:t>only 45 days of history</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B79"/>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49B05D8-C579-A7CC-048A-37E6EBB63423}"/>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0" y="0"/>
            <a:ext cx="9143999" cy="5143500"/>
          </a:xfrm>
          <a:prstGeom prst="rect">
            <a:avLst/>
          </a:prstGeom>
        </p:spPr>
      </p:pic>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3000" b="1" dirty="0">
                <a:solidFill>
                  <a:schemeClr val="tx2"/>
                </a:solidFill>
              </a:rPr>
              <a:t>Anomaly detection</a:t>
            </a:r>
            <a:endParaRPr lang="en-US" sz="3000" dirty="0"/>
          </a:p>
        </p:txBody>
      </p:sp>
      <p:sp>
        <p:nvSpPr>
          <p:cNvPr id="3" name="takeaway"/>
          <p:cNvSpPr txBox="1"/>
          <p:nvPr/>
        </p:nvSpPr>
        <p:spPr>
          <a:xfrm>
            <a:off x="457200" y="896112"/>
            <a:ext cx="8229600" cy="365760"/>
          </a:xfrm>
          <a:prstGeom prst="rect">
            <a:avLst/>
          </a:prstGeom>
          <a:noFill/>
          <a:ln/>
        </p:spPr>
        <p:txBody>
          <a:bodyPr wrap="square" lIns="0" tIns="0" rIns="0" bIns="0" rtlCol="0" anchor="ctr"/>
          <a:lstStyle/>
          <a:p>
            <a:pPr marL="0" indent="0">
              <a:buNone/>
            </a:pPr>
            <a:r>
              <a:rPr lang="en-US" sz="1400" dirty="0">
                <a:solidFill>
                  <a:schemeClr val="tx1"/>
                </a:solidFill>
              </a:rPr>
              <a:t>42 of the 1,000 hours were flagged as unusual.</a:t>
            </a:r>
            <a:endParaRPr lang="en-US" sz="1400" dirty="0"/>
          </a:p>
        </p:txBody>
      </p:sp>
      <p:graphicFrame>
        <p:nvGraphicFramePr>
          <p:cNvPr id="4" name="Chart 0"/>
          <p:cNvGraphicFramePr/>
          <p:nvPr/>
        </p:nvGraphicFramePr>
        <p:xfrm>
          <a:off x="365760" y="1325880"/>
          <a:ext cx="3200400" cy="3291840"/>
        </p:xfrm>
        <a:graphic>
          <a:graphicData uri="http://schemas.openxmlformats.org/drawingml/2006/chart">
            <c:chart xmlns:c="http://schemas.openxmlformats.org/drawingml/2006/chart" xmlns:r="http://schemas.openxmlformats.org/officeDocument/2006/relationships" r:id="rId5"/>
          </a:graphicData>
        </a:graphic>
      </p:graphicFrame>
      <p:sp>
        <p:nvSpPr>
          <p:cNvPr id="5" name="Text 2"/>
          <p:cNvSpPr txBox="1"/>
          <p:nvPr/>
        </p:nvSpPr>
        <p:spPr>
          <a:xfrm>
            <a:off x="3840480" y="1371600"/>
            <a:ext cx="4846320" cy="914400"/>
          </a:xfrm>
          <a:prstGeom prst="rect">
            <a:avLst/>
          </a:prstGeom>
          <a:noFill/>
          <a:ln/>
        </p:spPr>
        <p:txBody>
          <a:bodyPr wrap="square" lIns="0" tIns="0" rIns="0" bIns="0" rtlCol="0" anchor="t"/>
          <a:lstStyle/>
          <a:p>
            <a:pPr marL="0" indent="0">
              <a:buNone/>
            </a:pPr>
            <a:r>
              <a:rPr lang="en-US" sz="1400" dirty="0">
                <a:solidFill>
                  <a:schemeClr val="tx1"/>
                </a:solidFill>
              </a:rPr>
              <a:t>Each hour is compared with the average for that hour of the day. Anything beyond two standard deviations (a z-score above 2 or below -2) is flagged.</a:t>
            </a:r>
            <a:endParaRPr lang="en-US" sz="1400" dirty="0"/>
          </a:p>
        </p:txBody>
      </p:sp>
      <p:graphicFrame>
        <p:nvGraphicFramePr>
          <p:cNvPr id="17" name="anomaly table"/>
          <p:cNvGraphicFramePr>
            <a:graphicFrameLocks noGrp="1"/>
          </p:cNvGraphicFramePr>
          <p:nvPr>
            <p:extLst>
              <p:ext uri="{D42A27DB-BD31-4B8C-83A1-F6EECF244321}">
                <p14:modId xmlns:p14="http://schemas.microsoft.com/office/powerpoint/2010/main" val="1579011935"/>
              </p:ext>
            </p:extLst>
          </p:nvPr>
        </p:nvGraphicFramePr>
        <p:xfrm>
          <a:off x="3840480" y="2423160"/>
          <a:ext cx="4846320" cy="1554480"/>
        </p:xfrm>
        <a:graphic>
          <a:graphicData uri="http://schemas.openxmlformats.org/drawingml/2006/table">
            <a:tbl>
              <a:tblPr/>
              <a:tblGrid>
                <a:gridCol w="10058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310896">
                <a:tc>
                  <a:txBody>
                    <a:bodyPr/>
                    <a:lstStyle/>
                    <a:p>
                      <a:pPr marL="0" indent="0" algn="ctr">
                        <a:buNone/>
                      </a:pPr>
                      <a:r>
                        <a:rPr lang="en-US" sz="1200" b="1" dirty="0">
                          <a:solidFill>
                            <a:srgbClr val="FFFFFF"/>
                          </a:solidFill>
                        </a:rPr>
                        <a:t>Date</a:t>
                      </a:r>
                      <a:endParaRPr lang="en-US" sz="12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0E7C7B"/>
                    </a:solidFill>
                  </a:tcPr>
                </a:tc>
                <a:tc>
                  <a:txBody>
                    <a:bodyPr/>
                    <a:lstStyle/>
                    <a:p>
                      <a:pPr marL="0" indent="0" algn="ctr">
                        <a:buNone/>
                      </a:pPr>
                      <a:r>
                        <a:rPr lang="en-US" sz="1200" b="1" dirty="0">
                          <a:solidFill>
                            <a:srgbClr val="FFFFFF"/>
                          </a:solidFill>
                        </a:rPr>
                        <a:t>Hour</a:t>
                      </a:r>
                      <a:endParaRPr lang="en-US" sz="12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0E7C7B"/>
                    </a:solidFill>
                  </a:tcPr>
                </a:tc>
                <a:tc>
                  <a:txBody>
                    <a:bodyPr/>
                    <a:lstStyle/>
                    <a:p>
                      <a:pPr marL="0" indent="0" algn="ctr">
                        <a:buNone/>
                      </a:pPr>
                      <a:r>
                        <a:rPr lang="en-US" sz="1200" b="1" dirty="0">
                          <a:solidFill>
                            <a:srgbClr val="FFFFFF"/>
                          </a:solidFill>
                        </a:rPr>
                        <a:t>Rentals</a:t>
                      </a:r>
                      <a:endParaRPr lang="en-US" sz="12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0E7C7B"/>
                    </a:solidFill>
                  </a:tcPr>
                </a:tc>
                <a:tc>
                  <a:txBody>
                    <a:bodyPr/>
                    <a:lstStyle/>
                    <a:p>
                      <a:pPr marL="0" indent="0" algn="ctr">
                        <a:buNone/>
                      </a:pPr>
                      <a:r>
                        <a:rPr lang="en-US" sz="1200" b="1" dirty="0">
                          <a:solidFill>
                            <a:srgbClr val="FFFFFF"/>
                          </a:solidFill>
                        </a:rPr>
                        <a:t>Typical</a:t>
                      </a:r>
                      <a:endParaRPr lang="en-US" sz="12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0E7C7B"/>
                    </a:solidFill>
                  </a:tcPr>
                </a:tc>
                <a:tc>
                  <a:txBody>
                    <a:bodyPr/>
                    <a:lstStyle/>
                    <a:p>
                      <a:pPr marL="0" indent="0" algn="ctr">
                        <a:buNone/>
                      </a:pPr>
                      <a:r>
                        <a:rPr lang="en-US" sz="1200" b="1" dirty="0">
                          <a:solidFill>
                            <a:srgbClr val="FFFFFF"/>
                          </a:solidFill>
                        </a:rPr>
                        <a:t>Z-score</a:t>
                      </a:r>
                      <a:endParaRPr lang="en-US" sz="12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0E7C7B"/>
                    </a:solidFill>
                  </a:tcPr>
                </a:tc>
                <a:extLst>
                  <a:ext uri="{0D108BD9-81ED-4DB2-BD59-A6C34878D82A}">
                    <a16:rowId xmlns:a16="http://schemas.microsoft.com/office/drawing/2014/main" val="10000"/>
                  </a:ext>
                </a:extLst>
              </a:tr>
              <a:tr h="310896">
                <a:tc>
                  <a:txBody>
                    <a:bodyPr/>
                    <a:lstStyle/>
                    <a:p>
                      <a:pPr marL="0" indent="0" algn="ctr">
                        <a:buNone/>
                      </a:pPr>
                      <a:r>
                        <a:rPr lang="en-US" sz="1300" dirty="0">
                          <a:solidFill>
                            <a:srgbClr val="1F2A37"/>
                          </a:solidFill>
                        </a:rPr>
                        <a:t>05 Feb</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37"/>
                          </a:solidFill>
                        </a:rPr>
                        <a:t>4:00</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37"/>
                          </a:solidFill>
                        </a:rPr>
                        <a:t>8</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37"/>
                          </a:solidFill>
                        </a:rPr>
                        <a:t>2.2</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37"/>
                          </a:solidFill>
                        </a:rPr>
                        <a:t>3.83</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lgn="ctr">
                        <a:buNone/>
                      </a:pPr>
                      <a:r>
                        <a:rPr lang="en-US" sz="1300" dirty="0">
                          <a:solidFill>
                            <a:srgbClr val="1F2A37"/>
                          </a:solidFill>
                        </a:rPr>
                        <a:t>06 Feb</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37"/>
                          </a:solidFill>
                        </a:rPr>
                        <a:t>13:00</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37"/>
                          </a:solidFill>
                        </a:rPr>
                        <a:t>182</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37"/>
                          </a:solidFill>
                        </a:rPr>
                        <a:t>78.5</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37"/>
                          </a:solidFill>
                        </a:rPr>
                        <a:t>3.44</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lgn="ctr">
                        <a:buNone/>
                      </a:pPr>
                      <a:r>
                        <a:rPr lang="en-US" sz="1300" dirty="0">
                          <a:solidFill>
                            <a:srgbClr val="1F2A37"/>
                          </a:solidFill>
                        </a:rPr>
                        <a:t>01 Jan</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37"/>
                          </a:solidFill>
                        </a:rPr>
                        <a:t>2:00</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37"/>
                          </a:solidFill>
                        </a:rPr>
                        <a:t>32</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37"/>
                          </a:solidFill>
                        </a:rPr>
                        <a:t>7.2</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37"/>
                          </a:solidFill>
                        </a:rPr>
                        <a:t>3.37</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lgn="ctr">
                        <a:buNone/>
                      </a:pPr>
                      <a:r>
                        <a:rPr lang="en-US" sz="1300" dirty="0">
                          <a:solidFill>
                            <a:srgbClr val="1F2A37"/>
                          </a:solidFill>
                        </a:rPr>
                        <a:t>06 Feb</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37"/>
                          </a:solidFill>
                        </a:rPr>
                        <a:t>12:00</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37"/>
                          </a:solidFill>
                        </a:rPr>
                        <a:t>174</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37"/>
                          </a:solidFill>
                        </a:rPr>
                        <a:t>76.3</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37"/>
                          </a:solidFill>
                        </a:rPr>
                        <a:t>3.36</a:t>
                      </a:r>
                      <a:endParaRPr lang="en-US" sz="1300" dirty="0"/>
                    </a:p>
                  </a:txBody>
                  <a:tcPr anchor="ctr">
                    <a:lnL w="9525" cap="flat" cmpd="sng" algn="ctr">
                      <a:solidFill>
                        <a:srgbClr val="E0EAE8"/>
                      </a:solidFill>
                      <a:prstDash val="solid"/>
                      <a:round/>
                      <a:headEnd type="none" w="med" len="med"/>
                      <a:tailEnd type="none" w="med" len="med"/>
                    </a:lnL>
                    <a:lnR w="9525" cap="flat" cmpd="sng" algn="ctr">
                      <a:solidFill>
                        <a:srgbClr val="E0EAE8"/>
                      </a:solidFill>
                      <a:prstDash val="solid"/>
                      <a:round/>
                      <a:headEnd type="none" w="med" len="med"/>
                      <a:tailEnd type="none" w="med" len="med"/>
                    </a:lnR>
                    <a:lnT w="9525" cap="flat" cmpd="sng" algn="ctr">
                      <a:solidFill>
                        <a:srgbClr val="E0EAE8"/>
                      </a:solidFill>
                      <a:prstDash val="solid"/>
                      <a:round/>
                      <a:headEnd type="none" w="med" len="med"/>
                      <a:tailEnd type="none" w="med" len="med"/>
                    </a:lnT>
                    <a:lnB w="9525" cap="flat" cmpd="sng" algn="ctr">
                      <a:solidFill>
                        <a:srgbClr val="E0EA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Text 3"/>
          <p:cNvSpPr txBox="1"/>
          <p:nvPr/>
        </p:nvSpPr>
        <p:spPr>
          <a:xfrm>
            <a:off x="3840480" y="4122420"/>
            <a:ext cx="4846320" cy="502920"/>
          </a:xfrm>
          <a:prstGeom prst="rect">
            <a:avLst/>
          </a:prstGeom>
          <a:noFill/>
          <a:ln/>
        </p:spPr>
        <p:txBody>
          <a:bodyPr wrap="square" lIns="0" tIns="0" rIns="0" bIns="0" rtlCol="0" anchor="t"/>
          <a:lstStyle/>
          <a:p>
            <a:pPr marL="0" indent="0">
              <a:buNone/>
            </a:pP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B79"/>
                </a:solidFill>
              </a:defRPr>
            </a:lvl1pPr>
          </a:lstStyle>
          <a:p>
            <a:pPr algn="r"/>
            <a:fld id="{F7021451-1387-4CA6-816F-3879F97B5CBC}" type="slidenum">
              <a:rPr lang="en-US" b="0"/>
              <a:t>15</a:t>
            </a:fld>
            <a:endParaRPr lang="en-US"/>
          </a:p>
        </p:txBody>
      </p:sp>
      <p:graphicFrame>
        <p:nvGraphicFramePr>
          <p:cNvPr id="8" name="Chart 7">
            <a:extLst>
              <a:ext uri="{FF2B5EF4-FFF2-40B4-BE49-F238E27FC236}">
                <a16:creationId xmlns:a16="http://schemas.microsoft.com/office/drawing/2014/main" id="{B26DA5DC-9504-4CDB-B0B9-5E5CA0E825FC}"/>
              </a:ext>
            </a:extLst>
          </p:cNvPr>
          <p:cNvGraphicFramePr>
            <a:graphicFrameLocks/>
          </p:cNvGraphicFramePr>
          <p:nvPr>
            <p:extLst>
              <p:ext uri="{D42A27DB-BD31-4B8C-83A1-F6EECF244321}">
                <p14:modId xmlns:p14="http://schemas.microsoft.com/office/powerpoint/2010/main" val="4061447033"/>
              </p:ext>
            </p:extLst>
          </p:nvPr>
        </p:nvGraphicFramePr>
        <p:xfrm>
          <a:off x="365761" y="1371600"/>
          <a:ext cx="3383280" cy="3152775"/>
        </p:xfrm>
        <a:graphic>
          <a:graphicData uri="http://schemas.openxmlformats.org/drawingml/2006/chart">
            <c:chart xmlns:c="http://schemas.openxmlformats.org/drawingml/2006/chart" xmlns:r="http://schemas.openxmlformats.org/officeDocument/2006/relationships" r:id="rId6"/>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50" name="Picture 49">
            <a:extLst>
              <a:ext uri="{FF2B5EF4-FFF2-40B4-BE49-F238E27FC236}">
                <a16:creationId xmlns:a16="http://schemas.microsoft.com/office/drawing/2014/main" id="{D883B034-28FB-11A4-6592-7E53A9C29DDF}"/>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0" y="0"/>
            <a:ext cx="9143999" cy="5143500"/>
          </a:xfrm>
          <a:prstGeom prst="rect">
            <a:avLst/>
          </a:prstGeom>
        </p:spPr>
      </p:pic>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dirty="0"/>
              <a:t>D</a:t>
            </a:r>
            <a:r>
              <a:rPr lang="en-US" sz="3000" b="1" dirty="0">
                <a:solidFill>
                  <a:schemeClr val="tx2"/>
                </a:solidFill>
              </a:rPr>
              <a:t>ashboard</a:t>
            </a:r>
            <a:endParaRPr lang="en-US" sz="3000" dirty="0"/>
          </a:p>
        </p:txBody>
      </p:sp>
      <p:sp>
        <p:nvSpPr>
          <p:cNvPr id="3" name="takeaway"/>
          <p:cNvSpPr txBox="1"/>
          <p:nvPr/>
        </p:nvSpPr>
        <p:spPr>
          <a:xfrm>
            <a:off x="457200" y="896112"/>
            <a:ext cx="8229600" cy="365760"/>
          </a:xfrm>
          <a:prstGeom prst="rect">
            <a:avLst/>
          </a:prstGeom>
          <a:noFill/>
          <a:ln/>
        </p:spPr>
        <p:txBody>
          <a:bodyPr wrap="square" lIns="0" tIns="0" rIns="0" bIns="0" rtlCol="0" anchor="ctr"/>
          <a:lstStyle/>
          <a:p>
            <a:pPr marL="0" indent="0">
              <a:buNone/>
            </a:pPr>
            <a:r>
              <a:rPr lang="en-US" sz="1400" dirty="0">
                <a:solidFill>
                  <a:schemeClr val="tx1"/>
                </a:solidFill>
              </a:rPr>
              <a:t>One sheet gives management the headline numbers and filter the data.</a:t>
            </a:r>
            <a:endParaRPr lang="en-US" sz="1400" dirty="0"/>
          </a:p>
        </p:txBody>
      </p:sp>
      <p:sp>
        <p:nvSpPr>
          <p:cNvPr id="37" name="icon bg check 0"/>
          <p:cNvSpPr/>
          <p:nvPr/>
        </p:nvSpPr>
        <p:spPr>
          <a:xfrm>
            <a:off x="5852160" y="1463040"/>
            <a:ext cx="365760" cy="365760"/>
          </a:xfrm>
          <a:prstGeom prst="ellipse">
            <a:avLst/>
          </a:prstGeom>
          <a:solidFill>
            <a:srgbClr val="0E7C7B"/>
          </a:solidFill>
          <a:ln w="12700">
            <a:solidFill>
              <a:srgbClr val="0E7C7B"/>
            </a:solidFill>
            <a:prstDash val="solid"/>
          </a:ln>
        </p:spPr>
      </p:sp>
      <p:pic>
        <p:nvPicPr>
          <p:cNvPr id="38" name="icon check 0" descr="check 0"/>
          <p:cNvPicPr>
            <a:picLocks noChangeAspect="1"/>
          </p:cNvPicPr>
          <p:nvPr/>
        </p:nvPicPr>
        <p:blipFill>
          <a:blip r:embed="rId5"/>
          <a:stretch>
            <a:fillRect/>
          </a:stretch>
        </p:blipFill>
        <p:spPr>
          <a:xfrm>
            <a:off x="5943600" y="1554480"/>
            <a:ext cx="182880" cy="182880"/>
          </a:xfrm>
          <a:prstGeom prst="rect">
            <a:avLst/>
          </a:prstGeom>
        </p:spPr>
      </p:pic>
      <p:sp>
        <p:nvSpPr>
          <p:cNvPr id="39" name="Text 36"/>
          <p:cNvSpPr txBox="1"/>
          <p:nvPr/>
        </p:nvSpPr>
        <p:spPr>
          <a:xfrm>
            <a:off x="6355080" y="1417320"/>
            <a:ext cx="2331720" cy="731520"/>
          </a:xfrm>
          <a:prstGeom prst="rect">
            <a:avLst/>
          </a:prstGeom>
          <a:noFill/>
          <a:ln/>
        </p:spPr>
        <p:txBody>
          <a:bodyPr wrap="square" lIns="0" tIns="0" rIns="0" bIns="0" rtlCol="0" anchor="ctr"/>
          <a:lstStyle/>
          <a:p>
            <a:pPr marL="0" indent="0">
              <a:buNone/>
            </a:pPr>
            <a:r>
              <a:rPr lang="en-US" sz="1400" dirty="0">
                <a:solidFill>
                  <a:schemeClr val="tx1"/>
                </a:solidFill>
              </a:rPr>
              <a:t>KPI cards: total rentals, average, peak hour, casual and registered</a:t>
            </a:r>
            <a:endParaRPr lang="en-US" sz="1400" dirty="0"/>
          </a:p>
        </p:txBody>
      </p:sp>
      <p:sp>
        <p:nvSpPr>
          <p:cNvPr id="40" name="icon bg check 1"/>
          <p:cNvSpPr/>
          <p:nvPr/>
        </p:nvSpPr>
        <p:spPr>
          <a:xfrm>
            <a:off x="5852160" y="2286000"/>
            <a:ext cx="365760" cy="365760"/>
          </a:xfrm>
          <a:prstGeom prst="ellipse">
            <a:avLst/>
          </a:prstGeom>
          <a:solidFill>
            <a:srgbClr val="F26B4F"/>
          </a:solidFill>
          <a:ln w="12700">
            <a:solidFill>
              <a:srgbClr val="F26B4F"/>
            </a:solidFill>
            <a:prstDash val="solid"/>
          </a:ln>
        </p:spPr>
      </p:sp>
      <p:pic>
        <p:nvPicPr>
          <p:cNvPr id="41" name="icon check 1" descr="check 1"/>
          <p:cNvPicPr>
            <a:picLocks noChangeAspect="1"/>
          </p:cNvPicPr>
          <p:nvPr/>
        </p:nvPicPr>
        <p:blipFill>
          <a:blip r:embed="rId5"/>
          <a:stretch>
            <a:fillRect/>
          </a:stretch>
        </p:blipFill>
        <p:spPr>
          <a:xfrm>
            <a:off x="5943600" y="2377440"/>
            <a:ext cx="182880" cy="182880"/>
          </a:xfrm>
          <a:prstGeom prst="rect">
            <a:avLst/>
          </a:prstGeom>
        </p:spPr>
      </p:pic>
      <p:sp>
        <p:nvSpPr>
          <p:cNvPr id="42" name="Text 38"/>
          <p:cNvSpPr txBox="1"/>
          <p:nvPr/>
        </p:nvSpPr>
        <p:spPr>
          <a:xfrm>
            <a:off x="6355080" y="2240280"/>
            <a:ext cx="2331720" cy="731520"/>
          </a:xfrm>
          <a:prstGeom prst="rect">
            <a:avLst/>
          </a:prstGeom>
          <a:noFill/>
          <a:ln/>
        </p:spPr>
        <p:txBody>
          <a:bodyPr wrap="square" lIns="0" tIns="0" rIns="0" bIns="0" rtlCol="0" anchor="ctr"/>
          <a:lstStyle/>
          <a:p>
            <a:pPr marL="0" indent="0">
              <a:buNone/>
            </a:pPr>
            <a:r>
              <a:rPr lang="en-US" sz="1400" dirty="0">
                <a:solidFill>
                  <a:schemeClr val="tx1"/>
                </a:solidFill>
              </a:rPr>
              <a:t>Eight charts: line, bar, area, pie and scatter</a:t>
            </a:r>
            <a:endParaRPr lang="en-US" sz="1400" dirty="0"/>
          </a:p>
        </p:txBody>
      </p:sp>
      <p:sp>
        <p:nvSpPr>
          <p:cNvPr id="43" name="icon bg check 2"/>
          <p:cNvSpPr/>
          <p:nvPr/>
        </p:nvSpPr>
        <p:spPr>
          <a:xfrm>
            <a:off x="5852160" y="3108960"/>
            <a:ext cx="365760" cy="365760"/>
          </a:xfrm>
          <a:prstGeom prst="ellipse">
            <a:avLst/>
          </a:prstGeom>
          <a:solidFill>
            <a:srgbClr val="0E7C7B"/>
          </a:solidFill>
          <a:ln w="12700">
            <a:solidFill>
              <a:srgbClr val="0E7C7B"/>
            </a:solidFill>
            <a:prstDash val="solid"/>
          </a:ln>
        </p:spPr>
      </p:sp>
      <p:pic>
        <p:nvPicPr>
          <p:cNvPr id="44" name="icon check 2" descr="check 2"/>
          <p:cNvPicPr>
            <a:picLocks noChangeAspect="1"/>
          </p:cNvPicPr>
          <p:nvPr/>
        </p:nvPicPr>
        <p:blipFill>
          <a:blip r:embed="rId5"/>
          <a:stretch>
            <a:fillRect/>
          </a:stretch>
        </p:blipFill>
        <p:spPr>
          <a:xfrm>
            <a:off x="5943600" y="3200400"/>
            <a:ext cx="182880" cy="182880"/>
          </a:xfrm>
          <a:prstGeom prst="rect">
            <a:avLst/>
          </a:prstGeom>
        </p:spPr>
      </p:pic>
      <p:sp>
        <p:nvSpPr>
          <p:cNvPr id="45" name="Text 40"/>
          <p:cNvSpPr txBox="1"/>
          <p:nvPr/>
        </p:nvSpPr>
        <p:spPr>
          <a:xfrm>
            <a:off x="6355080" y="3063240"/>
            <a:ext cx="2331720" cy="731520"/>
          </a:xfrm>
          <a:prstGeom prst="rect">
            <a:avLst/>
          </a:prstGeom>
          <a:noFill/>
          <a:ln/>
        </p:spPr>
        <p:txBody>
          <a:bodyPr wrap="square" lIns="0" tIns="0" rIns="0" bIns="0" rtlCol="0" anchor="ctr"/>
          <a:lstStyle/>
          <a:p>
            <a:pPr marL="0" indent="0">
              <a:buNone/>
            </a:pPr>
            <a:r>
              <a:rPr lang="en-US" sz="1400" dirty="0">
                <a:solidFill>
                  <a:schemeClr val="tx1"/>
                </a:solidFill>
              </a:rPr>
              <a:t>Four slicers and a date timeline for filtering</a:t>
            </a:r>
            <a:endParaRPr lang="en-US" sz="1400" dirty="0"/>
          </a:p>
        </p:txBody>
      </p:sp>
      <p:sp>
        <p:nvSpPr>
          <p:cNvPr id="46" name="icon bg check 3"/>
          <p:cNvSpPr/>
          <p:nvPr/>
        </p:nvSpPr>
        <p:spPr>
          <a:xfrm>
            <a:off x="5852160" y="3931920"/>
            <a:ext cx="365760" cy="365760"/>
          </a:xfrm>
          <a:prstGeom prst="ellipse">
            <a:avLst/>
          </a:prstGeom>
          <a:solidFill>
            <a:srgbClr val="F26B4F"/>
          </a:solidFill>
          <a:ln w="12700">
            <a:solidFill>
              <a:srgbClr val="F26B4F"/>
            </a:solidFill>
            <a:prstDash val="solid"/>
          </a:ln>
        </p:spPr>
      </p:sp>
      <p:pic>
        <p:nvPicPr>
          <p:cNvPr id="47" name="icon check 3" descr="check 3"/>
          <p:cNvPicPr>
            <a:picLocks noChangeAspect="1"/>
          </p:cNvPicPr>
          <p:nvPr/>
        </p:nvPicPr>
        <p:blipFill>
          <a:blip r:embed="rId5"/>
          <a:stretch>
            <a:fillRect/>
          </a:stretch>
        </p:blipFill>
        <p:spPr>
          <a:xfrm>
            <a:off x="5943600" y="4023360"/>
            <a:ext cx="182880" cy="182880"/>
          </a:xfrm>
          <a:prstGeom prst="rect">
            <a:avLst/>
          </a:prstGeom>
        </p:spPr>
      </p:pic>
      <p:sp>
        <p:nvSpPr>
          <p:cNvPr id="48" name="Text 42"/>
          <p:cNvSpPr txBox="1"/>
          <p:nvPr/>
        </p:nvSpPr>
        <p:spPr>
          <a:xfrm>
            <a:off x="6355080" y="3886200"/>
            <a:ext cx="2331720" cy="731520"/>
          </a:xfrm>
          <a:prstGeom prst="rect">
            <a:avLst/>
          </a:prstGeom>
          <a:noFill/>
          <a:ln/>
        </p:spPr>
        <p:txBody>
          <a:bodyPr wrap="square" lIns="0" tIns="0" rIns="0" bIns="0" rtlCol="0" anchor="ctr"/>
          <a:lstStyle/>
          <a:p>
            <a:pPr marL="0" indent="0">
              <a:buNone/>
            </a:pPr>
            <a:r>
              <a:rPr lang="en-US" sz="1400" dirty="0">
                <a:solidFill>
                  <a:schemeClr val="tx1"/>
                </a:solidFill>
              </a:rPr>
              <a:t>Forecast and anomaly views in a second section</a:t>
            </a:r>
            <a:endParaRPr lang="en-US" sz="1400" dirty="0"/>
          </a:p>
        </p:txBody>
      </p:sp>
      <p:sp>
        <p:nvSpPr>
          <p:cNvPr id="49"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B79"/>
                </a:solidFill>
              </a:defRPr>
            </a:lvl1pPr>
          </a:lstStyle>
          <a:p>
            <a:pPr algn="r"/>
            <a:fld id="{F7021451-1387-4CA6-816F-3879F97B5CBC}" type="slidenum">
              <a:rPr lang="en-US" b="0"/>
              <a:t>16</a:t>
            </a:fld>
            <a:endParaRPr lang="en-US"/>
          </a:p>
        </p:txBody>
      </p:sp>
      <p:pic>
        <p:nvPicPr>
          <p:cNvPr id="56" name="Picture 55">
            <a:extLst>
              <a:ext uri="{FF2B5EF4-FFF2-40B4-BE49-F238E27FC236}">
                <a16:creationId xmlns:a16="http://schemas.microsoft.com/office/drawing/2014/main" id="{0935630E-69D4-E1D5-A7AB-98C071155D6A}"/>
              </a:ext>
            </a:extLst>
          </p:cNvPr>
          <p:cNvPicPr>
            <a:picLocks noChangeAspect="1"/>
          </p:cNvPicPr>
          <p:nvPr/>
        </p:nvPicPr>
        <p:blipFill>
          <a:blip r:embed="rId6"/>
          <a:stretch>
            <a:fillRect/>
          </a:stretch>
        </p:blipFill>
        <p:spPr>
          <a:xfrm>
            <a:off x="354330" y="1417320"/>
            <a:ext cx="5452110" cy="303734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C7908278-EF4E-E82F-D779-058D07F94A1C}"/>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0" y="0"/>
            <a:ext cx="9143999" cy="5143500"/>
          </a:xfrm>
          <a:prstGeom prst="rect">
            <a:avLst/>
          </a:prstGeom>
        </p:spPr>
      </p:pic>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3000" b="1" dirty="0">
                <a:solidFill>
                  <a:schemeClr val="tx2"/>
                </a:solidFill>
              </a:rPr>
              <a:t>Key findings</a:t>
            </a:r>
            <a:endParaRPr lang="en-US" sz="3000" dirty="0"/>
          </a:p>
        </p:txBody>
      </p:sp>
      <p:sp>
        <p:nvSpPr>
          <p:cNvPr id="3" name="finding row 1"/>
          <p:cNvSpPr/>
          <p:nvPr/>
        </p:nvSpPr>
        <p:spPr>
          <a:xfrm>
            <a:off x="457200" y="1097280"/>
            <a:ext cx="8229600" cy="621792"/>
          </a:xfrm>
          <a:prstGeom prst="roundRect">
            <a:avLst>
              <a:gd name="adj" fmla="val 11765"/>
            </a:avLst>
          </a:prstGeom>
          <a:solidFill>
            <a:schemeClr val="bg2"/>
          </a:solidFill>
          <a:ln w="12700">
            <a:solidFill>
              <a:schemeClr val="bg2"/>
            </a:solidFill>
            <a:prstDash val="solid"/>
          </a:ln>
        </p:spPr>
      </p:sp>
      <p:sp>
        <p:nvSpPr>
          <p:cNvPr id="4" name="icon bg Demand follows the clock"/>
          <p:cNvSpPr/>
          <p:nvPr/>
        </p:nvSpPr>
        <p:spPr>
          <a:xfrm>
            <a:off x="594360" y="1188720"/>
            <a:ext cx="438912" cy="438912"/>
          </a:xfrm>
          <a:prstGeom prst="ellipse">
            <a:avLst/>
          </a:prstGeom>
          <a:solidFill>
            <a:srgbClr val="0E7C7B"/>
          </a:solidFill>
          <a:ln w="12700">
            <a:solidFill>
              <a:srgbClr val="0E7C7B"/>
            </a:solidFill>
            <a:prstDash val="solid"/>
          </a:ln>
        </p:spPr>
      </p:sp>
      <p:pic>
        <p:nvPicPr>
          <p:cNvPr id="5" name="icon Demand follows the clock" descr="Demand follows the clock"/>
          <p:cNvPicPr>
            <a:picLocks noChangeAspect="1"/>
          </p:cNvPicPr>
          <p:nvPr/>
        </p:nvPicPr>
        <p:blipFill>
          <a:blip r:embed="rId5"/>
          <a:stretch>
            <a:fillRect/>
          </a:stretch>
        </p:blipFill>
        <p:spPr>
          <a:xfrm>
            <a:off x="704088" y="1298448"/>
            <a:ext cx="219456" cy="219456"/>
          </a:xfrm>
          <a:prstGeom prst="rect">
            <a:avLst/>
          </a:prstGeom>
        </p:spPr>
      </p:pic>
      <p:sp>
        <p:nvSpPr>
          <p:cNvPr id="6" name="Text 3"/>
          <p:cNvSpPr txBox="1"/>
          <p:nvPr/>
        </p:nvSpPr>
        <p:spPr>
          <a:xfrm>
            <a:off x="1234440" y="1097280"/>
            <a:ext cx="7315200" cy="621792"/>
          </a:xfrm>
          <a:prstGeom prst="rect">
            <a:avLst/>
          </a:prstGeom>
          <a:noFill/>
          <a:ln/>
        </p:spPr>
        <p:txBody>
          <a:bodyPr wrap="square" lIns="0" tIns="0" rIns="0" bIns="0" rtlCol="0" anchor="ctr"/>
          <a:lstStyle/>
          <a:p>
            <a:pPr marL="0" indent="0">
              <a:buNone/>
            </a:pPr>
            <a:r>
              <a:rPr lang="en-US" sz="1500" b="1" dirty="0">
                <a:solidFill>
                  <a:schemeClr val="tx2"/>
                </a:solidFill>
              </a:rPr>
              <a:t>Demand follows the clock</a:t>
            </a:r>
            <a:endParaRPr lang="en-US" sz="1500" dirty="0"/>
          </a:p>
          <a:p>
            <a:pPr marL="0" indent="0">
              <a:buNone/>
            </a:pPr>
            <a:r>
              <a:rPr lang="en-US" sz="1400" dirty="0">
                <a:solidFill>
                  <a:schemeClr val="tx1"/>
                </a:solidFill>
              </a:rPr>
              <a:t>Peaks at 8 AM and 5 PM; night hours bring only 3% of rentals.</a:t>
            </a:r>
            <a:endParaRPr lang="en-US" sz="1500" dirty="0"/>
          </a:p>
        </p:txBody>
      </p:sp>
      <p:sp>
        <p:nvSpPr>
          <p:cNvPr id="7" name="finding row 2"/>
          <p:cNvSpPr/>
          <p:nvPr/>
        </p:nvSpPr>
        <p:spPr>
          <a:xfrm>
            <a:off x="457200" y="1810512"/>
            <a:ext cx="8229600" cy="621792"/>
          </a:xfrm>
          <a:prstGeom prst="roundRect">
            <a:avLst>
              <a:gd name="adj" fmla="val 11765"/>
            </a:avLst>
          </a:prstGeom>
          <a:solidFill>
            <a:schemeClr val="bg2"/>
          </a:solidFill>
          <a:ln w="12700">
            <a:solidFill>
              <a:schemeClr val="bg2"/>
            </a:solidFill>
            <a:prstDash val="solid"/>
          </a:ln>
        </p:spPr>
      </p:sp>
      <p:sp>
        <p:nvSpPr>
          <p:cNvPr id="8" name="icon bg Registered riders dominate"/>
          <p:cNvSpPr/>
          <p:nvPr/>
        </p:nvSpPr>
        <p:spPr>
          <a:xfrm>
            <a:off x="594360" y="1901952"/>
            <a:ext cx="438912" cy="438912"/>
          </a:xfrm>
          <a:prstGeom prst="ellipse">
            <a:avLst/>
          </a:prstGeom>
          <a:solidFill>
            <a:srgbClr val="F26B4F"/>
          </a:solidFill>
          <a:ln w="12700">
            <a:solidFill>
              <a:srgbClr val="F26B4F"/>
            </a:solidFill>
            <a:prstDash val="solid"/>
          </a:ln>
        </p:spPr>
      </p:sp>
      <p:pic>
        <p:nvPicPr>
          <p:cNvPr id="9" name="icon Registered riders dominate" descr="Registered riders dominate"/>
          <p:cNvPicPr>
            <a:picLocks noChangeAspect="1"/>
          </p:cNvPicPr>
          <p:nvPr/>
        </p:nvPicPr>
        <p:blipFill>
          <a:blip r:embed="rId6"/>
          <a:stretch>
            <a:fillRect/>
          </a:stretch>
        </p:blipFill>
        <p:spPr>
          <a:xfrm>
            <a:off x="704088" y="2011680"/>
            <a:ext cx="219456" cy="219456"/>
          </a:xfrm>
          <a:prstGeom prst="rect">
            <a:avLst/>
          </a:prstGeom>
        </p:spPr>
      </p:pic>
      <p:sp>
        <p:nvSpPr>
          <p:cNvPr id="10" name="Text 6"/>
          <p:cNvSpPr txBox="1"/>
          <p:nvPr/>
        </p:nvSpPr>
        <p:spPr>
          <a:xfrm>
            <a:off x="1234440" y="1810512"/>
            <a:ext cx="7315200" cy="621792"/>
          </a:xfrm>
          <a:prstGeom prst="rect">
            <a:avLst/>
          </a:prstGeom>
          <a:noFill/>
          <a:ln/>
        </p:spPr>
        <p:txBody>
          <a:bodyPr wrap="square" lIns="0" tIns="0" rIns="0" bIns="0" rtlCol="0" anchor="ctr"/>
          <a:lstStyle/>
          <a:p>
            <a:pPr marL="0" indent="0">
              <a:buNone/>
            </a:pPr>
            <a:r>
              <a:rPr lang="en-US" sz="1500" b="1" dirty="0">
                <a:solidFill>
                  <a:schemeClr val="tx2"/>
                </a:solidFill>
              </a:rPr>
              <a:t>Registered riders dominate</a:t>
            </a:r>
            <a:endParaRPr lang="en-US" sz="1500" dirty="0"/>
          </a:p>
          <a:p>
            <a:pPr marL="0" indent="0">
              <a:buNone/>
            </a:pPr>
            <a:r>
              <a:rPr lang="en-US" sz="1400" dirty="0">
                <a:solidFill>
                  <a:schemeClr val="tx1"/>
                </a:solidFill>
              </a:rPr>
              <a:t>91.6% of rentals; casual riders ride mostly between 12 and 4 PM.</a:t>
            </a:r>
            <a:endParaRPr lang="en-US" sz="1500" dirty="0"/>
          </a:p>
        </p:txBody>
      </p:sp>
      <p:sp>
        <p:nvSpPr>
          <p:cNvPr id="11" name="finding row 3"/>
          <p:cNvSpPr/>
          <p:nvPr/>
        </p:nvSpPr>
        <p:spPr>
          <a:xfrm>
            <a:off x="457200" y="2523744"/>
            <a:ext cx="8229600" cy="621792"/>
          </a:xfrm>
          <a:prstGeom prst="roundRect">
            <a:avLst>
              <a:gd name="adj" fmla="val 11765"/>
            </a:avLst>
          </a:prstGeom>
          <a:solidFill>
            <a:schemeClr val="bg2"/>
          </a:solidFill>
          <a:ln w="12700">
            <a:solidFill>
              <a:schemeClr val="bg2"/>
            </a:solidFill>
            <a:prstDash val="solid"/>
          </a:ln>
        </p:spPr>
      </p:sp>
      <p:sp>
        <p:nvSpPr>
          <p:cNvPr id="12" name="icon bg Weekdays beat weekends"/>
          <p:cNvSpPr/>
          <p:nvPr/>
        </p:nvSpPr>
        <p:spPr>
          <a:xfrm>
            <a:off x="594360" y="2615184"/>
            <a:ext cx="438912" cy="438912"/>
          </a:xfrm>
          <a:prstGeom prst="ellipse">
            <a:avLst/>
          </a:prstGeom>
          <a:solidFill>
            <a:srgbClr val="0E7C7B"/>
          </a:solidFill>
          <a:ln w="12700">
            <a:solidFill>
              <a:srgbClr val="0E7C7B"/>
            </a:solidFill>
            <a:prstDash val="solid"/>
          </a:ln>
        </p:spPr>
      </p:sp>
      <p:pic>
        <p:nvPicPr>
          <p:cNvPr id="13" name="icon Weekdays beat weekends" descr="Weekdays beat weekends"/>
          <p:cNvPicPr>
            <a:picLocks noChangeAspect="1"/>
          </p:cNvPicPr>
          <p:nvPr/>
        </p:nvPicPr>
        <p:blipFill>
          <a:blip r:embed="rId7"/>
          <a:stretch>
            <a:fillRect/>
          </a:stretch>
        </p:blipFill>
        <p:spPr>
          <a:xfrm>
            <a:off x="704088" y="2724912"/>
            <a:ext cx="219456" cy="219456"/>
          </a:xfrm>
          <a:prstGeom prst="rect">
            <a:avLst/>
          </a:prstGeom>
        </p:spPr>
      </p:pic>
      <p:sp>
        <p:nvSpPr>
          <p:cNvPr id="14" name="Text 9"/>
          <p:cNvSpPr txBox="1"/>
          <p:nvPr/>
        </p:nvSpPr>
        <p:spPr>
          <a:xfrm>
            <a:off x="1234440" y="2523744"/>
            <a:ext cx="7315200" cy="621792"/>
          </a:xfrm>
          <a:prstGeom prst="rect">
            <a:avLst/>
          </a:prstGeom>
          <a:noFill/>
          <a:ln/>
        </p:spPr>
        <p:txBody>
          <a:bodyPr wrap="square" lIns="0" tIns="0" rIns="0" bIns="0" rtlCol="0" anchor="ctr"/>
          <a:lstStyle/>
          <a:p>
            <a:pPr marL="0" indent="0">
              <a:buNone/>
            </a:pPr>
            <a:r>
              <a:rPr lang="en-US" sz="1500" b="1" dirty="0">
                <a:solidFill>
                  <a:schemeClr val="tx2"/>
                </a:solidFill>
              </a:rPr>
              <a:t>Weekdays beat weekends</a:t>
            </a:r>
            <a:endParaRPr lang="en-US" sz="1500" dirty="0"/>
          </a:p>
          <a:p>
            <a:pPr marL="0" indent="0">
              <a:buNone/>
            </a:pPr>
            <a:r>
              <a:rPr lang="en-US" sz="1400" dirty="0">
                <a:solidFill>
                  <a:schemeClr val="tx1"/>
                </a:solidFill>
              </a:rPr>
              <a:t>About 63 rentals an hour on weekdays against 48 on weekends.</a:t>
            </a:r>
            <a:endParaRPr lang="en-US" sz="1500" dirty="0"/>
          </a:p>
        </p:txBody>
      </p:sp>
      <p:sp>
        <p:nvSpPr>
          <p:cNvPr id="15" name="finding row 4"/>
          <p:cNvSpPr/>
          <p:nvPr/>
        </p:nvSpPr>
        <p:spPr>
          <a:xfrm>
            <a:off x="457200" y="3236976"/>
            <a:ext cx="8229600" cy="621792"/>
          </a:xfrm>
          <a:prstGeom prst="roundRect">
            <a:avLst>
              <a:gd name="adj" fmla="val 11765"/>
            </a:avLst>
          </a:prstGeom>
          <a:solidFill>
            <a:schemeClr val="bg2"/>
          </a:solidFill>
          <a:ln w="12700">
            <a:solidFill>
              <a:schemeClr val="bg2"/>
            </a:solidFill>
            <a:prstDash val="solid"/>
          </a:ln>
        </p:spPr>
      </p:sp>
      <p:sp>
        <p:nvSpPr>
          <p:cNvPr id="16" name="icon bg Heavy rain hurts most"/>
          <p:cNvSpPr/>
          <p:nvPr/>
        </p:nvSpPr>
        <p:spPr>
          <a:xfrm>
            <a:off x="594360" y="3328416"/>
            <a:ext cx="438912" cy="438912"/>
          </a:xfrm>
          <a:prstGeom prst="ellipse">
            <a:avLst/>
          </a:prstGeom>
          <a:solidFill>
            <a:srgbClr val="F26B4F"/>
          </a:solidFill>
          <a:ln w="12700">
            <a:solidFill>
              <a:srgbClr val="F26B4F"/>
            </a:solidFill>
            <a:prstDash val="solid"/>
          </a:ln>
        </p:spPr>
      </p:sp>
      <p:pic>
        <p:nvPicPr>
          <p:cNvPr id="17" name="icon Heavy rain hurts most" descr="Heavy rain hurts most"/>
          <p:cNvPicPr>
            <a:picLocks noChangeAspect="1"/>
          </p:cNvPicPr>
          <p:nvPr/>
        </p:nvPicPr>
        <p:blipFill>
          <a:blip r:embed="rId8"/>
          <a:stretch>
            <a:fillRect/>
          </a:stretch>
        </p:blipFill>
        <p:spPr>
          <a:xfrm>
            <a:off x="704088" y="3438144"/>
            <a:ext cx="219456" cy="219456"/>
          </a:xfrm>
          <a:prstGeom prst="rect">
            <a:avLst/>
          </a:prstGeom>
        </p:spPr>
      </p:pic>
      <p:sp>
        <p:nvSpPr>
          <p:cNvPr id="18" name="Text 12"/>
          <p:cNvSpPr txBox="1"/>
          <p:nvPr/>
        </p:nvSpPr>
        <p:spPr>
          <a:xfrm>
            <a:off x="1234440" y="3236976"/>
            <a:ext cx="7315200" cy="621792"/>
          </a:xfrm>
          <a:prstGeom prst="rect">
            <a:avLst/>
          </a:prstGeom>
          <a:noFill/>
          <a:ln/>
        </p:spPr>
        <p:txBody>
          <a:bodyPr wrap="square" lIns="0" tIns="0" rIns="0" bIns="0" rtlCol="0" anchor="ctr"/>
          <a:lstStyle/>
          <a:p>
            <a:pPr marL="0" indent="0">
              <a:buNone/>
            </a:pPr>
            <a:r>
              <a:rPr lang="en-US" sz="1500" b="1" dirty="0">
                <a:solidFill>
                  <a:schemeClr val="tx2"/>
                </a:solidFill>
              </a:rPr>
              <a:t>Heavy rain hurts most</a:t>
            </a:r>
            <a:endParaRPr lang="en-US" sz="1500" dirty="0"/>
          </a:p>
          <a:p>
            <a:pPr marL="0" indent="0">
              <a:buNone/>
            </a:pPr>
            <a:r>
              <a:rPr lang="en-US" sz="1400" dirty="0">
                <a:solidFill>
                  <a:schemeClr val="tx1"/>
                </a:solidFill>
              </a:rPr>
              <a:t>33 rentals an hour in heavy rain against 62 in clear weather.</a:t>
            </a:r>
            <a:endParaRPr lang="en-US" sz="1500" dirty="0"/>
          </a:p>
        </p:txBody>
      </p:sp>
      <p:sp>
        <p:nvSpPr>
          <p:cNvPr id="19" name="finding row 5"/>
          <p:cNvSpPr/>
          <p:nvPr/>
        </p:nvSpPr>
        <p:spPr>
          <a:xfrm>
            <a:off x="457200" y="3950208"/>
            <a:ext cx="8229600" cy="621792"/>
          </a:xfrm>
          <a:prstGeom prst="roundRect">
            <a:avLst>
              <a:gd name="adj" fmla="val 11765"/>
            </a:avLst>
          </a:prstGeom>
          <a:solidFill>
            <a:schemeClr val="bg2"/>
          </a:solidFill>
          <a:ln w="12700">
            <a:solidFill>
              <a:schemeClr val="bg2"/>
            </a:solidFill>
            <a:prstDash val="solid"/>
          </a:ln>
        </p:spPr>
      </p:sp>
      <p:sp>
        <p:nvSpPr>
          <p:cNvPr id="20" name="icon bg Dry, warmer hours do better"/>
          <p:cNvSpPr/>
          <p:nvPr/>
        </p:nvSpPr>
        <p:spPr>
          <a:xfrm>
            <a:off x="594360" y="4041648"/>
            <a:ext cx="438912" cy="438912"/>
          </a:xfrm>
          <a:prstGeom prst="ellipse">
            <a:avLst/>
          </a:prstGeom>
          <a:solidFill>
            <a:srgbClr val="0E7C7B"/>
          </a:solidFill>
          <a:ln w="12700">
            <a:solidFill>
              <a:srgbClr val="0E7C7B"/>
            </a:solidFill>
            <a:prstDash val="solid"/>
          </a:ln>
        </p:spPr>
      </p:sp>
      <p:pic>
        <p:nvPicPr>
          <p:cNvPr id="21" name="icon Dry, warmer hours do better" descr="Dry, warmer hours do better"/>
          <p:cNvPicPr>
            <a:picLocks noChangeAspect="1"/>
          </p:cNvPicPr>
          <p:nvPr/>
        </p:nvPicPr>
        <p:blipFill>
          <a:blip r:embed="rId9"/>
          <a:stretch>
            <a:fillRect/>
          </a:stretch>
        </p:blipFill>
        <p:spPr>
          <a:xfrm>
            <a:off x="704088" y="4151376"/>
            <a:ext cx="219456" cy="219456"/>
          </a:xfrm>
          <a:prstGeom prst="rect">
            <a:avLst/>
          </a:prstGeom>
        </p:spPr>
      </p:pic>
      <p:sp>
        <p:nvSpPr>
          <p:cNvPr id="22" name="Text 15"/>
          <p:cNvSpPr txBox="1"/>
          <p:nvPr/>
        </p:nvSpPr>
        <p:spPr>
          <a:xfrm>
            <a:off x="1234440" y="3950208"/>
            <a:ext cx="7315200" cy="621792"/>
          </a:xfrm>
          <a:prstGeom prst="rect">
            <a:avLst/>
          </a:prstGeom>
          <a:noFill/>
          <a:ln/>
        </p:spPr>
        <p:txBody>
          <a:bodyPr wrap="square" lIns="0" tIns="0" rIns="0" bIns="0" rtlCol="0" anchor="ctr"/>
          <a:lstStyle/>
          <a:p>
            <a:pPr marL="0" indent="0">
              <a:buNone/>
            </a:pPr>
            <a:r>
              <a:rPr lang="en-US" sz="1500" b="1" dirty="0">
                <a:solidFill>
                  <a:schemeClr val="tx2"/>
                </a:solidFill>
              </a:rPr>
              <a:t>Dry, warmer hours do better</a:t>
            </a:r>
            <a:endParaRPr lang="en-US" sz="1500" dirty="0"/>
          </a:p>
          <a:p>
            <a:pPr marL="0" indent="0">
              <a:buNone/>
            </a:pPr>
            <a:r>
              <a:rPr lang="en-US" sz="1400" dirty="0">
                <a:solidFill>
                  <a:schemeClr val="tx1"/>
                </a:solidFill>
              </a:rPr>
              <a:t>Low-humidity hours average 83 rentals; high-humidity hours average 43.</a:t>
            </a:r>
            <a:endParaRPr lang="en-US" sz="15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B79"/>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BA47E0EA-4F55-B8C9-D002-8C21DD9EE7FC}"/>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0" y="0"/>
            <a:ext cx="9143999" cy="5143500"/>
          </a:xfrm>
          <a:prstGeom prst="rect">
            <a:avLst/>
          </a:prstGeom>
        </p:spPr>
      </p:pic>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3000" b="1" dirty="0">
                <a:solidFill>
                  <a:schemeClr val="tx2"/>
                </a:solidFill>
              </a:rPr>
              <a:t>Recommendations</a:t>
            </a:r>
            <a:endParaRPr lang="en-US" sz="3000" dirty="0"/>
          </a:p>
        </p:txBody>
      </p:sp>
      <p:sp>
        <p:nvSpPr>
          <p:cNvPr id="3" name="recommendation card 1"/>
          <p:cNvSpPr/>
          <p:nvPr/>
        </p:nvSpPr>
        <p:spPr>
          <a:xfrm>
            <a:off x="457200" y="1097280"/>
            <a:ext cx="3931920" cy="1600200"/>
          </a:xfrm>
          <a:prstGeom prst="roundRect">
            <a:avLst>
              <a:gd name="adj" fmla="val 4571"/>
            </a:avLst>
          </a:prstGeom>
          <a:solidFill>
            <a:schemeClr val="bg2"/>
          </a:solidFill>
          <a:ln w="12700">
            <a:solidFill>
              <a:schemeClr val="bg2"/>
            </a:solidFill>
            <a:prstDash val="solid"/>
          </a:ln>
        </p:spPr>
      </p:sp>
      <p:sp>
        <p:nvSpPr>
          <p:cNvPr id="4" name="icon bg Stock bikes before the peaks"/>
          <p:cNvSpPr/>
          <p:nvPr/>
        </p:nvSpPr>
        <p:spPr>
          <a:xfrm>
            <a:off x="640080" y="1280160"/>
            <a:ext cx="502920" cy="502920"/>
          </a:xfrm>
          <a:prstGeom prst="ellipse">
            <a:avLst/>
          </a:prstGeom>
          <a:solidFill>
            <a:srgbClr val="0E7C7B"/>
          </a:solidFill>
          <a:ln w="12700">
            <a:solidFill>
              <a:srgbClr val="0E7C7B"/>
            </a:solidFill>
            <a:prstDash val="solid"/>
          </a:ln>
        </p:spPr>
      </p:sp>
      <p:pic>
        <p:nvPicPr>
          <p:cNvPr id="5" name="icon Stock bikes before the peaks" descr="Stock bikes before the peaks"/>
          <p:cNvPicPr>
            <a:picLocks noChangeAspect="1"/>
          </p:cNvPicPr>
          <p:nvPr/>
        </p:nvPicPr>
        <p:blipFill>
          <a:blip r:embed="rId5"/>
          <a:stretch>
            <a:fillRect/>
          </a:stretch>
        </p:blipFill>
        <p:spPr>
          <a:xfrm>
            <a:off x="765810" y="1405890"/>
            <a:ext cx="251460" cy="251460"/>
          </a:xfrm>
          <a:prstGeom prst="rect">
            <a:avLst/>
          </a:prstGeom>
        </p:spPr>
      </p:pic>
      <p:sp>
        <p:nvSpPr>
          <p:cNvPr id="6" name="Text 3"/>
          <p:cNvSpPr txBox="1"/>
          <p:nvPr/>
        </p:nvSpPr>
        <p:spPr>
          <a:xfrm>
            <a:off x="1280160" y="1280160"/>
            <a:ext cx="3017520" cy="502920"/>
          </a:xfrm>
          <a:prstGeom prst="rect">
            <a:avLst/>
          </a:prstGeom>
          <a:noFill/>
          <a:ln/>
        </p:spPr>
        <p:txBody>
          <a:bodyPr wrap="square" lIns="0" tIns="0" rIns="0" bIns="0" rtlCol="0" anchor="ctr"/>
          <a:lstStyle/>
          <a:p>
            <a:pPr marL="0" indent="0">
              <a:buNone/>
            </a:pPr>
            <a:r>
              <a:rPr lang="en-US" sz="1600" b="1" dirty="0">
                <a:solidFill>
                  <a:schemeClr val="tx2"/>
                </a:solidFill>
              </a:rPr>
              <a:t>Stock bikes before the peaks</a:t>
            </a:r>
            <a:endParaRPr lang="en-US" sz="1600" dirty="0"/>
          </a:p>
        </p:txBody>
      </p:sp>
      <p:sp>
        <p:nvSpPr>
          <p:cNvPr id="7" name="Text 4"/>
          <p:cNvSpPr txBox="1"/>
          <p:nvPr/>
        </p:nvSpPr>
        <p:spPr>
          <a:xfrm>
            <a:off x="640080" y="1874520"/>
            <a:ext cx="3566160" cy="731520"/>
          </a:xfrm>
          <a:prstGeom prst="rect">
            <a:avLst/>
          </a:prstGeom>
          <a:noFill/>
          <a:ln/>
        </p:spPr>
        <p:txBody>
          <a:bodyPr wrap="square" lIns="0" tIns="0" rIns="0" bIns="0" rtlCol="0" anchor="t"/>
          <a:lstStyle/>
          <a:p>
            <a:pPr marL="0" indent="0">
              <a:buNone/>
            </a:pPr>
            <a:r>
              <a:rPr lang="en-US" sz="1400" dirty="0">
                <a:solidFill>
                  <a:schemeClr val="tx1"/>
                </a:solidFill>
              </a:rPr>
              <a:t>Have bikes in place before 8 AM and 5 PM on weekdays, when hourly rentals are highest.</a:t>
            </a:r>
            <a:endParaRPr lang="en-US" sz="1400" dirty="0"/>
          </a:p>
        </p:txBody>
      </p:sp>
      <p:sp>
        <p:nvSpPr>
          <p:cNvPr id="8" name="recommendation card 2"/>
          <p:cNvSpPr/>
          <p:nvPr/>
        </p:nvSpPr>
        <p:spPr>
          <a:xfrm>
            <a:off x="4754880" y="1097280"/>
            <a:ext cx="3931920" cy="1600200"/>
          </a:xfrm>
          <a:prstGeom prst="roundRect">
            <a:avLst>
              <a:gd name="adj" fmla="val 4571"/>
            </a:avLst>
          </a:prstGeom>
          <a:solidFill>
            <a:schemeClr val="bg2"/>
          </a:solidFill>
          <a:ln w="12700">
            <a:solidFill>
              <a:schemeClr val="bg2"/>
            </a:solidFill>
            <a:prstDash val="solid"/>
          </a:ln>
        </p:spPr>
      </p:sp>
      <p:sp>
        <p:nvSpPr>
          <p:cNvPr id="9" name="icon bg Plan around the weather"/>
          <p:cNvSpPr/>
          <p:nvPr/>
        </p:nvSpPr>
        <p:spPr>
          <a:xfrm>
            <a:off x="4937760" y="1280160"/>
            <a:ext cx="502920" cy="502920"/>
          </a:xfrm>
          <a:prstGeom prst="ellipse">
            <a:avLst/>
          </a:prstGeom>
          <a:solidFill>
            <a:srgbClr val="F26B4F"/>
          </a:solidFill>
          <a:ln w="12700">
            <a:solidFill>
              <a:srgbClr val="F26B4F"/>
            </a:solidFill>
            <a:prstDash val="solid"/>
          </a:ln>
        </p:spPr>
      </p:sp>
      <p:pic>
        <p:nvPicPr>
          <p:cNvPr id="10" name="icon Plan around the weather" descr="Plan around the weather"/>
          <p:cNvPicPr>
            <a:picLocks noChangeAspect="1"/>
          </p:cNvPicPr>
          <p:nvPr/>
        </p:nvPicPr>
        <p:blipFill>
          <a:blip r:embed="rId6"/>
          <a:stretch>
            <a:fillRect/>
          </a:stretch>
        </p:blipFill>
        <p:spPr>
          <a:xfrm>
            <a:off x="5063490" y="1405890"/>
            <a:ext cx="251460" cy="251460"/>
          </a:xfrm>
          <a:prstGeom prst="rect">
            <a:avLst/>
          </a:prstGeom>
        </p:spPr>
      </p:pic>
      <p:sp>
        <p:nvSpPr>
          <p:cNvPr id="11" name="Text 7"/>
          <p:cNvSpPr txBox="1"/>
          <p:nvPr/>
        </p:nvSpPr>
        <p:spPr>
          <a:xfrm>
            <a:off x="5577840" y="1280160"/>
            <a:ext cx="3017520" cy="502920"/>
          </a:xfrm>
          <a:prstGeom prst="rect">
            <a:avLst/>
          </a:prstGeom>
          <a:noFill/>
          <a:ln/>
        </p:spPr>
        <p:txBody>
          <a:bodyPr wrap="square" lIns="0" tIns="0" rIns="0" bIns="0" rtlCol="0" anchor="ctr"/>
          <a:lstStyle/>
          <a:p>
            <a:pPr marL="0" indent="0">
              <a:buNone/>
            </a:pPr>
            <a:r>
              <a:rPr lang="en-US" sz="1600" b="1" dirty="0">
                <a:solidFill>
                  <a:schemeClr val="tx2"/>
                </a:solidFill>
              </a:rPr>
              <a:t>Plan around the weather</a:t>
            </a:r>
            <a:endParaRPr lang="en-US" sz="1600" dirty="0"/>
          </a:p>
        </p:txBody>
      </p:sp>
      <p:sp>
        <p:nvSpPr>
          <p:cNvPr id="12" name="Text 8"/>
          <p:cNvSpPr txBox="1"/>
          <p:nvPr/>
        </p:nvSpPr>
        <p:spPr>
          <a:xfrm>
            <a:off x="4937760" y="1874520"/>
            <a:ext cx="3566160" cy="731520"/>
          </a:xfrm>
          <a:prstGeom prst="rect">
            <a:avLst/>
          </a:prstGeom>
          <a:noFill/>
          <a:ln/>
        </p:spPr>
        <p:txBody>
          <a:bodyPr wrap="square" lIns="0" tIns="0" rIns="0" bIns="0" rtlCol="0" anchor="t"/>
          <a:lstStyle/>
          <a:p>
            <a:pPr marL="0" indent="0">
              <a:buNone/>
            </a:pPr>
            <a:r>
              <a:rPr lang="en-US" sz="1400" dirty="0">
                <a:solidFill>
                  <a:schemeClr val="tx1"/>
                </a:solidFill>
              </a:rPr>
              <a:t>Add the weather forecast to daily planning; heavy rain cuts demand by almost half.</a:t>
            </a:r>
            <a:endParaRPr lang="en-US" sz="1400" dirty="0"/>
          </a:p>
        </p:txBody>
      </p:sp>
      <p:sp>
        <p:nvSpPr>
          <p:cNvPr id="13" name="recommendation card 3"/>
          <p:cNvSpPr/>
          <p:nvPr/>
        </p:nvSpPr>
        <p:spPr>
          <a:xfrm>
            <a:off x="457200" y="2880360"/>
            <a:ext cx="3931920" cy="1600200"/>
          </a:xfrm>
          <a:prstGeom prst="roundRect">
            <a:avLst>
              <a:gd name="adj" fmla="val 4571"/>
            </a:avLst>
          </a:prstGeom>
          <a:solidFill>
            <a:schemeClr val="bg2"/>
          </a:solidFill>
          <a:ln w="12700">
            <a:solidFill>
              <a:schemeClr val="bg2"/>
            </a:solidFill>
            <a:prstDash val="solid"/>
          </a:ln>
        </p:spPr>
      </p:sp>
      <p:sp>
        <p:nvSpPr>
          <p:cNvPr id="14" name="icon bg Win casual riders at midday"/>
          <p:cNvSpPr/>
          <p:nvPr/>
        </p:nvSpPr>
        <p:spPr>
          <a:xfrm>
            <a:off x="640080" y="3063240"/>
            <a:ext cx="502920" cy="502920"/>
          </a:xfrm>
          <a:prstGeom prst="ellipse">
            <a:avLst/>
          </a:prstGeom>
          <a:solidFill>
            <a:srgbClr val="0E7C7B"/>
          </a:solidFill>
          <a:ln w="12700">
            <a:solidFill>
              <a:srgbClr val="0E7C7B"/>
            </a:solidFill>
            <a:prstDash val="solid"/>
          </a:ln>
        </p:spPr>
      </p:sp>
      <p:pic>
        <p:nvPicPr>
          <p:cNvPr id="15" name="icon Win casual riders at midday" descr="Win casual riders at midday"/>
          <p:cNvPicPr>
            <a:picLocks noChangeAspect="1"/>
          </p:cNvPicPr>
          <p:nvPr/>
        </p:nvPicPr>
        <p:blipFill>
          <a:blip r:embed="rId7"/>
          <a:stretch>
            <a:fillRect/>
          </a:stretch>
        </p:blipFill>
        <p:spPr>
          <a:xfrm>
            <a:off x="765810" y="3188970"/>
            <a:ext cx="251460" cy="251460"/>
          </a:xfrm>
          <a:prstGeom prst="rect">
            <a:avLst/>
          </a:prstGeom>
        </p:spPr>
      </p:pic>
      <p:sp>
        <p:nvSpPr>
          <p:cNvPr id="16" name="Text 11"/>
          <p:cNvSpPr txBox="1"/>
          <p:nvPr/>
        </p:nvSpPr>
        <p:spPr>
          <a:xfrm>
            <a:off x="1280160" y="3063240"/>
            <a:ext cx="3017520" cy="502920"/>
          </a:xfrm>
          <a:prstGeom prst="rect">
            <a:avLst/>
          </a:prstGeom>
          <a:noFill/>
          <a:ln/>
        </p:spPr>
        <p:txBody>
          <a:bodyPr wrap="square" lIns="0" tIns="0" rIns="0" bIns="0" rtlCol="0" anchor="ctr"/>
          <a:lstStyle/>
          <a:p>
            <a:pPr marL="0" indent="0">
              <a:buNone/>
            </a:pPr>
            <a:r>
              <a:rPr lang="en-US" sz="1600" b="1" dirty="0">
                <a:solidFill>
                  <a:schemeClr val="tx2"/>
                </a:solidFill>
              </a:rPr>
              <a:t>Win casual riders at midday</a:t>
            </a:r>
            <a:endParaRPr lang="en-US" sz="1600" dirty="0"/>
          </a:p>
        </p:txBody>
      </p:sp>
      <p:sp>
        <p:nvSpPr>
          <p:cNvPr id="17" name="Text 12"/>
          <p:cNvSpPr txBox="1"/>
          <p:nvPr/>
        </p:nvSpPr>
        <p:spPr>
          <a:xfrm>
            <a:off x="640080" y="3657600"/>
            <a:ext cx="3566160" cy="731520"/>
          </a:xfrm>
          <a:prstGeom prst="rect">
            <a:avLst/>
          </a:prstGeom>
          <a:noFill/>
          <a:ln/>
        </p:spPr>
        <p:txBody>
          <a:bodyPr wrap="square" lIns="0" tIns="0" rIns="0" bIns="0" rtlCol="0" anchor="t"/>
          <a:lstStyle/>
          <a:p>
            <a:pPr marL="0" indent="0">
              <a:buNone/>
            </a:pPr>
            <a:r>
              <a:rPr lang="en-US" sz="1400" dirty="0">
                <a:solidFill>
                  <a:schemeClr val="tx1"/>
                </a:solidFill>
              </a:rPr>
              <a:t>Use offers between 12 and 4 PM, when casual riders are most active, such as first-ride discounts.</a:t>
            </a:r>
            <a:endParaRPr lang="en-US" sz="1400" dirty="0"/>
          </a:p>
        </p:txBody>
      </p:sp>
      <p:sp>
        <p:nvSpPr>
          <p:cNvPr id="18" name="recommendation card 4"/>
          <p:cNvSpPr/>
          <p:nvPr/>
        </p:nvSpPr>
        <p:spPr>
          <a:xfrm>
            <a:off x="4754880" y="2880360"/>
            <a:ext cx="3931920" cy="1600200"/>
          </a:xfrm>
          <a:prstGeom prst="roundRect">
            <a:avLst>
              <a:gd name="adj" fmla="val 4571"/>
            </a:avLst>
          </a:prstGeom>
          <a:solidFill>
            <a:schemeClr val="bg2"/>
          </a:solidFill>
          <a:ln w="12700">
            <a:solidFill>
              <a:schemeClr val="bg2"/>
            </a:solidFill>
            <a:prstDash val="solid"/>
          </a:ln>
        </p:spPr>
      </p:sp>
      <p:sp>
        <p:nvSpPr>
          <p:cNvPr id="19" name="icon bg Keep forecasts and alerts running"/>
          <p:cNvSpPr/>
          <p:nvPr/>
        </p:nvSpPr>
        <p:spPr>
          <a:xfrm>
            <a:off x="4937760" y="3063240"/>
            <a:ext cx="502920" cy="502920"/>
          </a:xfrm>
          <a:prstGeom prst="ellipse">
            <a:avLst/>
          </a:prstGeom>
          <a:solidFill>
            <a:srgbClr val="F26B4F"/>
          </a:solidFill>
          <a:ln w="12700">
            <a:solidFill>
              <a:srgbClr val="F26B4F"/>
            </a:solidFill>
            <a:prstDash val="solid"/>
          </a:ln>
        </p:spPr>
      </p:sp>
      <p:pic>
        <p:nvPicPr>
          <p:cNvPr id="20" name="icon Keep forecasts and alerts running" descr="Keep forecasts and alerts running"/>
          <p:cNvPicPr>
            <a:picLocks noChangeAspect="1"/>
          </p:cNvPicPr>
          <p:nvPr/>
        </p:nvPicPr>
        <p:blipFill>
          <a:blip r:embed="rId8"/>
          <a:stretch>
            <a:fillRect/>
          </a:stretch>
        </p:blipFill>
        <p:spPr>
          <a:xfrm>
            <a:off x="5063490" y="3188970"/>
            <a:ext cx="251460" cy="251460"/>
          </a:xfrm>
          <a:prstGeom prst="rect">
            <a:avLst/>
          </a:prstGeom>
        </p:spPr>
      </p:pic>
      <p:sp>
        <p:nvSpPr>
          <p:cNvPr id="21" name="Text 15"/>
          <p:cNvSpPr txBox="1"/>
          <p:nvPr/>
        </p:nvSpPr>
        <p:spPr>
          <a:xfrm>
            <a:off x="5577840" y="3063240"/>
            <a:ext cx="3017520" cy="502920"/>
          </a:xfrm>
          <a:prstGeom prst="rect">
            <a:avLst/>
          </a:prstGeom>
          <a:noFill/>
          <a:ln/>
        </p:spPr>
        <p:txBody>
          <a:bodyPr wrap="square" lIns="0" tIns="0" rIns="0" bIns="0" rtlCol="0" anchor="ctr"/>
          <a:lstStyle/>
          <a:p>
            <a:pPr marL="0" indent="0">
              <a:buNone/>
            </a:pPr>
            <a:r>
              <a:rPr lang="en-US" sz="1600" b="1" dirty="0">
                <a:solidFill>
                  <a:schemeClr val="tx2"/>
                </a:solidFill>
              </a:rPr>
              <a:t>Keep forecasts and alerts running</a:t>
            </a:r>
            <a:endParaRPr lang="en-US" sz="1600" dirty="0"/>
          </a:p>
        </p:txBody>
      </p:sp>
      <p:sp>
        <p:nvSpPr>
          <p:cNvPr id="22" name="Text 16"/>
          <p:cNvSpPr txBox="1"/>
          <p:nvPr/>
        </p:nvSpPr>
        <p:spPr>
          <a:xfrm>
            <a:off x="4937760" y="3657600"/>
            <a:ext cx="3566160" cy="731520"/>
          </a:xfrm>
          <a:prstGeom prst="rect">
            <a:avLst/>
          </a:prstGeom>
          <a:noFill/>
          <a:ln/>
        </p:spPr>
        <p:txBody>
          <a:bodyPr wrap="square" lIns="0" tIns="0" rIns="0" bIns="0" rtlCol="0" anchor="t"/>
          <a:lstStyle/>
          <a:p>
            <a:pPr marL="0" indent="0">
              <a:buNone/>
            </a:pPr>
            <a:r>
              <a:rPr lang="en-US" sz="1400" dirty="0">
                <a:solidFill>
                  <a:schemeClr val="tx1"/>
                </a:solidFill>
              </a:rPr>
              <a:t>Refresh the forecast as new data arrives and review flagged hours for events or data errors.</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B79"/>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FE19022-6514-9FC1-7A69-9BDDBF9BF830}"/>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0" y="-7951"/>
            <a:ext cx="9143999" cy="5143500"/>
          </a:xfrm>
          <a:prstGeom prst="rect">
            <a:avLst/>
          </a:prstGeom>
        </p:spPr>
      </p:pic>
      <p:sp>
        <p:nvSpPr>
          <p:cNvPr id="2" name="Text 0"/>
          <p:cNvSpPr>
            <a:spLocks noGrp="1"/>
          </p:cNvSpPr>
          <p:nvPr>
            <p:ph type="title" idx="100" hasCustomPrompt="1"/>
          </p:nvPr>
        </p:nvSpPr>
        <p:spPr>
          <a:xfrm>
            <a:off x="457200" y="320040"/>
            <a:ext cx="8229600" cy="594360"/>
          </a:xfrm>
          <a:prstGeom prst="rect">
            <a:avLst/>
          </a:prstGeom>
          <a:noFill/>
          <a:ln/>
        </p:spPr>
        <p:txBody>
          <a:bodyPr wrap="square" lIns="0" tIns="0" rIns="0" bIns="0" rtlCol="0" anchor="ctr"/>
          <a:lstStyle/>
          <a:p>
            <a:pPr marL="0" indent="0" algn="l">
              <a:buNone/>
            </a:pPr>
            <a:r>
              <a:rPr lang="en-US" sz="3000" b="1" dirty="0">
                <a:solidFill>
                  <a:schemeClr val="tx1"/>
                </a:solidFill>
              </a:rPr>
              <a:t>Conclusion and limits</a:t>
            </a:r>
            <a:endParaRPr lang="en-US" sz="3000" dirty="0">
              <a:solidFill>
                <a:schemeClr val="tx1"/>
              </a:solidFill>
            </a:endParaRPr>
          </a:p>
        </p:txBody>
      </p:sp>
      <p:sp>
        <p:nvSpPr>
          <p:cNvPr id="3" name="Text 1"/>
          <p:cNvSpPr txBox="1"/>
          <p:nvPr/>
        </p:nvSpPr>
        <p:spPr>
          <a:xfrm>
            <a:off x="457200" y="1188720"/>
            <a:ext cx="3931920" cy="2011680"/>
          </a:xfrm>
          <a:prstGeom prst="rect">
            <a:avLst/>
          </a:prstGeom>
          <a:noFill/>
          <a:ln/>
        </p:spPr>
        <p:txBody>
          <a:bodyPr wrap="square" lIns="0" tIns="0" rIns="0" bIns="0" rtlCol="0" anchor="t"/>
          <a:lstStyle/>
          <a:p>
            <a:pPr marL="0" indent="0">
              <a:buNone/>
            </a:pPr>
            <a:r>
              <a:rPr lang="en-US" sz="1600" dirty="0"/>
              <a:t>Hourly rentals are shaped mainly by the time of day, the day type and the weather. The Excel dashboard puts these patterns in one place so planning can follow them.</a:t>
            </a:r>
          </a:p>
        </p:txBody>
      </p:sp>
      <p:sp>
        <p:nvSpPr>
          <p:cNvPr id="4" name="limits card"/>
          <p:cNvSpPr/>
          <p:nvPr/>
        </p:nvSpPr>
        <p:spPr>
          <a:xfrm>
            <a:off x="4754882" y="1703070"/>
            <a:ext cx="3931920" cy="1737360"/>
          </a:xfrm>
          <a:prstGeom prst="roundRect">
            <a:avLst>
              <a:gd name="adj" fmla="val 4211"/>
            </a:avLst>
          </a:prstGeom>
          <a:solidFill>
            <a:schemeClr val="accent1"/>
          </a:solidFill>
          <a:ln w="12700">
            <a:solidFill>
              <a:schemeClr val="accent1"/>
            </a:solidFill>
            <a:prstDash val="solid"/>
          </a:ln>
        </p:spPr>
      </p:sp>
      <p:sp>
        <p:nvSpPr>
          <p:cNvPr id="5" name="Text 3"/>
          <p:cNvSpPr txBox="1"/>
          <p:nvPr/>
        </p:nvSpPr>
        <p:spPr>
          <a:xfrm>
            <a:off x="5120640" y="1851660"/>
            <a:ext cx="3566160" cy="1554480"/>
          </a:xfrm>
          <a:prstGeom prst="rect">
            <a:avLst/>
          </a:prstGeom>
          <a:noFill/>
          <a:ln/>
        </p:spPr>
        <p:txBody>
          <a:bodyPr wrap="square" lIns="0" tIns="0" rIns="0" bIns="0" rtlCol="0" anchor="t"/>
          <a:lstStyle/>
          <a:p>
            <a:pPr marL="0" indent="0">
              <a:spcAft>
                <a:spcPts val="400"/>
              </a:spcAft>
              <a:buNone/>
            </a:pPr>
            <a:r>
              <a:rPr lang="en-US" sz="1600" b="1" dirty="0">
                <a:solidFill>
                  <a:schemeClr val="bg1"/>
                </a:solidFill>
              </a:rPr>
              <a:t>Limits and next steps</a:t>
            </a:r>
            <a:endParaRPr lang="en-US" sz="1600" dirty="0"/>
          </a:p>
          <a:p>
            <a:pPr marL="342900" indent="-342900">
              <a:spcAft>
                <a:spcPts val="400"/>
              </a:spcAft>
              <a:buSzPct val="100000"/>
              <a:buChar char="•"/>
            </a:pPr>
            <a:r>
              <a:rPr lang="en-US" sz="1400" dirty="0">
                <a:solidFill>
                  <a:schemeClr val="bg1"/>
                </a:solidFill>
              </a:rPr>
              <a:t>Only 45 days of winter data</a:t>
            </a:r>
            <a:endParaRPr lang="en-US" sz="1600" dirty="0"/>
          </a:p>
          <a:p>
            <a:pPr marL="342900" indent="-342900">
              <a:spcAft>
                <a:spcPts val="400"/>
              </a:spcAft>
              <a:buSzPct val="100000"/>
              <a:buChar char="•"/>
            </a:pPr>
            <a:r>
              <a:rPr lang="en-US" sz="1400" dirty="0">
                <a:solidFill>
                  <a:schemeClr val="bg1"/>
                </a:solidFill>
              </a:rPr>
              <a:t>One holiday in the sample</a:t>
            </a:r>
            <a:endParaRPr lang="en-US" sz="1600" dirty="0"/>
          </a:p>
          <a:p>
            <a:pPr marL="342900" indent="-342900">
              <a:spcAft>
                <a:spcPts val="400"/>
              </a:spcAft>
              <a:buSzPct val="100000"/>
              <a:buChar char="•"/>
            </a:pPr>
            <a:r>
              <a:rPr lang="en-US" sz="1400" dirty="0">
                <a:solidFill>
                  <a:schemeClr val="bg1"/>
                </a:solidFill>
              </a:rPr>
              <a:t>Wide forecast range</a:t>
            </a:r>
            <a:endParaRPr lang="en-US" sz="1600" dirty="0"/>
          </a:p>
          <a:p>
            <a:pPr marL="342900" indent="-342900">
              <a:spcAft>
                <a:spcPts val="400"/>
              </a:spcAft>
              <a:buSzPct val="100000"/>
              <a:buChar char="•"/>
            </a:pPr>
            <a:r>
              <a:rPr lang="en-US" sz="1400" dirty="0">
                <a:solidFill>
                  <a:schemeClr val="bg1"/>
                </a:solidFill>
              </a:rPr>
              <a:t>Next: add a full year of data</a:t>
            </a:r>
            <a:endParaRPr lang="en-US" sz="1600" dirty="0"/>
          </a:p>
        </p:txBody>
      </p:sp>
      <p:sp>
        <p:nvSpPr>
          <p:cNvPr id="14" name="Text 24">
            <a:extLst>
              <a:ext uri="{FF2B5EF4-FFF2-40B4-BE49-F238E27FC236}">
                <a16:creationId xmlns:a16="http://schemas.microsoft.com/office/drawing/2014/main" id="{B026DAC0-9E54-B720-3279-CCBF3F237620}"/>
              </a:ext>
            </a:extLst>
          </p:cNvPr>
          <p:cNvSpPr txBox="1"/>
          <p:nvPr/>
        </p:nvSpPr>
        <p:spPr>
          <a:xfrm>
            <a:off x="337931" y="3945089"/>
            <a:ext cx="8229600" cy="6858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200" b="1" dirty="0">
                <a:solidFill>
                  <a:schemeClr val="accent1"/>
                </a:solidFill>
                <a:highlight>
                  <a:srgbClr val="FFFF00"/>
                </a:highlight>
              </a:rPr>
              <a:t>Right bike. Right place. Right time.</a:t>
            </a:r>
            <a:endParaRPr lang="en-US" sz="2200" dirty="0">
              <a:highlight>
                <a:srgbClr val="FFFF00"/>
              </a:highlight>
            </a:endParaRPr>
          </a:p>
        </p:txBody>
      </p:sp>
      <p:sp>
        <p:nvSpPr>
          <p:cNvPr id="15" name="smiley face">
            <a:extLst>
              <a:ext uri="{FF2B5EF4-FFF2-40B4-BE49-F238E27FC236}">
                <a16:creationId xmlns:a16="http://schemas.microsoft.com/office/drawing/2014/main" id="{944D86EB-5168-7C2C-DAA0-9BD5BC6405E6}"/>
              </a:ext>
            </a:extLst>
          </p:cNvPr>
          <p:cNvSpPr/>
          <p:nvPr/>
        </p:nvSpPr>
        <p:spPr>
          <a:xfrm>
            <a:off x="7680958" y="2593864"/>
            <a:ext cx="1371600" cy="1371600"/>
          </a:xfrm>
          <a:prstGeom prst="ellipse">
            <a:avLst/>
          </a:prstGeom>
          <a:solidFill>
            <a:schemeClr val="accent3"/>
          </a:solidFill>
          <a:ln w="12700">
            <a:solidFill>
              <a:schemeClr val="accent3"/>
            </a:solidFill>
            <a:prstDash val="solid"/>
          </a:ln>
        </p:spPr>
        <p:txBody>
          <a:bodyPr/>
          <a:lstStyle/>
          <a:p>
            <a:endParaRPr lang="en-I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C76D569-EAF9-42AA-3E47-499D001C038B}"/>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0" y="0"/>
            <a:ext cx="9143999" cy="5143500"/>
          </a:xfrm>
          <a:prstGeom prst="rect">
            <a:avLst/>
          </a:prstGeom>
        </p:spPr>
      </p:pic>
      <p:sp>
        <p:nvSpPr>
          <p:cNvPr id="3" name="Text 1"/>
          <p:cNvSpPr txBox="1"/>
          <p:nvPr/>
        </p:nvSpPr>
        <p:spPr>
          <a:xfrm>
            <a:off x="457200" y="1188720"/>
            <a:ext cx="3931920" cy="2011680"/>
          </a:xfrm>
          <a:prstGeom prst="rect">
            <a:avLst/>
          </a:prstGeom>
          <a:noFill/>
          <a:ln/>
        </p:spPr>
        <p:txBody>
          <a:bodyPr wrap="square" lIns="0" tIns="0" rIns="0" bIns="0" rtlCol="0" anchor="t"/>
          <a:lstStyle/>
          <a:p>
            <a:pPr marL="0" indent="0">
              <a:buNone/>
            </a:pPr>
            <a:endParaRPr lang="en-US" sz="1600" dirty="0"/>
          </a:p>
        </p:txBody>
      </p:sp>
      <p:sp>
        <p:nvSpPr>
          <p:cNvPr id="6" name="thanks circle"/>
          <p:cNvSpPr/>
          <p:nvPr/>
        </p:nvSpPr>
        <p:spPr>
          <a:xfrm>
            <a:off x="1309978" y="1976991"/>
            <a:ext cx="1003851" cy="964991"/>
          </a:xfrm>
          <a:prstGeom prst="ellipse">
            <a:avLst/>
          </a:prstGeom>
          <a:solidFill>
            <a:schemeClr val="accent2"/>
          </a:solidFill>
          <a:ln w="12700">
            <a:solidFill>
              <a:schemeClr val="accent2"/>
            </a:solidFill>
            <a:prstDash val="solid"/>
          </a:ln>
        </p:spPr>
      </p:sp>
      <p:pic>
        <p:nvPicPr>
          <p:cNvPr id="7" name="thanks icon" descr="Bicycle icon"/>
          <p:cNvPicPr>
            <a:picLocks noChangeAspect="1"/>
          </p:cNvPicPr>
          <p:nvPr/>
        </p:nvPicPr>
        <p:blipFill>
          <a:blip r:embed="rId5"/>
          <a:stretch>
            <a:fillRect/>
          </a:stretch>
        </p:blipFill>
        <p:spPr>
          <a:xfrm>
            <a:off x="1436801" y="2120512"/>
            <a:ext cx="702598" cy="702598"/>
          </a:xfrm>
          <a:prstGeom prst="rect">
            <a:avLst/>
          </a:prstGeom>
        </p:spPr>
      </p:pic>
      <p:sp>
        <p:nvSpPr>
          <p:cNvPr id="8" name="Text 5"/>
          <p:cNvSpPr txBox="1"/>
          <p:nvPr/>
        </p:nvSpPr>
        <p:spPr>
          <a:xfrm>
            <a:off x="2468881" y="1622066"/>
            <a:ext cx="4790659" cy="1578333"/>
          </a:xfrm>
          <a:prstGeom prst="rect">
            <a:avLst/>
          </a:prstGeom>
          <a:noFill/>
          <a:ln/>
        </p:spPr>
        <p:txBody>
          <a:bodyPr wrap="square" lIns="0" tIns="0" rIns="0" bIns="0" rtlCol="0" anchor="ctr"/>
          <a:lstStyle/>
          <a:p>
            <a:pPr marL="0" indent="0">
              <a:buNone/>
            </a:pPr>
            <a:r>
              <a:rPr lang="en-US" sz="7200" b="1" dirty="0">
                <a:solidFill>
                  <a:schemeClr val="bg1"/>
                </a:solidFill>
              </a:rPr>
              <a:t>Thank you</a:t>
            </a:r>
            <a:r>
              <a:rPr lang="en-US" sz="2400" b="1" dirty="0">
                <a:solidFill>
                  <a:schemeClr val="bg1"/>
                </a:solidFill>
              </a:rPr>
              <a:t> </a:t>
            </a:r>
            <a:endParaRPr lang="en-US" sz="2400" dirty="0"/>
          </a:p>
        </p:txBody>
      </p:sp>
    </p:spTree>
    <p:extLst>
      <p:ext uri="{BB962C8B-B14F-4D97-AF65-F5344CB8AC3E}">
        <p14:creationId xmlns:p14="http://schemas.microsoft.com/office/powerpoint/2010/main" val="2073275236"/>
      </p:ext>
    </p:extLst>
  </p:cSld>
  <p:clrMapOvr>
    <a:masterClrMapping/>
  </p:clrMapOvr>
</p:sld>
</file>

<file path=ppt/theme/theme1.xml><?xml version="1.0" encoding="utf-8"?>
<a:theme xmlns:a="http://schemas.openxmlformats.org/drawingml/2006/main" name="Bike Rental Teal">
  <a:themeElements>
    <a:clrScheme name="Bike Rental Teal">
      <a:dk1>
        <a:srgbClr val="1F2A37"/>
      </a:dk1>
      <a:lt1>
        <a:srgbClr val="FFFFFF"/>
      </a:lt1>
      <a:dk2>
        <a:srgbClr val="0A4A47"/>
      </a:dk2>
      <a:lt2>
        <a:srgbClr val="EDF6F5"/>
      </a:lt2>
      <a:accent1>
        <a:srgbClr val="0E7C7B"/>
      </a:accent1>
      <a:accent2>
        <a:srgbClr val="F26B4F"/>
      </a:accent2>
      <a:accent3>
        <a:srgbClr val="F4B942"/>
      </a:accent3>
      <a:accent4>
        <a:srgbClr val="6FB7B0"/>
      </a:accent4>
      <a:accent5>
        <a:srgbClr val="2F5D8A"/>
      </a:accent5>
      <a:accent6>
        <a:srgbClr val="8A9A98"/>
      </a:accent6>
      <a:hlink>
        <a:srgbClr val="0E7C7B"/>
      </a:hlink>
      <a:folHlink>
        <a:srgbClr val="6FB7B0"/>
      </a:folHlink>
    </a:clrScheme>
    <a:fontScheme name="Bike Rental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48</TotalTime>
  <Words>2153</Words>
  <Application>Microsoft Office PowerPoint</Application>
  <PresentationFormat>On-screen Show (16:9)</PresentationFormat>
  <Paragraphs>305</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Bike Rental Teal</vt:lpstr>
      <vt:lpstr>Bike Rental Demand Analysis  NextHikes IT Solutions </vt:lpstr>
      <vt:lpstr>What this presentation covers</vt:lpstr>
      <vt:lpstr>Project objective</vt:lpstr>
      <vt:lpstr>Data sources and workflow</vt:lpstr>
      <vt:lpstr>Dataset overview</vt:lpstr>
      <vt:lpstr>Headline numbers</vt:lpstr>
      <vt:lpstr>Demand by hour of day</vt:lpstr>
      <vt:lpstr>Time of day and rider type</vt:lpstr>
      <vt:lpstr>Weekday patterns</vt:lpstr>
      <vt:lpstr>Weekday and hour heatmap</vt:lpstr>
      <vt:lpstr>Impact of weather</vt:lpstr>
      <vt:lpstr>Temperature and humidity</vt:lpstr>
      <vt:lpstr>Month and holiday view</vt:lpstr>
      <vt:lpstr>Demand forecast</vt:lpstr>
      <vt:lpstr>Anomaly detection</vt:lpstr>
      <vt:lpstr>Dashboard</vt:lpstr>
      <vt:lpstr>Key findings</vt:lpstr>
      <vt:lpstr>Recommendations</vt:lpstr>
      <vt:lpstr>Conclusion and limits</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Bike Rental Demand Analysis &amp; Business Intelligence Dashboard</dc:title>
  <dc:subject>PptxGenJS Presentation</dc:subject>
  <dc:creator>Anushree</dc:creator>
  <cp:lastModifiedBy>Anushri Thakur</cp:lastModifiedBy>
  <cp:revision>6</cp:revision>
  <dcterms:created xsi:type="dcterms:W3CDTF">2026-10-09T11:38:11Z</dcterms:created>
  <dcterms:modified xsi:type="dcterms:W3CDTF">2026-10-10T17:09:44Z</dcterms:modified>
</cp:coreProperties>
</file>